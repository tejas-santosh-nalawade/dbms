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4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89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7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6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5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3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1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2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23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40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36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3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08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8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6CAA4E-1F63-4DEA-9F15-DF3F1D0C6B7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6B8E65-60D7-493F-B3A3-40B99835C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5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3EC24-8DE9-D540-88F0-CF57B9FC4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1790835"/>
          </a:xfrm>
        </p:spPr>
        <p:txBody>
          <a:bodyPr>
            <a:normAutofit/>
          </a:bodyPr>
          <a:lstStyle/>
          <a:p>
            <a:r>
              <a:rPr lang="en-US" sz="6600" dirty="0"/>
              <a:t>UNIT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43A55-6AA8-1937-82E4-8FD8023F8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3769" y="3429000"/>
            <a:ext cx="9379254" cy="1955801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PART 2- PL/SQL</a:t>
            </a:r>
          </a:p>
          <a:p>
            <a:pPr algn="ctr"/>
            <a:r>
              <a:rPr lang="en-US" sz="4300" dirty="0"/>
              <a:t>               Prepared by- Prof. Swati Khairnar</a:t>
            </a:r>
          </a:p>
        </p:txBody>
      </p:sp>
    </p:spTree>
    <p:extLst>
      <p:ext uri="{BB962C8B-B14F-4D97-AF65-F5344CB8AC3E}">
        <p14:creationId xmlns:p14="http://schemas.microsoft.com/office/powerpoint/2010/main" val="291134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8772-ADA0-ED44-CCBB-29D18912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PL/SQL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4D809-C510-E48A-BC2B-002D1BCC4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399"/>
            <a:ext cx="10018713" cy="3918156"/>
          </a:xfrm>
        </p:spPr>
        <p:txBody>
          <a:bodyPr/>
          <a:lstStyle/>
          <a:p>
            <a:r>
              <a:rPr lang="en-US" dirty="0"/>
              <a:t>PL/SQL (Procedural Language/SQL) is Oracle’s extension of SQL that adds procedural features like loops, conditions, and error handling.</a:t>
            </a:r>
          </a:p>
          <a:p>
            <a:r>
              <a:rPr lang="en-US" dirty="0"/>
              <a:t> It allows developers to write powerful programs that combine SQL queries with logic to control how data is processed.</a:t>
            </a:r>
          </a:p>
          <a:p>
            <a:r>
              <a:rPr lang="en-US" dirty="0"/>
              <a:t> With PL/SQL, complex operations, calculations, and error handling can be performed directly within the Oracle database, making data manipulation more efficient and flexible.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51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5704-0DFC-E86B-46EF-67C41EBF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644445"/>
          </a:xfrm>
        </p:spPr>
        <p:txBody>
          <a:bodyPr/>
          <a:lstStyle/>
          <a:p>
            <a:r>
              <a:rPr lang="en-US" dirty="0"/>
              <a:t>PL/SQL allows developers to: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DE7F-5758-3446-E71D-754C6E06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Execute SQL queries</a:t>
            </a:r>
            <a:r>
              <a:rPr lang="en-US" dirty="0"/>
              <a:t> and DML commands inside procedural blocks.</a:t>
            </a:r>
          </a:p>
          <a:p>
            <a:pPr fontAlgn="base"/>
            <a:r>
              <a:rPr lang="en-US" b="1" dirty="0"/>
              <a:t>Define variables</a:t>
            </a:r>
            <a:r>
              <a:rPr lang="en-US" dirty="0"/>
              <a:t> and perform complex calculations.</a:t>
            </a:r>
          </a:p>
          <a:p>
            <a:pPr fontAlgn="base"/>
            <a:r>
              <a:rPr lang="en-US" b="1" dirty="0"/>
              <a:t>Create reusable program units</a:t>
            </a:r>
            <a:r>
              <a:rPr lang="en-US" dirty="0"/>
              <a:t>, such as procedures, functions, and triggers.</a:t>
            </a:r>
          </a:p>
          <a:p>
            <a:pPr fontAlgn="base"/>
            <a:r>
              <a:rPr lang="en-US" b="1" dirty="0"/>
              <a:t>Handle exceptions</a:t>
            </a:r>
            <a:r>
              <a:rPr lang="en-US" dirty="0"/>
              <a:t>, ensuring the program runs smoothly even when errors occur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98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1B5A-7C89-F91A-CEF4-95D9C88D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of PL/SQL Block</a:t>
            </a:r>
            <a:br>
              <a:rPr lang="en-US" b="1" dirty="0"/>
            </a:br>
            <a:endParaRPr lang="en-US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46C931B2-3D65-00C7-C062-1537FBBC8F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897" y="2123767"/>
            <a:ext cx="6990735" cy="424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93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4483-7C6D-B5E6-7E79-9D7C44F7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467466"/>
          </a:xfrm>
        </p:spPr>
        <p:txBody>
          <a:bodyPr/>
          <a:lstStyle/>
          <a:p>
            <a:r>
              <a:rPr lang="en-US" b="1" dirty="0"/>
              <a:t>PL/SQL consist of three main sections: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5E25-B67E-6340-5680-16890E04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53266"/>
            <a:ext cx="10018713" cy="449825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Declare section starts with </a:t>
            </a:r>
            <a:r>
              <a:rPr lang="en-US" b="1" dirty="0"/>
              <a:t>DECLARE</a:t>
            </a:r>
            <a:r>
              <a:rPr lang="en-US" dirty="0"/>
              <a:t> keyword in which variables, constants, records as cursors can be declared which stores data temporarily. </a:t>
            </a:r>
          </a:p>
          <a:p>
            <a:pPr fontAlgn="base"/>
            <a:r>
              <a:rPr lang="en-US" dirty="0"/>
              <a:t>Execution section starts with </a:t>
            </a:r>
            <a:r>
              <a:rPr lang="en-US" b="1" dirty="0"/>
              <a:t>BEGIN</a:t>
            </a:r>
            <a:r>
              <a:rPr lang="en-US" dirty="0"/>
              <a:t> and ends with </a:t>
            </a:r>
            <a:r>
              <a:rPr lang="en-US" b="1" dirty="0"/>
              <a:t>END</a:t>
            </a:r>
            <a:r>
              <a:rPr lang="en-US" dirty="0"/>
              <a:t> keyword. This is a mandatory section and here the program logic is written to perform any task like loops and conditional statements</a:t>
            </a:r>
          </a:p>
          <a:p>
            <a:pPr fontAlgn="base"/>
            <a:r>
              <a:rPr lang="en-US" dirty="0"/>
              <a:t>Exception section starts with </a:t>
            </a:r>
            <a:r>
              <a:rPr lang="en-US" b="1" dirty="0"/>
              <a:t>EXCEPTION</a:t>
            </a:r>
            <a:r>
              <a:rPr lang="en-US" dirty="0"/>
              <a:t> keyword. This section is optional which contains statements that are executed when a run-time error occurs. Any exceptions can be handled in this section.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905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6B19-32D8-3C4B-65D9-19303C7D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65471"/>
            <a:ext cx="10018713" cy="11061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PL/SQL Identifiers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693DD-6C31-E477-B008-9F1180E9F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1600"/>
            <a:ext cx="10018713" cy="52209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PL/SQL, identifiers are names used to represent various program elements like variables, constants, procedures, cursors, triggers etc.</a:t>
            </a:r>
          </a:p>
          <a:p>
            <a:pPr marL="0" indent="0">
              <a:buNone/>
            </a:pPr>
            <a:r>
              <a:rPr lang="en-US" b="1" dirty="0"/>
              <a:t>1. Variables in PL/SQL</a:t>
            </a:r>
          </a:p>
          <a:p>
            <a:r>
              <a:rPr lang="en-US" i="1" dirty="0"/>
              <a:t>SYNTAX- variable_name datatype [NOT NULL := value ];</a:t>
            </a:r>
          </a:p>
          <a:p>
            <a:r>
              <a:rPr lang="en-US" i="1" dirty="0"/>
              <a:t>SQL&gt; SET SERVEROUTPUT ON;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SQL&gt; DECLARE</a:t>
            </a:r>
            <a:br>
              <a:rPr lang="en-US" dirty="0"/>
            </a:br>
            <a:r>
              <a:rPr lang="en-US" i="1" dirty="0"/>
              <a:t>var1 INTEGER;</a:t>
            </a:r>
            <a:br>
              <a:rPr lang="en-US" dirty="0"/>
            </a:br>
            <a:r>
              <a:rPr lang="en-US" i="1" dirty="0"/>
              <a:t>var2 REAL;</a:t>
            </a:r>
            <a:br>
              <a:rPr lang="en-US" dirty="0"/>
            </a:br>
            <a:r>
              <a:rPr lang="en-US" i="1" dirty="0"/>
              <a:t>var3 varchar2(20) ;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BEGIN</a:t>
            </a:r>
            <a:br>
              <a:rPr lang="en-US" dirty="0"/>
            </a:br>
            <a:r>
              <a:rPr lang="en-US" i="1" dirty="0"/>
              <a:t>null;</a:t>
            </a:r>
            <a:br>
              <a:rPr lang="en-US" dirty="0"/>
            </a:br>
            <a:r>
              <a:rPr lang="en-US" i="1" dirty="0"/>
              <a:t>END;</a:t>
            </a:r>
            <a:br>
              <a:rPr lang="en-US" dirty="0"/>
            </a:br>
            <a:r>
              <a:rPr lang="en-US" i="1" dirty="0"/>
              <a:t>/</a:t>
            </a:r>
          </a:p>
          <a:p>
            <a:r>
              <a:rPr lang="en-US" b="1" i="1" dirty="0"/>
              <a:t>OUTPUT -</a:t>
            </a:r>
            <a:r>
              <a:rPr lang="en-US" i="1" dirty="0"/>
              <a:t> PL/SQL procedure successfully completed.</a:t>
            </a:r>
          </a:p>
          <a:p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29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6648-6CD1-39B7-9354-3618CB3B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59542"/>
          </a:xfrm>
        </p:spPr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DB55F-5B5C-2548-1ED1-5EFA92659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45343"/>
            <a:ext cx="10018713" cy="49997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Displaying Output in PL/SQL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Displaying Output</a:t>
            </a:r>
          </a:p>
          <a:p>
            <a:pPr marL="0" indent="0">
              <a:buNone/>
            </a:pPr>
            <a:r>
              <a:rPr lang="en-US" dirty="0"/>
              <a:t>SQL&gt; SET SERVEROUTPUT ON;</a:t>
            </a:r>
          </a:p>
          <a:p>
            <a:pPr marL="0" indent="0">
              <a:buNone/>
            </a:pPr>
            <a:r>
              <a:rPr lang="en-US" dirty="0"/>
              <a:t>SQL&gt; DECLARE</a:t>
            </a:r>
          </a:p>
          <a:p>
            <a:pPr marL="0" indent="0">
              <a:buNone/>
            </a:pPr>
            <a:r>
              <a:rPr lang="en-US" dirty="0"/>
              <a:t>     var varchar2(40) := ‘I Like DBMS' ;</a:t>
            </a:r>
          </a:p>
          <a:p>
            <a:pPr marL="0" indent="0">
              <a:buNone/>
            </a:pPr>
            <a:r>
              <a:rPr lang="en-US" dirty="0"/>
              <a:t>  BEGIN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dbms_output.put_line</a:t>
            </a:r>
            <a:r>
              <a:rPr lang="en-US" dirty="0"/>
              <a:t>(var);</a:t>
            </a:r>
          </a:p>
          <a:p>
            <a:pPr marL="0" indent="0">
              <a:buNone/>
            </a:pPr>
            <a:r>
              <a:rPr lang="en-US" dirty="0"/>
              <a:t>  END;</a:t>
            </a:r>
          </a:p>
          <a:p>
            <a:pPr marL="0" indent="0">
              <a:buNone/>
            </a:pPr>
            <a:r>
              <a:rPr lang="en-US" dirty="0"/>
              <a:t>  /</a:t>
            </a:r>
          </a:p>
          <a:p>
            <a:pPr marL="0" indent="0">
              <a:buNone/>
            </a:pPr>
            <a:r>
              <a:rPr lang="en-US" b="1" dirty="0"/>
              <a:t>Output:</a:t>
            </a:r>
            <a:r>
              <a:rPr lang="en-US" dirty="0"/>
              <a:t>  I Like DBMS</a:t>
            </a:r>
          </a:p>
          <a:p>
            <a:pPr marL="0" indent="0">
              <a:buNone/>
            </a:pPr>
            <a:r>
              <a:rPr lang="en-US" dirty="0"/>
              <a:t>PL/SQL procedure successfully completed.</a:t>
            </a:r>
          </a:p>
        </p:txBody>
      </p:sp>
    </p:spTree>
    <p:extLst>
      <p:ext uri="{BB962C8B-B14F-4D97-AF65-F5344CB8AC3E}">
        <p14:creationId xmlns:p14="http://schemas.microsoft.com/office/powerpoint/2010/main" val="398403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053D-C650-7F4C-4554-264B6F64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30045"/>
          </a:xfrm>
        </p:spPr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3035F-0E7B-0A1A-D880-D274D2CE0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15845"/>
            <a:ext cx="10018713" cy="49997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Comments in PL/SQL -</a:t>
            </a:r>
            <a:r>
              <a:rPr lang="en-US" dirty="0"/>
              <a:t>There are two syntaxes to create comments in PL/SQL :</a:t>
            </a:r>
          </a:p>
          <a:p>
            <a:pPr marL="0" indent="0">
              <a:buNone/>
            </a:pPr>
            <a:r>
              <a:rPr lang="en-US" b="1" dirty="0"/>
              <a:t>Single Line Comment:</a:t>
            </a:r>
            <a:r>
              <a:rPr lang="en-US" dirty="0"/>
              <a:t> To create a single line comment , the symbol - - is used.</a:t>
            </a:r>
          </a:p>
          <a:p>
            <a:pPr marL="0" indent="0">
              <a:buNone/>
            </a:pPr>
            <a:r>
              <a:rPr lang="en-US" b="1" dirty="0"/>
              <a:t>Multi Line Comment: </a:t>
            </a:r>
            <a:r>
              <a:rPr lang="en-US" dirty="0"/>
              <a:t>To create comments that span over several lines, the symbol /* and */ is used.</a:t>
            </a:r>
          </a:p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/>
              <a:t>Adding Comments</a:t>
            </a:r>
          </a:p>
          <a:p>
            <a:pPr marL="0" indent="0">
              <a:buNone/>
            </a:pPr>
            <a:r>
              <a:rPr lang="en-US" dirty="0"/>
              <a:t>-- This is a single-line comment</a:t>
            </a:r>
          </a:p>
          <a:p>
            <a:pPr marL="0" indent="0">
              <a:buNone/>
            </a:pPr>
            <a:r>
              <a:rPr lang="en-US" dirty="0"/>
              <a:t>/*</a:t>
            </a:r>
          </a:p>
          <a:p>
            <a:pPr marL="0" indent="0">
              <a:buNone/>
            </a:pPr>
            <a:r>
              <a:rPr lang="en-US" dirty="0"/>
              <a:t>  This is a multi-line comment</a:t>
            </a:r>
          </a:p>
          <a:p>
            <a:pPr marL="0" indent="0">
              <a:buNone/>
            </a:pPr>
            <a:r>
              <a:rPr lang="en-US" dirty="0"/>
              <a:t>  that spans over multiple lines.</a:t>
            </a:r>
          </a:p>
          <a:p>
            <a:pPr marL="0" indent="0">
              <a:buNone/>
            </a:pPr>
            <a:r>
              <a:rPr lang="en-US" dirty="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707489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1A3D-8399-CD02-5C87-9CB14DFA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258097"/>
            <a:ext cx="10018713" cy="700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Differences Between SQL and PL/SQL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9717A7-712C-E681-B2D7-4C6310301A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884242"/>
              </p:ext>
            </p:extLst>
          </p:nvPr>
        </p:nvGraphicFramePr>
        <p:xfrm>
          <a:off x="1327356" y="958646"/>
          <a:ext cx="10175672" cy="5829891"/>
        </p:xfrm>
        <a:graphic>
          <a:graphicData uri="http://schemas.openxmlformats.org/drawingml/2006/table">
            <a:tbl>
              <a:tblPr/>
              <a:tblGrid>
                <a:gridCol w="1533260">
                  <a:extLst>
                    <a:ext uri="{9D8B030D-6E8A-4147-A177-3AD203B41FA5}">
                      <a16:colId xmlns:a16="http://schemas.microsoft.com/office/drawing/2014/main" val="3788947865"/>
                    </a:ext>
                  </a:extLst>
                </a:gridCol>
                <a:gridCol w="4403956">
                  <a:extLst>
                    <a:ext uri="{9D8B030D-6E8A-4147-A177-3AD203B41FA5}">
                      <a16:colId xmlns:a16="http://schemas.microsoft.com/office/drawing/2014/main" val="2742949035"/>
                    </a:ext>
                  </a:extLst>
                </a:gridCol>
                <a:gridCol w="4238456">
                  <a:extLst>
                    <a:ext uri="{9D8B030D-6E8A-4147-A177-3AD203B41FA5}">
                      <a16:colId xmlns:a16="http://schemas.microsoft.com/office/drawing/2014/main" val="3913580630"/>
                    </a:ext>
                  </a:extLst>
                </a:gridCol>
              </a:tblGrid>
              <a:tr h="514423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Feature</a:t>
                      </a:r>
                    </a:p>
                  </a:txBody>
                  <a:tcPr marL="38100" marR="3810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fontAlgn="base" latinLnBrk="0" hangingPunct="1">
                        <a:spcAft>
                          <a:spcPts val="75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fontAlgn="base" latinLnBrk="0" hangingPunct="1">
                        <a:spcAft>
                          <a:spcPts val="75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657570"/>
                  </a:ext>
                </a:extLst>
              </a:tr>
              <a:tr h="1115048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1" dirty="0">
                          <a:effectLst/>
                        </a:rPr>
                        <a:t>Purpos</a:t>
                      </a:r>
                      <a:r>
                        <a:rPr lang="en-US" sz="1800" b="0" dirty="0">
                          <a:effectLst/>
                        </a:rPr>
                        <a:t>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 dirty="0">
                          <a:effectLst/>
                        </a:rPr>
                        <a:t>SQL is a single query that is used to perform DML and DDL operations.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>
                          <a:effectLst/>
                        </a:rPr>
                        <a:t>PL/SQL is a block of codes that used to write the entire program blocks/ procedure/ function, etc.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070890"/>
                  </a:ext>
                </a:extLst>
              </a:tr>
              <a:tr h="1115048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1">
                          <a:effectLst/>
                        </a:rPr>
                        <a:t>Nature</a:t>
                      </a:r>
                      <a:endParaRPr lang="en-US" sz="1800" b="0">
                        <a:effectLst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 dirty="0">
                          <a:effectLst/>
                        </a:rPr>
                        <a:t>It is declarative, that defines what needs to be done, rather than how things need to be done.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>
                          <a:effectLst/>
                        </a:rPr>
                        <a:t>PL/SQL is procedural that defines how the things needs to be done.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82385"/>
                  </a:ext>
                </a:extLst>
              </a:tr>
              <a:tr h="582364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1" dirty="0">
                          <a:effectLst/>
                        </a:rPr>
                        <a:t>Execution</a:t>
                      </a:r>
                      <a:endParaRPr lang="en-US" sz="1800" b="0" dirty="0">
                        <a:effectLst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 dirty="0">
                          <a:effectLst/>
                        </a:rPr>
                        <a:t>Executes single statement.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>
                          <a:effectLst/>
                        </a:rPr>
                        <a:t>Executes block of code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299730"/>
                  </a:ext>
                </a:extLst>
              </a:tr>
              <a:tr h="834336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1">
                          <a:effectLst/>
                        </a:rPr>
                        <a:t>Use Case</a:t>
                      </a:r>
                      <a:endParaRPr lang="en-US" sz="1800" b="0">
                        <a:effectLst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>
                          <a:effectLst/>
                        </a:rPr>
                        <a:t>Data retrieval, manipulation and definition( eg. SELECT, INSERT, UPDATE)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>
                          <a:effectLst/>
                        </a:rPr>
                        <a:t>Mainly used to create an application.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044081"/>
                  </a:ext>
                </a:extLst>
              </a:tr>
              <a:tr h="834336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1">
                          <a:effectLst/>
                        </a:rPr>
                        <a:t>Syntax</a:t>
                      </a:r>
                      <a:endParaRPr lang="en-US" sz="1800" b="0">
                        <a:effectLst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 dirty="0">
                          <a:effectLst/>
                        </a:rPr>
                        <a:t>SQL statements only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b="0">
                          <a:effectLst/>
                        </a:rPr>
                        <a:t>SQL Statements combined with procedural logic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755647"/>
                  </a:ext>
                </a:extLst>
              </a:tr>
              <a:tr h="834336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1">
                          <a:effectLst/>
                        </a:rPr>
                        <a:t>Data Handling</a:t>
                      </a:r>
                      <a:endParaRPr lang="en-US" sz="1800" b="0">
                        <a:effectLst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0">
                          <a:effectLst/>
                        </a:rPr>
                        <a:t>Performs actions directly on the database.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800" b="0" dirty="0">
                          <a:effectLst/>
                        </a:rPr>
                        <a:t>Can contain SQL inside its blocks and is used for more control over data handling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882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DF72-C212-3CF6-6701-E1F94926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92277"/>
          </a:xfrm>
        </p:spPr>
        <p:txBody>
          <a:bodyPr>
            <a:normAutofit/>
          </a:bodyPr>
          <a:lstStyle/>
          <a:p>
            <a:r>
              <a:rPr lang="en-US" b="1" dirty="0"/>
              <a:t>Stored Procedure in PL/SQL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3DFA-5A14-67CC-EBEB-152671D7B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78078"/>
            <a:ext cx="10018713" cy="527992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PL/SQL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procedures are reusable code blocks that perform specific actions or logic within a database environment.  </a:t>
            </a:r>
            <a:r>
              <a:rPr lang="en-US" dirty="0"/>
              <a:t>A </a:t>
            </a:r>
            <a:r>
              <a:rPr lang="en-US" b="1" dirty="0"/>
              <a:t>stored procedure</a:t>
            </a:r>
            <a:r>
              <a:rPr lang="en-US" dirty="0"/>
              <a:t> in PL/SQL is a named, </a:t>
            </a:r>
            <a:r>
              <a:rPr lang="en-US" b="1" dirty="0"/>
              <a:t>precompiled block of code</a:t>
            </a:r>
            <a:r>
              <a:rPr lang="en-US" dirty="0"/>
              <a:t> stored in the database that performs a specific task or set of tasks.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procedure contains two parts:</a:t>
            </a:r>
          </a:p>
          <a:p>
            <a:pPr fontAlgn="base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Procedure Header -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procedure header includes the procedure name and optional parameter list.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is the first part of the procedure and specifies the name and parameters</a:t>
            </a:r>
          </a:p>
          <a:p>
            <a:pPr fontAlgn="base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Procedure Body - 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procedure body contains the executable statements that implement the specific business logic.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can include declarative statements, executable statements, and exception-handling statements</a:t>
            </a:r>
          </a:p>
        </p:txBody>
      </p:sp>
    </p:spTree>
    <p:extLst>
      <p:ext uri="{BB962C8B-B14F-4D97-AF65-F5344CB8AC3E}">
        <p14:creationId xmlns:p14="http://schemas.microsoft.com/office/powerpoint/2010/main" val="429240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E4E6-A340-F79F-7FA3-3071D762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723" y="405580"/>
            <a:ext cx="10018713" cy="1098755"/>
          </a:xfrm>
        </p:spPr>
        <p:txBody>
          <a:bodyPr/>
          <a:lstStyle/>
          <a:p>
            <a:r>
              <a:rPr lang="en-US" b="1" dirty="0"/>
              <a:t>Basic syntax of a stored procedure in PL/SQL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8D145-B86D-AF44-E191-A19BD2640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04335"/>
            <a:ext cx="10018713" cy="4948085"/>
          </a:xfrm>
        </p:spPr>
        <p:txBody>
          <a:bodyPr>
            <a:noAutofit/>
          </a:bodyPr>
          <a:lstStyle/>
          <a:p>
            <a:r>
              <a:rPr lang="en-US" dirty="0"/>
              <a:t>CREATE OR REPLACE PROCEDURE </a:t>
            </a:r>
            <a:r>
              <a:rPr lang="en-US" dirty="0" err="1"/>
              <a:t>procedure_name</a:t>
            </a:r>
            <a:r>
              <a:rPr lang="en-US" dirty="0"/>
              <a:t> (</a:t>
            </a:r>
          </a:p>
          <a:p>
            <a:r>
              <a:rPr lang="en-US" dirty="0"/>
              <a:t>    param1 IN datatype,         </a:t>
            </a:r>
            <a:r>
              <a:rPr lang="en-US" sz="1600" b="1" dirty="0"/>
              <a:t>//It is a read-only parameter, Parameters are  passed by reference</a:t>
            </a:r>
            <a:r>
              <a:rPr lang="en-US" sz="1600" dirty="0"/>
              <a:t>.</a:t>
            </a:r>
          </a:p>
          <a:p>
            <a:r>
              <a:rPr lang="en-US" dirty="0"/>
              <a:t>    param2 OUT datatype,      </a:t>
            </a:r>
            <a:r>
              <a:rPr lang="en-US" sz="1600" dirty="0"/>
              <a:t>//</a:t>
            </a:r>
            <a:r>
              <a:rPr lang="en-US" sz="1600" b="1" dirty="0"/>
              <a:t> The actual parameter must be variable and it is passed by value</a:t>
            </a:r>
            <a:r>
              <a:rPr lang="en-US" sz="1600" dirty="0"/>
              <a:t>.</a:t>
            </a:r>
          </a:p>
          <a:p>
            <a:r>
              <a:rPr lang="en-US" dirty="0"/>
              <a:t>    param3 IN OUT datatype    </a:t>
            </a:r>
            <a:r>
              <a:rPr lang="en-US" sz="1600" dirty="0"/>
              <a:t>// </a:t>
            </a:r>
            <a:r>
              <a:rPr lang="en-US" sz="1600" b="1" dirty="0"/>
              <a:t>Actual parameter is passed by value.</a:t>
            </a:r>
            <a:endParaRPr lang="en-US" sz="1600" dirty="0"/>
          </a:p>
          <a:p>
            <a:r>
              <a:rPr lang="en-US" dirty="0"/>
              <a:t>) IS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-- PL/SQL statements here</a:t>
            </a:r>
          </a:p>
          <a:p>
            <a:r>
              <a:rPr lang="en-US" dirty="0"/>
              <a:t>END </a:t>
            </a:r>
            <a:r>
              <a:rPr lang="en-US" dirty="0" err="1"/>
              <a:t>procedure_name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6235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8A62-5CDB-732B-06F2-57FA4185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19981"/>
          </a:xfrm>
        </p:spPr>
        <p:txBody>
          <a:bodyPr/>
          <a:lstStyle/>
          <a:p>
            <a:r>
              <a:rPr lang="en-US" b="1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35005-F0D4-56BA-6A1F-73B052BC1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73045"/>
            <a:ext cx="10018713" cy="4129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OR REPLACE PROCEDURE </a:t>
            </a:r>
            <a:r>
              <a:rPr lang="en-US" dirty="0" err="1"/>
              <a:t>greet_user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p_name</a:t>
            </a:r>
            <a:r>
              <a:rPr lang="en-US" dirty="0"/>
              <a:t> IN VARCHAR2,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p_greeting</a:t>
            </a:r>
            <a:r>
              <a:rPr lang="en-US" dirty="0"/>
              <a:t> OUT VARCHAR2</a:t>
            </a:r>
          </a:p>
          <a:p>
            <a:pPr marL="0" indent="0">
              <a:buNone/>
            </a:pPr>
            <a:r>
              <a:rPr lang="en-US" dirty="0"/>
              <a:t>) IS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p_greeting</a:t>
            </a:r>
            <a:r>
              <a:rPr lang="en-US" dirty="0"/>
              <a:t> := 'Hello, ' || </a:t>
            </a:r>
            <a:r>
              <a:rPr lang="en-US" dirty="0" err="1"/>
              <a:t>p_name</a:t>
            </a:r>
            <a:r>
              <a:rPr lang="en-US" dirty="0"/>
              <a:t> || '!';</a:t>
            </a:r>
          </a:p>
          <a:p>
            <a:pPr marL="0" indent="0">
              <a:buNone/>
            </a:pPr>
            <a:r>
              <a:rPr lang="en-US" dirty="0"/>
              <a:t>END </a:t>
            </a:r>
            <a:r>
              <a:rPr lang="en-US" dirty="0" err="1"/>
              <a:t>greet_user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3698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0430-E1A9-E113-A401-A18C5DAF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415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PL/SQL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DF0E-7EE7-63EE-FF8C-FC12E839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27355"/>
            <a:ext cx="10018713" cy="4704735"/>
          </a:xfrm>
        </p:spPr>
        <p:txBody>
          <a:bodyPr/>
          <a:lstStyle/>
          <a:p>
            <a:r>
              <a:rPr lang="en-US" b="1" dirty="0"/>
              <a:t>PL/SQL functions</a:t>
            </a:r>
            <a:r>
              <a:rPr lang="en-US" dirty="0"/>
              <a:t> are reusable blocks of code that can be used to perform specific tasks. They are similar to </a:t>
            </a:r>
            <a:r>
              <a:rPr lang="en-US" b="1" dirty="0"/>
              <a:t>procedures</a:t>
            </a:r>
            <a:r>
              <a:rPr lang="en-US" dirty="0"/>
              <a:t> but must always return a value. </a:t>
            </a:r>
          </a:p>
          <a:p>
            <a:pPr fontAlgn="base"/>
            <a:r>
              <a:rPr lang="en-US" b="1" dirty="0"/>
              <a:t>A function in PL/SQL contains:</a:t>
            </a:r>
          </a:p>
          <a:p>
            <a:pPr fontAlgn="base"/>
            <a:r>
              <a:rPr lang="en-US" b="1" dirty="0"/>
              <a:t>Function Header</a:t>
            </a:r>
            <a:r>
              <a:rPr lang="en-US" dirty="0"/>
              <a:t>: The function header includes the function name and an optional parameter list. It is the first part of the function and specifies the name and parameters.</a:t>
            </a:r>
          </a:p>
          <a:p>
            <a:pPr fontAlgn="base"/>
            <a:r>
              <a:rPr lang="en-US" b="1" dirty="0"/>
              <a:t>Function Body</a:t>
            </a:r>
            <a:r>
              <a:rPr lang="en-US" dirty="0"/>
              <a:t>: The function body contains the executable statements that implement the specific logic. It can include declarative statements, executable statements, and exception-handling statements.</a:t>
            </a:r>
          </a:p>
        </p:txBody>
      </p:sp>
    </p:spTree>
    <p:extLst>
      <p:ext uri="{BB962C8B-B14F-4D97-AF65-F5344CB8AC3E}">
        <p14:creationId xmlns:p14="http://schemas.microsoft.com/office/powerpoint/2010/main" val="1211252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0C3F-B11C-FB84-47BB-D45378A6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233" y="582561"/>
            <a:ext cx="10018713" cy="803787"/>
          </a:xfrm>
        </p:spPr>
        <p:txBody>
          <a:bodyPr>
            <a:normAutofit/>
          </a:bodyPr>
          <a:lstStyle/>
          <a:p>
            <a:r>
              <a:rPr lang="en-US" b="1" dirty="0"/>
              <a:t>Create Function in PL/SQL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8FA92-893D-FE7F-7B9A-DD555A3C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9587"/>
            <a:ext cx="10018713" cy="4785852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Syntax-</a:t>
            </a:r>
          </a:p>
          <a:p>
            <a:pPr marL="0" indent="0">
              <a:buNone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CREATE [OR REPLACE] FUNCTION function_name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(parameter_name type [, ...])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-- This statement is must for functions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RETURN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return_datatype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{IS | AS}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BEGIN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-- program code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[EXCEPTION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exception_section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END [function_name];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270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5CAF-5839-823F-61C0-E1AB9770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85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Advantages of PL/SQL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06475-9054-40F5-72C9-8DCC32D7D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1601"/>
            <a:ext cx="10018713" cy="4513005"/>
          </a:xfrm>
        </p:spPr>
        <p:txBody>
          <a:bodyPr/>
          <a:lstStyle/>
          <a:p>
            <a:pPr fontAlgn="base"/>
            <a:r>
              <a:rPr lang="en-US" dirty="0"/>
              <a:t>We can make a single call to the database to run a block of statements thus it improves the performance against running SQL multiple times. This will reduce the number of calls between the database and the application.</a:t>
            </a:r>
          </a:p>
          <a:p>
            <a:pPr fontAlgn="base"/>
            <a:r>
              <a:rPr lang="en-US" dirty="0"/>
              <a:t>We can divide the overall work into small modules which becomes quite manageable also enhancing the readability of the code.</a:t>
            </a:r>
          </a:p>
          <a:p>
            <a:pPr fontAlgn="base"/>
            <a:r>
              <a:rPr lang="en-US" dirty="0"/>
              <a:t>It promotes reusability.</a:t>
            </a:r>
          </a:p>
          <a:p>
            <a:pPr fontAlgn="base"/>
            <a:r>
              <a:rPr lang="en-US" dirty="0"/>
              <a:t>It is secure since the code stays inside the database thus hiding internal database details from the application(user). The user only makes a call to the PL/SQL functions. Hence security and data hiding is ensured.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56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9436-67D7-6770-3289-11FCB3172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3284"/>
          </a:xfrm>
        </p:spPr>
        <p:txBody>
          <a:bodyPr>
            <a:normAutofit/>
          </a:bodyPr>
          <a:lstStyle/>
          <a:p>
            <a:r>
              <a:rPr lang="en-US" b="1" dirty="0"/>
              <a:t>DROP Function in PL/SQL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F000-118F-37B8-1E00-912EA48A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23768"/>
            <a:ext cx="10018713" cy="36674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drop a function in PL/SQL, DROP function statement is used. </a:t>
            </a:r>
          </a:p>
          <a:p>
            <a:r>
              <a:rPr lang="en-US" dirty="0"/>
              <a:t>Syntax  -                   DROP Function &lt;function_name&gt;;</a:t>
            </a:r>
          </a:p>
          <a:p>
            <a:r>
              <a:rPr lang="en-US" dirty="0"/>
              <a:t>Example -                DROP Function func1;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21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122B-046C-5C66-2437-A851422D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B52E1-9FA4-B7C0-BE36-FF2A6C603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="1" dirty="0"/>
              <a:t> Cursor in PL/SQL</a:t>
            </a:r>
            <a:r>
              <a:rPr lang="en-US" dirty="0"/>
              <a:t> is a pointer to a context area that stores the result set of a query.</a:t>
            </a:r>
          </a:p>
          <a:p>
            <a:r>
              <a:rPr lang="en-US" dirty="0"/>
              <a:t>The cursor is used to retrieve data one row at a time from the results set, unlike other SQL commands that operate on all rows at once.</a:t>
            </a:r>
          </a:p>
          <a:p>
            <a:r>
              <a:rPr lang="en-US" dirty="0"/>
              <a:t>Cursors update table records in a singleton or row-by-row manner.</a:t>
            </a:r>
          </a:p>
          <a:p>
            <a:r>
              <a:rPr lang="en-US" dirty="0"/>
              <a:t>The Data that is stored in the Cursor is called the </a:t>
            </a:r>
            <a:r>
              <a:rPr lang="en-US" b="1" dirty="0"/>
              <a:t>Active Data Set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237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E61E-A236-98DE-D62A-19D378F3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28252"/>
          </a:xfrm>
        </p:spPr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553205-6071-17AB-D5C8-EABC93E7E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291" y="1814052"/>
            <a:ext cx="9394722" cy="46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89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0684-DAAF-C56C-AA24-F8200989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16742"/>
          </a:xfrm>
        </p:spPr>
        <p:txBody>
          <a:bodyPr>
            <a:normAutofit/>
          </a:bodyPr>
          <a:lstStyle/>
          <a:p>
            <a:r>
              <a:rPr lang="en-US" b="1" dirty="0"/>
              <a:t>Cursor 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0DB76-7222-8F45-121A-5C1F635EC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02542"/>
            <a:ext cx="10018713" cy="4557251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Declare Cursor:</a:t>
            </a:r>
            <a:r>
              <a:rPr lang="en-US" dirty="0"/>
              <a:t> A cursor is declared by defining the SQL statement that returns a result set.</a:t>
            </a:r>
          </a:p>
          <a:p>
            <a:pPr fontAlgn="base"/>
            <a:r>
              <a:rPr lang="en-US" b="1" dirty="0"/>
              <a:t>Open:</a:t>
            </a:r>
            <a:r>
              <a:rPr lang="en-US" dirty="0"/>
              <a:t> A Cursor is opened and populated by executing the SQL statement defined by the cursor.</a:t>
            </a:r>
          </a:p>
          <a:p>
            <a:pPr fontAlgn="base"/>
            <a:r>
              <a:rPr lang="en-US" b="1" dirty="0"/>
              <a:t>Fetch:</a:t>
            </a:r>
            <a:r>
              <a:rPr lang="en-US" dirty="0"/>
              <a:t> When the cursor is opened, rows can be fetched from the cursor one by one or in a block to perform data manipulation.</a:t>
            </a:r>
          </a:p>
          <a:p>
            <a:pPr fontAlgn="base"/>
            <a:r>
              <a:rPr lang="en-US" b="1" dirty="0"/>
              <a:t>Close:</a:t>
            </a:r>
            <a:r>
              <a:rPr lang="en-US" dirty="0"/>
              <a:t> After data manipulation, close the cursor explicitly.</a:t>
            </a:r>
          </a:p>
          <a:p>
            <a:pPr fontAlgn="base"/>
            <a:r>
              <a:rPr lang="en-US" b="1" dirty="0"/>
              <a:t>Deallocate:</a:t>
            </a:r>
            <a:r>
              <a:rPr lang="en-US" dirty="0"/>
              <a:t> Finally, delete the cursor definition and release all the system resources associated with the cursor.</a:t>
            </a:r>
          </a:p>
        </p:txBody>
      </p:sp>
    </p:spTree>
    <p:extLst>
      <p:ext uri="{BB962C8B-B14F-4D97-AF65-F5344CB8AC3E}">
        <p14:creationId xmlns:p14="http://schemas.microsoft.com/office/powerpoint/2010/main" val="359097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967C-A852-E46B-A5CD-E914CEF8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62781"/>
          </a:xfrm>
        </p:spPr>
        <p:txBody>
          <a:bodyPr/>
          <a:lstStyle/>
          <a:p>
            <a:r>
              <a:rPr lang="en-US" b="1" dirty="0"/>
              <a:t>Types of Cursors in PL/SQL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CC51-E37B-58BE-A102-CF16ED7C4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48581"/>
            <a:ext cx="10018713" cy="4242619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Cursors are classified depending on the circumstances in which they are opened.</a:t>
            </a:r>
          </a:p>
          <a:p>
            <a:pPr fontAlgn="base"/>
            <a:r>
              <a:rPr lang="en-US" b="1" dirty="0"/>
              <a:t>Implicit Cursor:</a:t>
            </a:r>
            <a:r>
              <a:rPr lang="en-US" dirty="0"/>
              <a:t> If the Oracle engine opened a cursor for its internal processing it is known as an Implicit Cursor. It is created "automatically" for the user by Oracle when a query is executed and is simpler to code.</a:t>
            </a:r>
          </a:p>
          <a:p>
            <a:pPr fontAlgn="base"/>
            <a:r>
              <a:rPr lang="en-US" b="1" dirty="0"/>
              <a:t>Explicit Cursor:</a:t>
            </a:r>
            <a:r>
              <a:rPr lang="en-US" dirty="0"/>
              <a:t> A Cursor can also be opened for processing data through a PL/SQL block, on demand. Such a user-defined cursor is known as an Explicit Cursor.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716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E0DD-8368-7F30-786C-1A25543E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48032"/>
          </a:xfrm>
        </p:spPr>
        <p:txBody>
          <a:bodyPr/>
          <a:lstStyle/>
          <a:p>
            <a:r>
              <a:rPr lang="en-US" b="1" dirty="0"/>
              <a:t>Explicit cursor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868E5-FEEA-BCAD-35E9-1A93EE1A8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33833"/>
            <a:ext cx="10018713" cy="4257368"/>
          </a:xfrm>
        </p:spPr>
        <p:txBody>
          <a:bodyPr>
            <a:normAutofit/>
          </a:bodyPr>
          <a:lstStyle/>
          <a:p>
            <a:r>
              <a:rPr lang="en-US" dirty="0"/>
              <a:t>An explicit cursor is defined in the declaration section of the PL/SQL Block. It is created on a SELECT Statement which returns more than one row.</a:t>
            </a:r>
          </a:p>
          <a:p>
            <a:r>
              <a:rPr lang="en-US" b="1" dirty="0"/>
              <a:t>Syntax for creating cursor - </a:t>
            </a:r>
          </a:p>
          <a:p>
            <a:pPr marL="0" indent="0">
              <a:buNone/>
            </a:pPr>
            <a:r>
              <a:rPr lang="en-US" dirty="0"/>
              <a:t>                              CURSOR </a:t>
            </a:r>
            <a:r>
              <a:rPr lang="en-US" dirty="0" err="1"/>
              <a:t>cursor_name</a:t>
            </a:r>
            <a:r>
              <a:rPr lang="en-US" dirty="0"/>
              <a:t> IS </a:t>
            </a:r>
            <a:r>
              <a:rPr lang="en-US" dirty="0" err="1"/>
              <a:t>select_statement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Where,</a:t>
            </a:r>
          </a:p>
          <a:p>
            <a:r>
              <a:rPr lang="en-US" dirty="0" err="1"/>
              <a:t>cursor_name</a:t>
            </a:r>
            <a:r>
              <a:rPr lang="en-US" dirty="0"/>
              <a:t>: A suitable name for the cursor.</a:t>
            </a:r>
          </a:p>
          <a:p>
            <a:r>
              <a:rPr lang="en-US" dirty="0" err="1"/>
              <a:t>select_statement</a:t>
            </a:r>
            <a:r>
              <a:rPr lang="en-US" dirty="0"/>
              <a:t>: A select query which returns multiple rows</a:t>
            </a:r>
          </a:p>
        </p:txBody>
      </p:sp>
    </p:spTree>
    <p:extLst>
      <p:ext uri="{BB962C8B-B14F-4D97-AF65-F5344CB8AC3E}">
        <p14:creationId xmlns:p14="http://schemas.microsoft.com/office/powerpoint/2010/main" val="3898256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9DBD-C0DD-47AE-0703-53A54FC7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66019"/>
          </a:xfrm>
        </p:spPr>
        <p:txBody>
          <a:bodyPr/>
          <a:lstStyle/>
          <a:p>
            <a:r>
              <a:rPr lang="en-US" b="1" dirty="0"/>
              <a:t>How to use Explicit Cursor?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6145-DE75-7EB0-41C0-4E1375684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14052"/>
            <a:ext cx="10018713" cy="397714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There are four steps in using an Explicit Cursor.</a:t>
            </a:r>
          </a:p>
          <a:p>
            <a:pPr fontAlgn="base"/>
            <a:r>
              <a:rPr lang="en-US" dirty="0"/>
              <a:t>DECLARE the cursor in the Declaration section.</a:t>
            </a:r>
          </a:p>
          <a:p>
            <a:pPr fontAlgn="base"/>
            <a:r>
              <a:rPr lang="en-US" dirty="0"/>
              <a:t>OPEN the cursor in the Execution Section.</a:t>
            </a:r>
          </a:p>
          <a:p>
            <a:pPr fontAlgn="base"/>
            <a:r>
              <a:rPr lang="en-US" dirty="0"/>
              <a:t>FETCH the data from the cursor into PL/SQL variables or records in the Execution Section.</a:t>
            </a:r>
          </a:p>
          <a:p>
            <a:pPr fontAlgn="base"/>
            <a:r>
              <a:rPr lang="en-US" dirty="0"/>
              <a:t>CLOSE the cursor in the Execution Section before you end the PL/SQL Block.</a:t>
            </a:r>
          </a:p>
        </p:txBody>
      </p:sp>
    </p:spTree>
    <p:extLst>
      <p:ext uri="{BB962C8B-B14F-4D97-AF65-F5344CB8AC3E}">
        <p14:creationId xmlns:p14="http://schemas.microsoft.com/office/powerpoint/2010/main" val="1097768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2F81-72D7-147B-F051-B4492482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26805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/>
              <a:t>PL/SQL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5878-359D-2620-9F51-B70D9FD6D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12606"/>
            <a:ext cx="10018713" cy="52946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PL/SQL triggers are block structures and predefined programs </a:t>
            </a:r>
            <a:r>
              <a:rPr lang="en-US" b="1" dirty="0"/>
              <a:t>invoked automatically</a:t>
            </a:r>
            <a:r>
              <a:rPr lang="en-US" dirty="0"/>
              <a:t> when some event occurs.</a:t>
            </a:r>
          </a:p>
          <a:p>
            <a:r>
              <a:rPr lang="en-US" dirty="0"/>
              <a:t> They are stored in the database and</a:t>
            </a:r>
            <a:r>
              <a:rPr lang="en-US" b="1" dirty="0"/>
              <a:t> invoked repeatedly </a:t>
            </a:r>
            <a:r>
              <a:rPr lang="en-US" dirty="0"/>
              <a:t>in a particular scenario.</a:t>
            </a:r>
          </a:p>
          <a:p>
            <a:r>
              <a:rPr lang="en-US" dirty="0"/>
              <a:t>There are two states of the triggers, they are </a:t>
            </a:r>
            <a:r>
              <a:rPr lang="en-US" b="1" dirty="0"/>
              <a:t>enabled</a:t>
            </a:r>
            <a:r>
              <a:rPr lang="en-US" dirty="0"/>
              <a:t> and </a:t>
            </a:r>
            <a:r>
              <a:rPr lang="en-US" b="1" dirty="0"/>
              <a:t>disabled</a:t>
            </a:r>
            <a:r>
              <a:rPr lang="en-US" dirty="0"/>
              <a:t>.</a:t>
            </a:r>
          </a:p>
          <a:p>
            <a:r>
              <a:rPr lang="en-US" dirty="0"/>
              <a:t>When the trigger is created it is enabled.</a:t>
            </a:r>
          </a:p>
          <a:p>
            <a:r>
              <a:rPr lang="en-US" b="1" dirty="0"/>
              <a:t>CREATE TRIGGER</a:t>
            </a:r>
            <a:r>
              <a:rPr lang="en-US" dirty="0"/>
              <a:t> statement creates a trigger. </a:t>
            </a:r>
          </a:p>
          <a:p>
            <a:r>
              <a:rPr lang="en-US" dirty="0"/>
              <a:t>A triggering event is specified on a table, a view, a schema, or a database.</a:t>
            </a:r>
          </a:p>
          <a:p>
            <a:r>
              <a:rPr lang="en-US" b="1" dirty="0"/>
              <a:t>BEFORE</a:t>
            </a:r>
            <a:r>
              <a:rPr lang="en-US" dirty="0"/>
              <a:t> and </a:t>
            </a:r>
            <a:r>
              <a:rPr lang="en-US" b="1" dirty="0"/>
              <a:t>AFTER</a:t>
            </a:r>
            <a:r>
              <a:rPr lang="en-US" dirty="0"/>
              <a:t> are the trigger Timing points.</a:t>
            </a:r>
          </a:p>
          <a:p>
            <a:r>
              <a:rPr lang="en-US" dirty="0"/>
              <a:t>System Triggers are created on schema or database using DDL or database operation statements. It is applied on new data </a:t>
            </a:r>
            <a:r>
              <a:rPr lang="en-US" dirty="0" err="1"/>
              <a:t>only,it</a:t>
            </a:r>
            <a:r>
              <a:rPr lang="en-US" dirty="0"/>
              <a:t> don't affect existing data.</a:t>
            </a:r>
          </a:p>
        </p:txBody>
      </p:sp>
    </p:spTree>
    <p:extLst>
      <p:ext uri="{BB962C8B-B14F-4D97-AF65-F5344CB8AC3E}">
        <p14:creationId xmlns:p14="http://schemas.microsoft.com/office/powerpoint/2010/main" val="14700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5C61-8FF0-7C80-56F2-AC852132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5297"/>
          </a:xfrm>
        </p:spPr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1C0EB-A90D-578C-714A-D1B067952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55058"/>
            <a:ext cx="10018713" cy="403614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They are associated with response-based events such as a</a:t>
            </a:r>
          </a:p>
          <a:p>
            <a:pPr fontAlgn="base"/>
            <a:r>
              <a:rPr lang="en-US" b="1" dirty="0"/>
              <a:t>Database Definition Language</a:t>
            </a:r>
            <a:r>
              <a:rPr lang="en-US" dirty="0"/>
              <a:t> statements such as CREATE, DROP or ALTER.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b="1" dirty="0"/>
              <a:t>Database Manipulation Language</a:t>
            </a:r>
            <a:r>
              <a:rPr lang="en-US" dirty="0"/>
              <a:t> statements such as UPDATE, INSERT or DELETE.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Database operations such as LOGON, LOGOFF, STARTUP, and SHUTDOWN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386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4829-0D25-E3FB-8242-B5EBA899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957" y="221655"/>
            <a:ext cx="10018713" cy="877528"/>
          </a:xfrm>
        </p:spPr>
        <p:txBody>
          <a:bodyPr/>
          <a:lstStyle/>
          <a:p>
            <a:r>
              <a:rPr lang="en-US" b="1" dirty="0"/>
              <a:t>PL/SQL Trigger Structure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716E73-B41B-5A02-F818-C6A2C45FE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3473" y="1128680"/>
            <a:ext cx="9857197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indent="357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trigger is specified first and then the action statement are specified later.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Syntax: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CREATE OR REPLACE TRIGGER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trigger_name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BEFORE or AFTER or INSTEAD OF                       //trigger timings 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INSERT or UPDATE or DELETE                                // Operation to be performed 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column_name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Table_name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EACH ROW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DECLARE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Declaration section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BEGIN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Execution section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EXCEPTION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Exception section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END;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</a:p>
          <a:p>
            <a:pPr marL="0"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Query operation to be performed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i.e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INSERT,DELETE,UPDATE.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801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9270-1A5D-2F6C-1B80-537339E1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59542"/>
          </a:xfrm>
        </p:spPr>
        <p:txBody>
          <a:bodyPr/>
          <a:lstStyle/>
          <a:p>
            <a:r>
              <a:rPr lang="en-US" dirty="0"/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D4475-14B4-A690-DA9B-52CD29BCC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66569"/>
            <a:ext cx="10018713" cy="4345857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 [ OR REPLACE ] TRIGGER trigger_name is used to create a trigger or replace the existing trigger.|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BEFORE | AFTER | INSTEAD OF specifies trigger timing.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INSERT | UPDATE | DELETE are the DML operations performed on table or views.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column_name specifies the column that would be updated.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table_name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species the table for the operation.</a:t>
            </a:r>
          </a:p>
          <a:p>
            <a:pPr fontAlgn="base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EACH ROW specify that trigger is executed on each row .</a:t>
            </a:r>
          </a:p>
        </p:txBody>
      </p:sp>
    </p:spTree>
    <p:extLst>
      <p:ext uri="{BB962C8B-B14F-4D97-AF65-F5344CB8AC3E}">
        <p14:creationId xmlns:p14="http://schemas.microsoft.com/office/powerpoint/2010/main" val="311228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BAFF-74A3-B3FA-865A-C42959E3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28251"/>
          </a:xfrm>
        </p:spPr>
        <p:txBody>
          <a:bodyPr/>
          <a:lstStyle/>
          <a:p>
            <a:r>
              <a:rPr lang="en-US" b="1" dirty="0"/>
              <a:t>Assertions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A91F8-A9FF-F064-7DB1-AA98EBFA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14051"/>
            <a:ext cx="10018713" cy="47047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a constraint involves 2 (or) more tables, the table constraint mechanism is sometimes hard and results may not come as expected.</a:t>
            </a:r>
          </a:p>
          <a:p>
            <a:r>
              <a:rPr lang="en-US" dirty="0"/>
              <a:t>To cover such a situation SQL supports the creation of assertions that are constraints not associated with only one table.</a:t>
            </a:r>
          </a:p>
          <a:p>
            <a:r>
              <a:rPr lang="en-US" dirty="0"/>
              <a:t>An assertion statement should ensure a certain condition will always exist in the database. </a:t>
            </a:r>
          </a:p>
          <a:p>
            <a:r>
              <a:rPr lang="en-US" dirty="0"/>
              <a:t>DBMS always checks the assertion whenever modifications are done in the corresponding table. </a:t>
            </a:r>
          </a:p>
          <a:p>
            <a:r>
              <a:rPr lang="en-US" dirty="0"/>
              <a:t>Syntax - </a:t>
            </a:r>
          </a:p>
          <a:p>
            <a:r>
              <a:rPr lang="en-US" dirty="0"/>
              <a:t>CREATE ASSERTION  [ </a:t>
            </a:r>
            <a:r>
              <a:rPr lang="en-US" dirty="0" err="1"/>
              <a:t>assertion_name</a:t>
            </a:r>
            <a:r>
              <a:rPr lang="en-US" dirty="0"/>
              <a:t> ]</a:t>
            </a:r>
          </a:p>
          <a:p>
            <a:r>
              <a:rPr lang="en-US" dirty="0"/>
              <a:t>CHECK ( [ condition ] );</a:t>
            </a:r>
          </a:p>
        </p:txBody>
      </p:sp>
    </p:spTree>
    <p:extLst>
      <p:ext uri="{BB962C8B-B14F-4D97-AF65-F5344CB8AC3E}">
        <p14:creationId xmlns:p14="http://schemas.microsoft.com/office/powerpoint/2010/main" val="1960375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14A3-47E8-1A35-053C-FE89AC036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80981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86</TotalTime>
  <Words>2058</Words>
  <Application>Microsoft Office PowerPoint</Application>
  <PresentationFormat>Widescreen</PresentationFormat>
  <Paragraphs>188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Corbel</vt:lpstr>
      <vt:lpstr>Parallax</vt:lpstr>
      <vt:lpstr>UNIT 2</vt:lpstr>
      <vt:lpstr>PL/SQL CONCEPT</vt:lpstr>
      <vt:lpstr>PL/SQL allows developers to: </vt:lpstr>
      <vt:lpstr>Structure of PL/SQL Block </vt:lpstr>
      <vt:lpstr>PL/SQL consist of three main sections:</vt:lpstr>
      <vt:lpstr>PL/SQL Identifiers </vt:lpstr>
      <vt:lpstr>CONT…</vt:lpstr>
      <vt:lpstr>Cont..</vt:lpstr>
      <vt:lpstr>Differences Between SQL and PL/SQL</vt:lpstr>
      <vt:lpstr>Stored Procedure in PL/SQL</vt:lpstr>
      <vt:lpstr>Basic syntax of a stored procedure in PL/SQL</vt:lpstr>
      <vt:lpstr>Example </vt:lpstr>
      <vt:lpstr>PL/SQL Functions</vt:lpstr>
      <vt:lpstr>Create Function in PL/SQL</vt:lpstr>
      <vt:lpstr>Advantages of PL/SQL Functions</vt:lpstr>
      <vt:lpstr>DROP Function in PL/SQL</vt:lpstr>
      <vt:lpstr>Cursors</vt:lpstr>
      <vt:lpstr>Cont..</vt:lpstr>
      <vt:lpstr>Cursor Actions</vt:lpstr>
      <vt:lpstr>Types of Cursors in PL/SQL</vt:lpstr>
      <vt:lpstr>Explicit cursor</vt:lpstr>
      <vt:lpstr>How to use Explicit Cursor?</vt:lpstr>
      <vt:lpstr>PL/SQL Triggers</vt:lpstr>
      <vt:lpstr>Cont..</vt:lpstr>
      <vt:lpstr>PL/SQL Trigger Structure</vt:lpstr>
      <vt:lpstr>Cont.…</vt:lpstr>
      <vt:lpstr>Assertions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computer dept</dc:creator>
  <cp:lastModifiedBy>computer dept</cp:lastModifiedBy>
  <cp:revision>19</cp:revision>
  <dcterms:created xsi:type="dcterms:W3CDTF">2025-08-01T05:42:17Z</dcterms:created>
  <dcterms:modified xsi:type="dcterms:W3CDTF">2025-08-12T10:23:51Z</dcterms:modified>
</cp:coreProperties>
</file>