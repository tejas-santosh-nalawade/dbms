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78"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44" r:id="rId50"/>
    <p:sldId id="305" r:id="rId51"/>
    <p:sldId id="306" r:id="rId52"/>
    <p:sldId id="307" r:id="rId53"/>
    <p:sldId id="308" r:id="rId54"/>
    <p:sldId id="309" r:id="rId55"/>
    <p:sldId id="310" r:id="rId56"/>
    <p:sldId id="311" r:id="rId57"/>
    <p:sldId id="312" r:id="rId58"/>
    <p:sldId id="315" r:id="rId59"/>
    <p:sldId id="313" r:id="rId60"/>
    <p:sldId id="314" r:id="rId61"/>
    <p:sldId id="316" r:id="rId62"/>
    <p:sldId id="317" r:id="rId63"/>
    <p:sldId id="318" r:id="rId64"/>
    <p:sldId id="319" r:id="rId65"/>
    <p:sldId id="304"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2" r:id="rId88"/>
    <p:sldId id="341" r:id="rId89"/>
    <p:sldId id="343" r:id="rId9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31" autoAdjust="0"/>
    <p:restoredTop sz="94624" autoAdjust="0"/>
  </p:normalViewPr>
  <p:slideViewPr>
    <p:cSldViewPr>
      <p:cViewPr varScale="1">
        <p:scale>
          <a:sx n="65" d="100"/>
          <a:sy n="65" d="100"/>
        </p:scale>
        <p:origin x="1440" y="78"/>
      </p:cViewPr>
      <p:guideLst>
        <p:guide orient="horz" pos="2160"/>
        <p:guide pos="2880"/>
      </p:guideLst>
    </p:cSldViewPr>
  </p:slideViewPr>
  <p:outlineViewPr>
    <p:cViewPr>
      <p:scale>
        <a:sx n="33" d="100"/>
        <a:sy n="33" d="100"/>
      </p:scale>
      <p:origin x="0" y="46572"/>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geeksforgeeks.org/dml-full-form/"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Unit - II</a:t>
            </a:r>
          </a:p>
        </p:txBody>
      </p:sp>
      <p:sp>
        <p:nvSpPr>
          <p:cNvPr id="3" name="Subtitle 2"/>
          <p:cNvSpPr>
            <a:spLocks noGrp="1"/>
          </p:cNvSpPr>
          <p:nvPr>
            <p:ph type="subTitle" idx="1"/>
          </p:nvPr>
        </p:nvSpPr>
        <p:spPr/>
        <p:txBody>
          <a:bodyPr/>
          <a:lstStyle/>
          <a:p>
            <a:r>
              <a:rPr lang="en-US" b="1" dirty="0"/>
              <a:t>SQL and PL/SQL</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Index</a:t>
            </a:r>
          </a:p>
        </p:txBody>
      </p:sp>
      <p:sp>
        <p:nvSpPr>
          <p:cNvPr id="3" name="Content Placeholder 2"/>
          <p:cNvSpPr>
            <a:spLocks noGrp="1"/>
          </p:cNvSpPr>
          <p:nvPr>
            <p:ph idx="1"/>
          </p:nvPr>
        </p:nvSpPr>
        <p:spPr>
          <a:xfrm>
            <a:off x="457200" y="914400"/>
            <a:ext cx="8229600" cy="5943600"/>
          </a:xfrm>
        </p:spPr>
        <p:txBody>
          <a:bodyPr>
            <a:normAutofit fontScale="70000" lnSpcReduction="20000"/>
          </a:bodyPr>
          <a:lstStyle/>
          <a:p>
            <a:r>
              <a:rPr lang="en-US" b="1" dirty="0"/>
              <a:t>SQL: Characteristics and Advantages,</a:t>
            </a:r>
          </a:p>
          <a:p>
            <a:r>
              <a:rPr lang="en-US" b="1" dirty="0"/>
              <a:t>SQL Data Types and Literals,</a:t>
            </a:r>
          </a:p>
          <a:p>
            <a:r>
              <a:rPr lang="en-US" b="1" dirty="0"/>
              <a:t> DDL, DML, DCL, TCL,</a:t>
            </a:r>
          </a:p>
          <a:p>
            <a:r>
              <a:rPr lang="en-US" dirty="0"/>
              <a:t>SQL Operators. </a:t>
            </a:r>
          </a:p>
          <a:p>
            <a:r>
              <a:rPr lang="en-US" b="1" dirty="0"/>
              <a:t>Tables: Creating, Modifying, Deleting, Updating.</a:t>
            </a:r>
          </a:p>
          <a:p>
            <a:r>
              <a:rPr lang="en-US" b="1" dirty="0"/>
              <a:t>SQL DML Queries:</a:t>
            </a:r>
          </a:p>
          <a:p>
            <a:r>
              <a:rPr lang="en-US" dirty="0"/>
              <a:t>SELECT Query and clauses, Index and Sequence in SQL. </a:t>
            </a:r>
          </a:p>
          <a:p>
            <a:r>
              <a:rPr lang="en-US" b="1" dirty="0"/>
              <a:t>Views: Creating, Dropping, </a:t>
            </a:r>
            <a:r>
              <a:rPr lang="en-US" dirty="0"/>
              <a:t>Updating using Indexes, </a:t>
            </a:r>
          </a:p>
          <a:p>
            <a:r>
              <a:rPr lang="en-US" dirty="0"/>
              <a:t>Set Operations, Predicates and Joins, </a:t>
            </a:r>
          </a:p>
          <a:p>
            <a:r>
              <a:rPr lang="en-US" dirty="0"/>
              <a:t>Set membership, </a:t>
            </a:r>
            <a:r>
              <a:rPr lang="en-US" dirty="0" err="1"/>
              <a:t>Tuple</a:t>
            </a:r>
            <a:endParaRPr lang="en-US" dirty="0"/>
          </a:p>
          <a:p>
            <a:r>
              <a:rPr lang="en-US" dirty="0"/>
              <a:t>Variables, Set comparison, </a:t>
            </a:r>
          </a:p>
          <a:p>
            <a:r>
              <a:rPr lang="en-US" dirty="0"/>
              <a:t>Ordering of </a:t>
            </a:r>
            <a:r>
              <a:rPr lang="en-US" dirty="0" err="1"/>
              <a:t>Tuples</a:t>
            </a:r>
            <a:r>
              <a:rPr lang="en-US" dirty="0"/>
              <a:t>, Aggregate Functions, </a:t>
            </a:r>
          </a:p>
          <a:p>
            <a:r>
              <a:rPr lang="en-US" dirty="0"/>
              <a:t>SQL Functions, </a:t>
            </a:r>
          </a:p>
          <a:p>
            <a:r>
              <a:rPr lang="en-US" dirty="0"/>
              <a:t>Nested Queries.</a:t>
            </a:r>
          </a:p>
          <a:p>
            <a:r>
              <a:rPr lang="en-US" b="1" dirty="0"/>
              <a:t>PL/SQL: Concept of Stored Procedures and Functions, </a:t>
            </a:r>
          </a:p>
          <a:p>
            <a:r>
              <a:rPr lang="en-US" b="1" dirty="0"/>
              <a:t>Cursors, Triggers, Assertions,</a:t>
            </a:r>
          </a:p>
          <a:p>
            <a:r>
              <a:rPr lang="en-US" dirty="0"/>
              <a:t>Roles and Privileges.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b="1" dirty="0"/>
              <a:t>SQL: Characteristics and Advantages</a:t>
            </a:r>
            <a:endParaRPr lang="en-US" dirty="0"/>
          </a:p>
        </p:txBody>
      </p:sp>
      <p:sp>
        <p:nvSpPr>
          <p:cNvPr id="3" name="Content Placeholder 2"/>
          <p:cNvSpPr>
            <a:spLocks noGrp="1"/>
          </p:cNvSpPr>
          <p:nvPr>
            <p:ph idx="1"/>
          </p:nvPr>
        </p:nvSpPr>
        <p:spPr>
          <a:xfrm>
            <a:off x="457200" y="1219200"/>
            <a:ext cx="8229600" cy="5410200"/>
          </a:xfrm>
        </p:spPr>
        <p:txBody>
          <a:bodyPr>
            <a:normAutofit fontScale="85000" lnSpcReduction="20000"/>
          </a:bodyPr>
          <a:lstStyle/>
          <a:p>
            <a:pPr>
              <a:buNone/>
            </a:pPr>
            <a:r>
              <a:rPr lang="en-US" b="1" dirty="0"/>
              <a:t>Characteristics</a:t>
            </a:r>
            <a:endParaRPr lang="en-US" dirty="0"/>
          </a:p>
          <a:p>
            <a:r>
              <a:rPr lang="en-US" dirty="0"/>
              <a:t>SQL is easy to learn.</a:t>
            </a:r>
          </a:p>
          <a:p>
            <a:r>
              <a:rPr lang="en-US" dirty="0"/>
              <a:t>SQL is used to access data from relational database management systems.</a:t>
            </a:r>
          </a:p>
          <a:p>
            <a:r>
              <a:rPr lang="en-US" dirty="0"/>
              <a:t>SQL can execute queries against the database.</a:t>
            </a:r>
          </a:p>
          <a:p>
            <a:r>
              <a:rPr lang="en-US" dirty="0"/>
              <a:t>SQL is used to describe the data.</a:t>
            </a:r>
          </a:p>
          <a:p>
            <a:r>
              <a:rPr lang="en-US" dirty="0"/>
              <a:t>SQL is used to define the data in the database and manipulate it when needed.</a:t>
            </a:r>
          </a:p>
          <a:p>
            <a:r>
              <a:rPr lang="en-US" dirty="0"/>
              <a:t>SQL is used to create and drop the database and table.</a:t>
            </a:r>
          </a:p>
          <a:p>
            <a:r>
              <a:rPr lang="en-US" dirty="0"/>
              <a:t>SQL is used to create a view, stored procedure, function in a database.</a:t>
            </a:r>
          </a:p>
          <a:p>
            <a:r>
              <a:rPr lang="en-US" dirty="0"/>
              <a:t>SQL allows users to set permissions on tables, procedures, and views.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943600"/>
          </a:xfrm>
        </p:spPr>
        <p:txBody>
          <a:bodyPr>
            <a:normAutofit fontScale="62500" lnSpcReduction="20000"/>
          </a:bodyPr>
          <a:lstStyle/>
          <a:p>
            <a:pPr>
              <a:buNone/>
            </a:pPr>
            <a:r>
              <a:rPr lang="en-US" sz="8400" b="1" dirty="0"/>
              <a:t>Advantages</a:t>
            </a:r>
          </a:p>
          <a:p>
            <a:r>
              <a:rPr lang="en-US" b="1" dirty="0"/>
              <a:t>High speed</a:t>
            </a:r>
          </a:p>
          <a:p>
            <a:pPr>
              <a:buNone/>
            </a:pPr>
            <a:r>
              <a:rPr lang="en-US" dirty="0"/>
              <a:t>        Using the SQL queries, the user can quickly and efficiently retrieve a large amount of records from a database.</a:t>
            </a:r>
          </a:p>
          <a:p>
            <a:r>
              <a:rPr lang="en-US" b="1" dirty="0"/>
              <a:t>No coding needed</a:t>
            </a:r>
          </a:p>
          <a:p>
            <a:pPr>
              <a:buNone/>
            </a:pPr>
            <a:r>
              <a:rPr lang="en-US" dirty="0"/>
              <a:t>         In the standard SQL, it is very easy to manage the database system. It doesn't require a substantial amount of code to manage the database system.</a:t>
            </a:r>
          </a:p>
          <a:p>
            <a:r>
              <a:rPr lang="en-US" b="1" dirty="0"/>
              <a:t>Well defined standards</a:t>
            </a:r>
          </a:p>
          <a:p>
            <a:pPr>
              <a:buNone/>
            </a:pPr>
            <a:r>
              <a:rPr lang="en-US" dirty="0"/>
              <a:t>         Long established are used by the SQL databases that are being used by ISO and ANSI.</a:t>
            </a:r>
          </a:p>
          <a:p>
            <a:r>
              <a:rPr lang="en-US" b="1" dirty="0"/>
              <a:t>Portability</a:t>
            </a:r>
          </a:p>
          <a:p>
            <a:pPr>
              <a:buNone/>
            </a:pPr>
            <a:r>
              <a:rPr lang="en-US" dirty="0"/>
              <a:t>        SQL can be used in laptop, PCs, server and even some mobile phones.</a:t>
            </a:r>
          </a:p>
          <a:p>
            <a:r>
              <a:rPr lang="en-US" b="1" dirty="0"/>
              <a:t>Interactive language</a:t>
            </a:r>
          </a:p>
          <a:p>
            <a:pPr>
              <a:buNone/>
            </a:pPr>
            <a:r>
              <a:rPr lang="en-US" dirty="0"/>
              <a:t>         SQL is a domain language used to communicate with the database. It is also used to receive answers to the complex questions in seconds.</a:t>
            </a:r>
          </a:p>
          <a:p>
            <a:r>
              <a:rPr lang="en-US" b="1" dirty="0"/>
              <a:t>Multiple data view</a:t>
            </a:r>
          </a:p>
          <a:p>
            <a:pPr>
              <a:buNone/>
            </a:pPr>
            <a:r>
              <a:rPr lang="en-US" dirty="0"/>
              <a:t>        Using the SQL language, the users can make different views of the database structure.</a:t>
            </a:r>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SQL Data Types and Literals</a:t>
            </a:r>
            <a:endParaRPr lang="en-US" dirty="0"/>
          </a:p>
        </p:txBody>
      </p:sp>
      <p:sp>
        <p:nvSpPr>
          <p:cNvPr id="3" name="Content Placeholder 2"/>
          <p:cNvSpPr>
            <a:spLocks noGrp="1"/>
          </p:cNvSpPr>
          <p:nvPr>
            <p:ph idx="1"/>
          </p:nvPr>
        </p:nvSpPr>
        <p:spPr>
          <a:xfrm>
            <a:off x="1066800" y="1219200"/>
            <a:ext cx="7239000" cy="4906963"/>
          </a:xfrm>
        </p:spPr>
        <p:txBody>
          <a:bodyPr/>
          <a:lstStyle/>
          <a:p>
            <a:pPr algn="just">
              <a:buNone/>
            </a:pPr>
            <a:r>
              <a:rPr lang="en-US" sz="3600" dirty="0"/>
              <a:t>Data types mainly classified into three categories for every database.</a:t>
            </a:r>
          </a:p>
          <a:p>
            <a:pPr algn="just">
              <a:buNone/>
            </a:pPr>
            <a:endParaRPr lang="en-US" sz="2400" dirty="0"/>
          </a:p>
          <a:p>
            <a:pPr algn="just">
              <a:buNone/>
            </a:pPr>
            <a:endParaRPr lang="en-US" sz="2400" dirty="0"/>
          </a:p>
          <a:p>
            <a:pPr algn="just"/>
            <a:r>
              <a:rPr lang="en-US" dirty="0"/>
              <a:t>String Data types</a:t>
            </a:r>
          </a:p>
          <a:p>
            <a:pPr algn="just"/>
            <a:r>
              <a:rPr lang="en-US" dirty="0"/>
              <a:t>Numeric Data types</a:t>
            </a:r>
          </a:p>
          <a:p>
            <a:pPr algn="just"/>
            <a:r>
              <a:rPr lang="en-US" dirty="0"/>
              <a:t>Date and time Data types</a:t>
            </a:r>
          </a:p>
          <a:p>
            <a:pPr algn="just"/>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String Data types</a:t>
            </a:r>
          </a:p>
        </p:txBody>
      </p:sp>
      <p:sp>
        <p:nvSpPr>
          <p:cNvPr id="3" name="Content Placeholder 2"/>
          <p:cNvSpPr>
            <a:spLocks noGrp="1"/>
          </p:cNvSpPr>
          <p:nvPr>
            <p:ph idx="1"/>
          </p:nvPr>
        </p:nvSpPr>
        <p:spPr/>
        <p:txBody>
          <a:bodyPr/>
          <a:lstStyle/>
          <a:p>
            <a:r>
              <a:rPr lang="en-US" dirty="0"/>
              <a:t>Examples</a:t>
            </a:r>
          </a:p>
        </p:txBody>
      </p:sp>
      <p:pic>
        <p:nvPicPr>
          <p:cNvPr id="1026" name="Picture 2"/>
          <p:cNvPicPr>
            <a:picLocks noChangeAspect="1" noChangeArrowheads="1"/>
          </p:cNvPicPr>
          <p:nvPr/>
        </p:nvPicPr>
        <p:blipFill>
          <a:blip r:embed="rId2" cstate="print"/>
          <a:srcRect/>
          <a:stretch>
            <a:fillRect/>
          </a:stretch>
        </p:blipFill>
        <p:spPr bwMode="auto">
          <a:xfrm>
            <a:off x="304800" y="2362200"/>
            <a:ext cx="8396177" cy="37338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Numeric Data types</a:t>
            </a:r>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228600" y="1447800"/>
            <a:ext cx="8493153" cy="50292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Date and time Data types</a:t>
            </a:r>
          </a:p>
        </p:txBody>
      </p:sp>
      <p:pic>
        <p:nvPicPr>
          <p:cNvPr id="3074" name="Picture 2"/>
          <p:cNvPicPr>
            <a:picLocks noChangeAspect="1" noChangeArrowheads="1"/>
          </p:cNvPicPr>
          <p:nvPr/>
        </p:nvPicPr>
        <p:blipFill>
          <a:blip r:embed="rId2" cstate="print"/>
          <a:srcRect/>
          <a:stretch>
            <a:fillRect/>
          </a:stretch>
        </p:blipFill>
        <p:spPr bwMode="auto">
          <a:xfrm>
            <a:off x="384102" y="2362200"/>
            <a:ext cx="8759898" cy="2719387"/>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Literals</a:t>
            </a:r>
          </a:p>
        </p:txBody>
      </p:sp>
      <p:sp>
        <p:nvSpPr>
          <p:cNvPr id="3" name="Content Placeholder 2"/>
          <p:cNvSpPr>
            <a:spLocks noGrp="1"/>
          </p:cNvSpPr>
          <p:nvPr>
            <p:ph idx="1"/>
          </p:nvPr>
        </p:nvSpPr>
        <p:spPr/>
        <p:txBody>
          <a:bodyPr/>
          <a:lstStyle/>
          <a:p>
            <a:r>
              <a:rPr lang="en-US" dirty="0"/>
              <a:t>String Literals</a:t>
            </a:r>
          </a:p>
          <a:p>
            <a:r>
              <a:rPr lang="en-US" dirty="0"/>
              <a:t>Numeric Literals</a:t>
            </a:r>
          </a:p>
          <a:p>
            <a:r>
              <a:rPr lang="en-US" dirty="0"/>
              <a:t>Date and Time Literals</a:t>
            </a:r>
          </a:p>
          <a:p>
            <a:r>
              <a:rPr lang="en-US" dirty="0"/>
              <a:t>Hexadecimal Literals</a:t>
            </a:r>
          </a:p>
          <a:p>
            <a:r>
              <a:rPr lang="en-US" dirty="0"/>
              <a:t>Bit-Value Literals</a:t>
            </a:r>
          </a:p>
          <a:p>
            <a:r>
              <a:rPr lang="en-US" dirty="0"/>
              <a:t>Boolean Literals</a:t>
            </a:r>
          </a:p>
          <a:p>
            <a:r>
              <a:rPr lang="en-US" dirty="0"/>
              <a:t>NULL Values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SQL Command Categories</a:t>
            </a:r>
          </a:p>
        </p:txBody>
      </p:sp>
      <p:pic>
        <p:nvPicPr>
          <p:cNvPr id="4099" name="Picture 3" descr="D:\DY Patil\Academic Year 2023-24\Sem-I\DBMS\Theory\PPT\Unit 2\new.png"/>
          <p:cNvPicPr>
            <a:picLocks noChangeAspect="1" noChangeArrowheads="1"/>
          </p:cNvPicPr>
          <p:nvPr/>
        </p:nvPicPr>
        <p:blipFill>
          <a:blip r:embed="rId2" cstate="print"/>
          <a:srcRect/>
          <a:stretch>
            <a:fillRect/>
          </a:stretch>
        </p:blipFill>
        <p:spPr bwMode="auto">
          <a:xfrm>
            <a:off x="381000" y="1219200"/>
            <a:ext cx="8077200" cy="5014913"/>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Autofit/>
          </a:bodyPr>
          <a:lstStyle/>
          <a:p>
            <a:r>
              <a:rPr lang="en-US" sz="3200" b="1" dirty="0"/>
              <a:t>Data Definition Language (DDL)</a:t>
            </a:r>
          </a:p>
        </p:txBody>
      </p:sp>
      <p:sp>
        <p:nvSpPr>
          <p:cNvPr id="3" name="Content Placeholder 2"/>
          <p:cNvSpPr>
            <a:spLocks noGrp="1"/>
          </p:cNvSpPr>
          <p:nvPr>
            <p:ph idx="1"/>
          </p:nvPr>
        </p:nvSpPr>
        <p:spPr>
          <a:xfrm>
            <a:off x="609600" y="838200"/>
            <a:ext cx="8077200" cy="5867400"/>
          </a:xfrm>
        </p:spPr>
        <p:txBody>
          <a:bodyPr>
            <a:noAutofit/>
          </a:bodyPr>
          <a:lstStyle/>
          <a:p>
            <a:pPr algn="just">
              <a:lnSpc>
                <a:spcPct val="170000"/>
              </a:lnSpc>
            </a:pPr>
            <a:r>
              <a:rPr lang="en-US" sz="2400" u="sng" dirty="0">
                <a:solidFill>
                  <a:srgbClr val="FF0000"/>
                </a:solidFill>
              </a:rPr>
              <a:t>DDL</a:t>
            </a:r>
            <a:r>
              <a:rPr lang="en-US" sz="2400" dirty="0"/>
              <a:t> or Data Definition Language actually consists of the SQL commands that can be used to define the database schema. </a:t>
            </a:r>
          </a:p>
          <a:p>
            <a:pPr algn="just">
              <a:lnSpc>
                <a:spcPct val="170000"/>
              </a:lnSpc>
            </a:pPr>
            <a:r>
              <a:rPr lang="en-US" sz="2400" dirty="0"/>
              <a:t>It simply deals with descriptions of the database schema and is used to create and modify the structure of database objects in the database. </a:t>
            </a:r>
          </a:p>
          <a:p>
            <a:pPr algn="just">
              <a:lnSpc>
                <a:spcPct val="170000"/>
              </a:lnSpc>
            </a:pPr>
            <a:r>
              <a:rPr lang="en-US" sz="2400" dirty="0"/>
              <a:t>DDL is a set of SQL commands used to create, modify, and delete database structures but not data. </a:t>
            </a:r>
          </a:p>
          <a:p>
            <a:pPr algn="just">
              <a:lnSpc>
                <a:spcPct val="170000"/>
              </a:lnSpc>
            </a:pPr>
            <a:r>
              <a:rPr lang="en-US" sz="2400" dirty="0"/>
              <a:t>These commands are normally not used by a general user, who should be accessing the database via an application.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563562"/>
          </a:xfrm>
        </p:spPr>
        <p:txBody>
          <a:bodyPr>
            <a:noAutofit/>
          </a:bodyPr>
          <a:lstStyle/>
          <a:p>
            <a:r>
              <a:rPr lang="en-US" sz="2800" b="1" dirty="0"/>
              <a:t>List of </a:t>
            </a:r>
            <a:r>
              <a:rPr lang="en-US" sz="2800" b="1" dirty="0">
                <a:solidFill>
                  <a:srgbClr val="FF0000"/>
                </a:solidFill>
              </a:rPr>
              <a:t>DDL</a:t>
            </a:r>
            <a:r>
              <a:rPr lang="en-US" sz="2800" b="1" dirty="0"/>
              <a:t> commands</a:t>
            </a:r>
          </a:p>
        </p:txBody>
      </p:sp>
      <p:sp>
        <p:nvSpPr>
          <p:cNvPr id="3" name="Content Placeholder 2"/>
          <p:cNvSpPr>
            <a:spLocks noGrp="1"/>
          </p:cNvSpPr>
          <p:nvPr>
            <p:ph idx="1"/>
          </p:nvPr>
        </p:nvSpPr>
        <p:spPr>
          <a:xfrm>
            <a:off x="457200" y="533400"/>
            <a:ext cx="8458200" cy="6096000"/>
          </a:xfrm>
        </p:spPr>
        <p:txBody>
          <a:bodyPr>
            <a:noAutofit/>
          </a:bodyPr>
          <a:lstStyle/>
          <a:p>
            <a:pPr algn="just" fontAlgn="base">
              <a:lnSpc>
                <a:spcPct val="170000"/>
              </a:lnSpc>
            </a:pPr>
            <a:r>
              <a:rPr lang="en-US" sz="2300" dirty="0">
                <a:solidFill>
                  <a:srgbClr val="00B050"/>
                </a:solidFill>
              </a:rPr>
              <a:t>CREATE</a:t>
            </a:r>
            <a:r>
              <a:rPr lang="en-US" sz="2300" dirty="0"/>
              <a:t>: This command is used to create the database or its objects (like table, index, function, views, store procedure, and triggers).</a:t>
            </a:r>
          </a:p>
          <a:p>
            <a:pPr algn="just" fontAlgn="base">
              <a:lnSpc>
                <a:spcPct val="170000"/>
              </a:lnSpc>
            </a:pPr>
            <a:r>
              <a:rPr lang="en-US" sz="2300" dirty="0">
                <a:solidFill>
                  <a:srgbClr val="00B050"/>
                </a:solidFill>
              </a:rPr>
              <a:t>DROP</a:t>
            </a:r>
            <a:r>
              <a:rPr lang="en-US" sz="2300" dirty="0"/>
              <a:t>: This command is used to delete objects from the database.</a:t>
            </a:r>
          </a:p>
          <a:p>
            <a:pPr algn="just" fontAlgn="base">
              <a:lnSpc>
                <a:spcPct val="170000"/>
              </a:lnSpc>
            </a:pPr>
            <a:r>
              <a:rPr lang="en-US" sz="2300" dirty="0">
                <a:solidFill>
                  <a:srgbClr val="00B050"/>
                </a:solidFill>
              </a:rPr>
              <a:t>ALTER</a:t>
            </a:r>
            <a:r>
              <a:rPr lang="en-US" sz="2300" dirty="0"/>
              <a:t>: This is used to alter the structure of the database.</a:t>
            </a:r>
          </a:p>
          <a:p>
            <a:pPr algn="just" fontAlgn="base">
              <a:lnSpc>
                <a:spcPct val="170000"/>
              </a:lnSpc>
            </a:pPr>
            <a:r>
              <a:rPr lang="en-US" sz="2300" dirty="0">
                <a:solidFill>
                  <a:srgbClr val="00B050"/>
                </a:solidFill>
              </a:rPr>
              <a:t>TRUNCATE</a:t>
            </a:r>
            <a:r>
              <a:rPr lang="en-US" sz="2300" dirty="0"/>
              <a:t>: This is used to remove all records from a table, including all spaces allocated for the records are removed.</a:t>
            </a:r>
          </a:p>
          <a:p>
            <a:pPr algn="just" fontAlgn="base">
              <a:lnSpc>
                <a:spcPct val="170000"/>
              </a:lnSpc>
            </a:pPr>
            <a:r>
              <a:rPr lang="en-US" sz="2300" dirty="0">
                <a:solidFill>
                  <a:srgbClr val="00B050"/>
                </a:solidFill>
              </a:rPr>
              <a:t>COMMENT</a:t>
            </a:r>
            <a:r>
              <a:rPr lang="en-US" sz="2300" dirty="0"/>
              <a:t>: This is used to add comments to the data dictionary.</a:t>
            </a:r>
          </a:p>
          <a:p>
            <a:pPr algn="just" fontAlgn="base">
              <a:lnSpc>
                <a:spcPct val="170000"/>
              </a:lnSpc>
            </a:pPr>
            <a:r>
              <a:rPr lang="en-US" sz="2300" dirty="0">
                <a:solidFill>
                  <a:srgbClr val="00B050"/>
                </a:solidFill>
              </a:rPr>
              <a:t>RENAME</a:t>
            </a:r>
            <a:r>
              <a:rPr lang="en-US" sz="2300" dirty="0"/>
              <a:t>: This is used to rename an object existing in the database.</a:t>
            </a:r>
          </a:p>
          <a:p>
            <a:pPr algn="just"/>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SQL CREATE TABLE Statement</a:t>
            </a:r>
            <a:endParaRPr lang="en-US" dirty="0"/>
          </a:p>
        </p:txBody>
      </p:sp>
      <p:sp>
        <p:nvSpPr>
          <p:cNvPr id="3" name="Content Placeholder 2"/>
          <p:cNvSpPr>
            <a:spLocks noGrp="1"/>
          </p:cNvSpPr>
          <p:nvPr>
            <p:ph idx="1"/>
          </p:nvPr>
        </p:nvSpPr>
        <p:spPr/>
        <p:txBody>
          <a:bodyPr/>
          <a:lstStyle/>
          <a:p>
            <a:r>
              <a:rPr lang="en-US" dirty="0"/>
              <a:t>Syntax</a:t>
            </a:r>
          </a:p>
          <a:p>
            <a:pPr>
              <a:buNone/>
            </a:pPr>
            <a:r>
              <a:rPr lang="en-US" dirty="0"/>
              <a:t>CREATE TABLE </a:t>
            </a:r>
            <a:r>
              <a:rPr lang="en-US" i="1" dirty="0" err="1"/>
              <a:t>table_name</a:t>
            </a:r>
            <a:r>
              <a:rPr lang="en-US" i="1" dirty="0"/>
              <a:t> </a:t>
            </a:r>
            <a:r>
              <a:rPr lang="en-US" dirty="0"/>
              <a:t>(</a:t>
            </a:r>
            <a:br>
              <a:rPr lang="en-US" dirty="0"/>
            </a:br>
            <a:r>
              <a:rPr lang="en-US" i="1" dirty="0"/>
              <a:t>    column1 </a:t>
            </a:r>
            <a:r>
              <a:rPr lang="en-US" i="1" dirty="0" err="1"/>
              <a:t>datatype</a:t>
            </a:r>
            <a:r>
              <a:rPr lang="en-US" dirty="0"/>
              <a:t>,</a:t>
            </a:r>
            <a:br>
              <a:rPr lang="en-US" dirty="0"/>
            </a:br>
            <a:r>
              <a:rPr lang="en-US" i="1" dirty="0"/>
              <a:t>    column2 </a:t>
            </a:r>
            <a:r>
              <a:rPr lang="en-US" i="1" dirty="0" err="1"/>
              <a:t>datatype</a:t>
            </a:r>
            <a:r>
              <a:rPr lang="en-US" dirty="0"/>
              <a:t>,</a:t>
            </a:r>
            <a:br>
              <a:rPr lang="en-US" dirty="0"/>
            </a:br>
            <a:r>
              <a:rPr lang="en-US" i="1" dirty="0"/>
              <a:t>    column3 </a:t>
            </a:r>
            <a:r>
              <a:rPr lang="en-US" i="1" dirty="0" err="1"/>
              <a:t>datatype</a:t>
            </a:r>
            <a:r>
              <a:rPr lang="en-US" dirty="0"/>
              <a:t>,</a:t>
            </a:r>
            <a:br>
              <a:rPr lang="en-US" dirty="0"/>
            </a:br>
            <a:r>
              <a:rPr lang="en-US" dirty="0"/>
              <a:t>   ....</a:t>
            </a:r>
            <a:br>
              <a:rPr lang="en-US" dirty="0"/>
            </a:br>
            <a:r>
              <a:rPr lang="en-US"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SQL CREATE TABLE Example</a:t>
            </a:r>
            <a:br>
              <a:rPr lang="en-US" dirty="0"/>
            </a:br>
            <a:endParaRPr lang="en-US" dirty="0"/>
          </a:p>
        </p:txBody>
      </p:sp>
      <p:sp>
        <p:nvSpPr>
          <p:cNvPr id="3" name="Content Placeholder 2"/>
          <p:cNvSpPr>
            <a:spLocks noGrp="1"/>
          </p:cNvSpPr>
          <p:nvPr>
            <p:ph idx="1"/>
          </p:nvPr>
        </p:nvSpPr>
        <p:spPr>
          <a:xfrm>
            <a:off x="457200" y="838200"/>
            <a:ext cx="8229600" cy="5287963"/>
          </a:xfrm>
        </p:spPr>
        <p:txBody>
          <a:bodyPr>
            <a:normAutofit fontScale="62500" lnSpcReduction="20000"/>
          </a:bodyPr>
          <a:lstStyle/>
          <a:p>
            <a:pPr>
              <a:lnSpc>
                <a:spcPct val="170000"/>
              </a:lnSpc>
              <a:buNone/>
            </a:pPr>
            <a:r>
              <a:rPr lang="en-US" sz="2900" b="1" dirty="0"/>
              <a:t>CREATE TABLE Persons (</a:t>
            </a:r>
            <a:br>
              <a:rPr lang="en-US" sz="2900" b="1" dirty="0"/>
            </a:br>
            <a:r>
              <a:rPr lang="en-US" sz="2900" b="1" dirty="0"/>
              <a:t>    </a:t>
            </a:r>
            <a:r>
              <a:rPr lang="en-US" sz="2900" b="1" dirty="0" err="1"/>
              <a:t>PersonID</a:t>
            </a:r>
            <a:r>
              <a:rPr lang="en-US" sz="2900" b="1" dirty="0"/>
              <a:t> </a:t>
            </a:r>
            <a:r>
              <a:rPr lang="en-US" sz="2900" b="1" dirty="0" err="1"/>
              <a:t>int</a:t>
            </a:r>
            <a:r>
              <a:rPr lang="en-US" sz="2900" b="1" dirty="0"/>
              <a:t>,</a:t>
            </a:r>
            <a:br>
              <a:rPr lang="en-US" sz="2900" b="1" dirty="0"/>
            </a:br>
            <a:r>
              <a:rPr lang="en-US" sz="2900" b="1" dirty="0"/>
              <a:t>    </a:t>
            </a:r>
            <a:r>
              <a:rPr lang="en-US" sz="2900" b="1" dirty="0" err="1"/>
              <a:t>LastName</a:t>
            </a:r>
            <a:r>
              <a:rPr lang="en-US" sz="2900" b="1" dirty="0"/>
              <a:t> </a:t>
            </a:r>
            <a:r>
              <a:rPr lang="en-US" sz="2900" b="1" dirty="0" err="1"/>
              <a:t>varchar</a:t>
            </a:r>
            <a:r>
              <a:rPr lang="en-US" sz="2900" b="1" dirty="0"/>
              <a:t>(255),</a:t>
            </a:r>
            <a:br>
              <a:rPr lang="en-US" sz="2900" b="1" dirty="0"/>
            </a:br>
            <a:r>
              <a:rPr lang="en-US" sz="2900" b="1" dirty="0"/>
              <a:t>    </a:t>
            </a:r>
            <a:r>
              <a:rPr lang="en-US" sz="2900" b="1" dirty="0" err="1"/>
              <a:t>FirstName</a:t>
            </a:r>
            <a:r>
              <a:rPr lang="en-US" sz="2900" b="1" dirty="0"/>
              <a:t> </a:t>
            </a:r>
            <a:r>
              <a:rPr lang="en-US" sz="2900" b="1" dirty="0" err="1"/>
              <a:t>varchar</a:t>
            </a:r>
            <a:r>
              <a:rPr lang="en-US" sz="2900" b="1" dirty="0"/>
              <a:t>(255),</a:t>
            </a:r>
            <a:br>
              <a:rPr lang="en-US" sz="2900" b="1" dirty="0"/>
            </a:br>
            <a:r>
              <a:rPr lang="en-US" sz="2900" b="1" dirty="0"/>
              <a:t>    Address </a:t>
            </a:r>
            <a:r>
              <a:rPr lang="en-US" sz="2900" b="1" dirty="0" err="1"/>
              <a:t>varchar</a:t>
            </a:r>
            <a:r>
              <a:rPr lang="en-US" sz="2900" b="1" dirty="0"/>
              <a:t>(255),</a:t>
            </a:r>
            <a:br>
              <a:rPr lang="en-US" sz="2900" b="1" dirty="0"/>
            </a:br>
            <a:r>
              <a:rPr lang="en-US" sz="2900" b="1" dirty="0"/>
              <a:t>    City </a:t>
            </a:r>
            <a:r>
              <a:rPr lang="en-US" sz="2900" b="1" dirty="0" err="1"/>
              <a:t>varchar</a:t>
            </a:r>
            <a:r>
              <a:rPr lang="en-US" sz="2900" b="1" dirty="0"/>
              <a:t>(255)</a:t>
            </a:r>
            <a:br>
              <a:rPr lang="en-US" sz="2900" b="1" dirty="0"/>
            </a:br>
            <a:r>
              <a:rPr lang="en-US" sz="2900" b="1" dirty="0"/>
              <a:t>);</a:t>
            </a:r>
          </a:p>
          <a:p>
            <a:pPr>
              <a:buNone/>
            </a:pPr>
            <a:endParaRPr lang="en-US" dirty="0"/>
          </a:p>
          <a:p>
            <a:pPr>
              <a:lnSpc>
                <a:spcPct val="170000"/>
              </a:lnSpc>
            </a:pPr>
            <a:r>
              <a:rPr lang="en-US" sz="2400" dirty="0"/>
              <a:t>The </a:t>
            </a:r>
            <a:r>
              <a:rPr lang="en-US" sz="2400" dirty="0" err="1"/>
              <a:t>PersonID</a:t>
            </a:r>
            <a:r>
              <a:rPr lang="en-US" sz="2400" dirty="0"/>
              <a:t> column is of type </a:t>
            </a:r>
            <a:r>
              <a:rPr lang="en-US" sz="2400" dirty="0" err="1"/>
              <a:t>int</a:t>
            </a:r>
            <a:r>
              <a:rPr lang="en-US" sz="2400" dirty="0"/>
              <a:t> and will hold an integer.</a:t>
            </a:r>
          </a:p>
          <a:p>
            <a:pPr>
              <a:lnSpc>
                <a:spcPct val="170000"/>
              </a:lnSpc>
            </a:pPr>
            <a:r>
              <a:rPr lang="en-US" sz="2400" dirty="0"/>
              <a:t>The </a:t>
            </a:r>
            <a:r>
              <a:rPr lang="en-US" sz="2400" dirty="0" err="1"/>
              <a:t>LastName</a:t>
            </a:r>
            <a:r>
              <a:rPr lang="en-US" sz="2400" dirty="0"/>
              <a:t>, </a:t>
            </a:r>
            <a:r>
              <a:rPr lang="en-US" sz="2400" dirty="0" err="1"/>
              <a:t>FirstName</a:t>
            </a:r>
            <a:r>
              <a:rPr lang="en-US" sz="2400" dirty="0"/>
              <a:t>, Address, and City columns are of type </a:t>
            </a:r>
            <a:r>
              <a:rPr lang="en-US" sz="2400" dirty="0" err="1"/>
              <a:t>varchar</a:t>
            </a:r>
            <a:r>
              <a:rPr lang="en-US" sz="2400" dirty="0"/>
              <a:t> and will hold characters, and the maximum length for these fields is 255 characters.</a:t>
            </a:r>
          </a:p>
          <a:p>
            <a:pPr>
              <a:lnSpc>
                <a:spcPct val="170000"/>
              </a:lnSpc>
            </a:pPr>
            <a:r>
              <a:rPr lang="en-US" sz="2400" dirty="0"/>
              <a:t>The empty "Persons" table will now look like this:</a:t>
            </a:r>
          </a:p>
          <a:p>
            <a:pPr>
              <a:buNone/>
            </a:pPr>
            <a:endParaRPr lang="en-US" sz="2400" dirty="0"/>
          </a:p>
        </p:txBody>
      </p:sp>
      <p:pic>
        <p:nvPicPr>
          <p:cNvPr id="1027" name="Picture 3"/>
          <p:cNvPicPr>
            <a:picLocks noChangeAspect="1" noChangeArrowheads="1"/>
          </p:cNvPicPr>
          <p:nvPr/>
        </p:nvPicPr>
        <p:blipFill>
          <a:blip r:embed="rId2" cstate="print"/>
          <a:srcRect/>
          <a:stretch>
            <a:fillRect/>
          </a:stretch>
        </p:blipFill>
        <p:spPr bwMode="auto">
          <a:xfrm>
            <a:off x="457201" y="5791201"/>
            <a:ext cx="8229600" cy="7620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Create Table Using Another Table</a:t>
            </a:r>
          </a:p>
        </p:txBody>
      </p:sp>
      <p:sp>
        <p:nvSpPr>
          <p:cNvPr id="3" name="Content Placeholder 2"/>
          <p:cNvSpPr>
            <a:spLocks noGrp="1"/>
          </p:cNvSpPr>
          <p:nvPr>
            <p:ph idx="1"/>
          </p:nvPr>
        </p:nvSpPr>
        <p:spPr>
          <a:xfrm>
            <a:off x="457200" y="1295400"/>
            <a:ext cx="8229600" cy="5257800"/>
          </a:xfrm>
        </p:spPr>
        <p:txBody>
          <a:bodyPr>
            <a:normAutofit/>
          </a:bodyPr>
          <a:lstStyle/>
          <a:p>
            <a:pPr>
              <a:lnSpc>
                <a:spcPct val="150000"/>
              </a:lnSpc>
            </a:pPr>
            <a:r>
              <a:rPr lang="en-US" sz="2400" dirty="0">
                <a:solidFill>
                  <a:srgbClr val="FF0000"/>
                </a:solidFill>
              </a:rPr>
              <a:t>Syntax</a:t>
            </a:r>
          </a:p>
          <a:p>
            <a:pPr>
              <a:lnSpc>
                <a:spcPct val="150000"/>
              </a:lnSpc>
              <a:buNone/>
            </a:pPr>
            <a:r>
              <a:rPr lang="en-US" sz="2400" b="1" dirty="0"/>
              <a:t>CREATE TABLE </a:t>
            </a:r>
            <a:r>
              <a:rPr lang="en-US" sz="2400" b="1" i="1" dirty="0" err="1"/>
              <a:t>new_table_name</a:t>
            </a:r>
            <a:r>
              <a:rPr lang="en-US" sz="2400" b="1" dirty="0"/>
              <a:t> AS</a:t>
            </a:r>
            <a:br>
              <a:rPr lang="en-US" sz="2400" b="1" dirty="0"/>
            </a:br>
            <a:r>
              <a:rPr lang="en-US" sz="2400" b="1" dirty="0"/>
              <a:t>    SELECT </a:t>
            </a:r>
            <a:r>
              <a:rPr lang="en-US" sz="2400" b="1" i="1" dirty="0"/>
              <a:t>column1, column2,...</a:t>
            </a:r>
            <a:br>
              <a:rPr lang="en-US" sz="2400" b="1" dirty="0"/>
            </a:br>
            <a:r>
              <a:rPr lang="en-US" sz="2400" b="1" dirty="0"/>
              <a:t>    FROM </a:t>
            </a:r>
            <a:r>
              <a:rPr lang="en-US" sz="2400" b="1" i="1" dirty="0" err="1"/>
              <a:t>existing_table_name</a:t>
            </a:r>
            <a:br>
              <a:rPr lang="en-US" sz="2400" b="1" dirty="0"/>
            </a:br>
            <a:r>
              <a:rPr lang="en-US" sz="2400" b="1" dirty="0"/>
              <a:t>    WHERE ....;</a:t>
            </a:r>
          </a:p>
          <a:p>
            <a:pPr>
              <a:lnSpc>
                <a:spcPct val="150000"/>
              </a:lnSpc>
            </a:pPr>
            <a:r>
              <a:rPr lang="en-US" sz="2400" dirty="0">
                <a:solidFill>
                  <a:srgbClr val="FF0000"/>
                </a:solidFill>
              </a:rPr>
              <a:t>Example</a:t>
            </a:r>
          </a:p>
          <a:p>
            <a:pPr>
              <a:lnSpc>
                <a:spcPct val="150000"/>
              </a:lnSpc>
              <a:buNone/>
            </a:pPr>
            <a:r>
              <a:rPr lang="en-US" sz="2400" b="1" dirty="0"/>
              <a:t>CREATE TABLE </a:t>
            </a:r>
            <a:r>
              <a:rPr lang="en-US" sz="2400" b="1" dirty="0" err="1"/>
              <a:t>TestTable</a:t>
            </a:r>
            <a:r>
              <a:rPr lang="en-US" sz="2400" b="1" dirty="0"/>
              <a:t> AS</a:t>
            </a:r>
            <a:br>
              <a:rPr lang="en-US" sz="2400" b="1" dirty="0"/>
            </a:br>
            <a:r>
              <a:rPr lang="en-US" sz="2400" b="1" dirty="0"/>
              <a:t>SELECT </a:t>
            </a:r>
            <a:r>
              <a:rPr lang="en-US" sz="2400" b="1" dirty="0" err="1"/>
              <a:t>customername</a:t>
            </a:r>
            <a:r>
              <a:rPr lang="en-US" sz="2400" b="1" dirty="0"/>
              <a:t>, </a:t>
            </a:r>
            <a:r>
              <a:rPr lang="en-US" sz="2400" b="1" dirty="0" err="1"/>
              <a:t>contactname</a:t>
            </a:r>
            <a:br>
              <a:rPr lang="en-US" sz="2400" b="1" dirty="0"/>
            </a:br>
            <a:r>
              <a:rPr lang="en-US" sz="2400" b="1" dirty="0"/>
              <a:t>FROM customers;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SQL DROP TABLE Statement</a:t>
            </a:r>
          </a:p>
        </p:txBody>
      </p:sp>
      <p:sp>
        <p:nvSpPr>
          <p:cNvPr id="3" name="Content Placeholder 2"/>
          <p:cNvSpPr>
            <a:spLocks noGrp="1"/>
          </p:cNvSpPr>
          <p:nvPr>
            <p:ph idx="1"/>
          </p:nvPr>
        </p:nvSpPr>
        <p:spPr>
          <a:xfrm>
            <a:off x="457200" y="1066800"/>
            <a:ext cx="8229600" cy="5059363"/>
          </a:xfrm>
        </p:spPr>
        <p:txBody>
          <a:bodyPr>
            <a:normAutofit/>
          </a:bodyPr>
          <a:lstStyle/>
          <a:p>
            <a:pPr>
              <a:lnSpc>
                <a:spcPct val="150000"/>
              </a:lnSpc>
            </a:pPr>
            <a:r>
              <a:rPr lang="en-US" dirty="0"/>
              <a:t>The DROP TABLE statement is used to drop an existing table in a database.</a:t>
            </a:r>
          </a:p>
          <a:p>
            <a:pPr>
              <a:lnSpc>
                <a:spcPct val="150000"/>
              </a:lnSpc>
              <a:buNone/>
            </a:pPr>
            <a:r>
              <a:rPr lang="en-US" b="1" dirty="0"/>
              <a:t>    DROP TABLE </a:t>
            </a:r>
            <a:r>
              <a:rPr lang="en-US" b="1" i="1" dirty="0" err="1"/>
              <a:t>table_name</a:t>
            </a:r>
            <a:r>
              <a:rPr lang="en-US" b="1" dirty="0"/>
              <a:t>;</a:t>
            </a:r>
          </a:p>
          <a:p>
            <a:pPr>
              <a:lnSpc>
                <a:spcPct val="150000"/>
              </a:lnSpc>
              <a:buNone/>
            </a:pPr>
            <a:endParaRPr lang="en-US" dirty="0"/>
          </a:p>
          <a:p>
            <a:pPr lvl="1">
              <a:lnSpc>
                <a:spcPct val="150000"/>
              </a:lnSpc>
              <a:buNone/>
            </a:pPr>
            <a:r>
              <a:rPr lang="en-US" dirty="0"/>
              <a:t>SQL DROP TABLE Example-</a:t>
            </a:r>
          </a:p>
          <a:p>
            <a:pPr lvl="1">
              <a:lnSpc>
                <a:spcPct val="150000"/>
              </a:lnSpc>
              <a:buNone/>
            </a:pPr>
            <a:r>
              <a:rPr lang="en-US" b="1" dirty="0"/>
              <a:t>DROP TABLE Shippers;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SQL TRUNCATE TABLE</a:t>
            </a:r>
          </a:p>
        </p:txBody>
      </p:sp>
      <p:sp>
        <p:nvSpPr>
          <p:cNvPr id="3" name="Content Placeholder 2"/>
          <p:cNvSpPr>
            <a:spLocks noGrp="1"/>
          </p:cNvSpPr>
          <p:nvPr>
            <p:ph idx="1"/>
          </p:nvPr>
        </p:nvSpPr>
        <p:spPr/>
        <p:txBody>
          <a:bodyPr/>
          <a:lstStyle/>
          <a:p>
            <a:pPr algn="just"/>
            <a:r>
              <a:rPr lang="en-US" dirty="0"/>
              <a:t>The TRUNCATE TABLE statement is used to delete the data inside a table, but not the table itself. </a:t>
            </a:r>
          </a:p>
          <a:p>
            <a:pPr algn="just">
              <a:buNone/>
            </a:pPr>
            <a:endParaRPr lang="en-US" dirty="0"/>
          </a:p>
          <a:p>
            <a:pPr lvl="1" algn="just">
              <a:buNone/>
            </a:pPr>
            <a:r>
              <a:rPr lang="en-US" dirty="0"/>
              <a:t>Syntax:</a:t>
            </a:r>
          </a:p>
          <a:p>
            <a:pPr lvl="1" algn="just">
              <a:buNone/>
            </a:pPr>
            <a:r>
              <a:rPr lang="en-US" b="1" dirty="0"/>
              <a:t>TRUNCATE TABLE </a:t>
            </a:r>
            <a:r>
              <a:rPr lang="en-US" b="1" i="1" dirty="0" err="1"/>
              <a:t>table_name</a:t>
            </a:r>
            <a:r>
              <a:rPr lang="en-US" b="1"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sz="3200" b="1" dirty="0"/>
              <a:t>SQL ALTER TABLE Statement</a:t>
            </a:r>
          </a:p>
        </p:txBody>
      </p:sp>
      <p:sp>
        <p:nvSpPr>
          <p:cNvPr id="3" name="Content Placeholder 2"/>
          <p:cNvSpPr>
            <a:spLocks noGrp="1"/>
          </p:cNvSpPr>
          <p:nvPr>
            <p:ph idx="1"/>
          </p:nvPr>
        </p:nvSpPr>
        <p:spPr/>
        <p:txBody>
          <a:bodyPr/>
          <a:lstStyle/>
          <a:p>
            <a:pPr>
              <a:lnSpc>
                <a:spcPct val="150000"/>
              </a:lnSpc>
            </a:pPr>
            <a:r>
              <a:rPr lang="en-US" dirty="0"/>
              <a:t>The ALTER TABLE statement is used to add, delete, or modify columns in an existing table.</a:t>
            </a:r>
          </a:p>
          <a:p>
            <a:pPr>
              <a:lnSpc>
                <a:spcPct val="150000"/>
              </a:lnSpc>
            </a:pPr>
            <a:r>
              <a:rPr lang="en-US" dirty="0"/>
              <a:t>The ALTER TABLE statement is also used to add and drop various constraints on an existing table.</a:t>
            </a:r>
          </a:p>
          <a:p>
            <a:pPr>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200" b="1" dirty="0"/>
              <a:t>ALTER TABLE - ADD Column</a:t>
            </a:r>
          </a:p>
        </p:txBody>
      </p:sp>
      <p:sp>
        <p:nvSpPr>
          <p:cNvPr id="3" name="Content Placeholder 2"/>
          <p:cNvSpPr>
            <a:spLocks noGrp="1"/>
          </p:cNvSpPr>
          <p:nvPr>
            <p:ph idx="1"/>
          </p:nvPr>
        </p:nvSpPr>
        <p:spPr>
          <a:xfrm>
            <a:off x="457200" y="1143000"/>
            <a:ext cx="8229600" cy="5211763"/>
          </a:xfrm>
        </p:spPr>
        <p:txBody>
          <a:bodyPr>
            <a:normAutofit fontScale="77500" lnSpcReduction="20000"/>
          </a:bodyPr>
          <a:lstStyle/>
          <a:p>
            <a:pPr>
              <a:lnSpc>
                <a:spcPct val="150000"/>
              </a:lnSpc>
            </a:pPr>
            <a:r>
              <a:rPr lang="en-US" sz="2800" dirty="0"/>
              <a:t>To add a column in a table, use the following syntax:</a:t>
            </a:r>
          </a:p>
          <a:p>
            <a:pPr>
              <a:lnSpc>
                <a:spcPct val="150000"/>
              </a:lnSpc>
              <a:buNone/>
            </a:pPr>
            <a:r>
              <a:rPr lang="en-US" b="1" dirty="0"/>
              <a:t>     ALTER TABLE </a:t>
            </a:r>
            <a:r>
              <a:rPr lang="en-US" b="1" i="1" dirty="0" err="1"/>
              <a:t>table_name</a:t>
            </a:r>
            <a:br>
              <a:rPr lang="en-US" b="1" dirty="0"/>
            </a:br>
            <a:r>
              <a:rPr lang="en-US" b="1" dirty="0"/>
              <a:t>ADD </a:t>
            </a:r>
            <a:r>
              <a:rPr lang="en-US" b="1" i="1" dirty="0" err="1"/>
              <a:t>column_name</a:t>
            </a:r>
            <a:r>
              <a:rPr lang="en-US" b="1" i="1" dirty="0"/>
              <a:t> </a:t>
            </a:r>
            <a:r>
              <a:rPr lang="en-US" b="1" i="1" dirty="0" err="1"/>
              <a:t>datatype</a:t>
            </a:r>
            <a:r>
              <a:rPr lang="en-US" b="1" dirty="0"/>
              <a:t>;</a:t>
            </a:r>
          </a:p>
          <a:p>
            <a:pPr>
              <a:lnSpc>
                <a:spcPct val="150000"/>
              </a:lnSpc>
              <a:buNone/>
            </a:pPr>
            <a:endParaRPr lang="en-US" b="1" dirty="0"/>
          </a:p>
          <a:p>
            <a:pPr>
              <a:lnSpc>
                <a:spcPct val="150000"/>
              </a:lnSpc>
            </a:pPr>
            <a:r>
              <a:rPr lang="en-US" dirty="0"/>
              <a:t>Example -</a:t>
            </a:r>
          </a:p>
          <a:p>
            <a:pPr>
              <a:lnSpc>
                <a:spcPct val="150000"/>
              </a:lnSpc>
              <a:buNone/>
            </a:pPr>
            <a:r>
              <a:rPr lang="en-US" dirty="0"/>
              <a:t>The following SQL adds an "Email" column to the "Customers" table:</a:t>
            </a:r>
          </a:p>
          <a:p>
            <a:pPr>
              <a:lnSpc>
                <a:spcPct val="150000"/>
              </a:lnSpc>
              <a:buNone/>
            </a:pPr>
            <a:r>
              <a:rPr lang="en-US" b="1" dirty="0"/>
              <a:t>    ALTER TABLE Customers</a:t>
            </a:r>
            <a:br>
              <a:rPr lang="en-US" b="1" dirty="0"/>
            </a:br>
            <a:r>
              <a:rPr lang="en-US" b="1" dirty="0"/>
              <a:t>ADD Email </a:t>
            </a:r>
            <a:r>
              <a:rPr lang="en-US" b="1" dirty="0" err="1"/>
              <a:t>varchar</a:t>
            </a:r>
            <a:r>
              <a:rPr lang="en-US" b="1" dirty="0"/>
              <a:t>(255);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3200" b="1" dirty="0"/>
              <a:t>ALTER TABLE - DROP COLUMN</a:t>
            </a:r>
          </a:p>
        </p:txBody>
      </p:sp>
      <p:sp>
        <p:nvSpPr>
          <p:cNvPr id="3" name="Content Placeholder 2"/>
          <p:cNvSpPr>
            <a:spLocks noGrp="1"/>
          </p:cNvSpPr>
          <p:nvPr>
            <p:ph idx="1"/>
          </p:nvPr>
        </p:nvSpPr>
        <p:spPr>
          <a:xfrm>
            <a:off x="457200" y="1066800"/>
            <a:ext cx="8229600" cy="5486400"/>
          </a:xfrm>
        </p:spPr>
        <p:txBody>
          <a:bodyPr>
            <a:normAutofit/>
          </a:bodyPr>
          <a:lstStyle/>
          <a:p>
            <a:pPr>
              <a:lnSpc>
                <a:spcPct val="150000"/>
              </a:lnSpc>
            </a:pPr>
            <a:r>
              <a:rPr lang="en-US" sz="2800" dirty="0"/>
              <a:t>To delete a column in a table, use the following syntax (notice that some database systems don't allow deleting a column):</a:t>
            </a:r>
          </a:p>
          <a:p>
            <a:pPr>
              <a:lnSpc>
                <a:spcPct val="150000"/>
              </a:lnSpc>
              <a:buNone/>
            </a:pPr>
            <a:r>
              <a:rPr lang="en-US" sz="2800" b="1" dirty="0"/>
              <a:t>    ALTER TABLE </a:t>
            </a:r>
            <a:r>
              <a:rPr lang="en-US" sz="2800" b="1" i="1" dirty="0" err="1"/>
              <a:t>table_name</a:t>
            </a:r>
            <a:br>
              <a:rPr lang="en-US" sz="2800" b="1" dirty="0"/>
            </a:br>
            <a:r>
              <a:rPr lang="en-US" sz="2800" b="1" dirty="0"/>
              <a:t>DROP COLUMN </a:t>
            </a:r>
            <a:r>
              <a:rPr lang="en-US" sz="2800" b="1" i="1" dirty="0" err="1"/>
              <a:t>column_name</a:t>
            </a:r>
            <a:r>
              <a:rPr lang="en-US" sz="2800" b="1" dirty="0"/>
              <a:t>;</a:t>
            </a:r>
          </a:p>
          <a:p>
            <a:pPr>
              <a:lnSpc>
                <a:spcPct val="150000"/>
              </a:lnSpc>
            </a:pPr>
            <a:r>
              <a:rPr lang="en-US" sz="2800" dirty="0"/>
              <a:t>The following SQL deletes the "Email" column from the "Customers" table:</a:t>
            </a:r>
          </a:p>
          <a:p>
            <a:pPr>
              <a:lnSpc>
                <a:spcPct val="150000"/>
              </a:lnSpc>
              <a:buNone/>
            </a:pPr>
            <a:r>
              <a:rPr lang="en-US" sz="2800" b="1" dirty="0"/>
              <a:t>    ALTER TABLE Customers DROP COLUMN Email;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5486400"/>
          </a:xfrm>
        </p:spPr>
        <p:txBody>
          <a:bodyPr>
            <a:normAutofit lnSpcReduction="10000"/>
          </a:bodyPr>
          <a:lstStyle/>
          <a:p>
            <a:pPr>
              <a:lnSpc>
                <a:spcPct val="150000"/>
              </a:lnSpc>
            </a:pPr>
            <a:r>
              <a:rPr lang="en-US" sz="2800" dirty="0"/>
              <a:t>ALTER TABLE - RENAME COLUMN   </a:t>
            </a:r>
          </a:p>
          <a:p>
            <a:pPr>
              <a:lnSpc>
                <a:spcPct val="150000"/>
              </a:lnSpc>
              <a:buNone/>
            </a:pPr>
            <a:r>
              <a:rPr lang="en-US" sz="2800" dirty="0"/>
              <a:t>    </a:t>
            </a:r>
            <a:r>
              <a:rPr lang="en-US" sz="2800" b="1" dirty="0"/>
              <a:t>ALTER TABLE </a:t>
            </a:r>
            <a:r>
              <a:rPr lang="en-US" sz="2800" b="1" i="1" dirty="0" err="1"/>
              <a:t>table_name</a:t>
            </a:r>
            <a:br>
              <a:rPr lang="en-US" sz="2800" b="1" dirty="0"/>
            </a:br>
            <a:r>
              <a:rPr lang="en-US" sz="2800" b="1" dirty="0"/>
              <a:t>RENAME COLUMN </a:t>
            </a:r>
            <a:r>
              <a:rPr lang="en-US" sz="2800" b="1" i="1" dirty="0" err="1"/>
              <a:t>old_name</a:t>
            </a:r>
            <a:r>
              <a:rPr lang="en-US" sz="2800" b="1" dirty="0"/>
              <a:t> to </a:t>
            </a:r>
            <a:r>
              <a:rPr lang="en-US" sz="2800" b="1" i="1" dirty="0" err="1"/>
              <a:t>new_name</a:t>
            </a:r>
            <a:r>
              <a:rPr lang="en-US" sz="2800" b="1" dirty="0"/>
              <a:t>;</a:t>
            </a:r>
          </a:p>
          <a:p>
            <a:pPr>
              <a:lnSpc>
                <a:spcPct val="150000"/>
              </a:lnSpc>
            </a:pPr>
            <a:r>
              <a:rPr lang="en-US" sz="2800" dirty="0"/>
              <a:t>ALTER TABLE - ALTER/MODIFY DATATYPE</a:t>
            </a:r>
          </a:p>
          <a:p>
            <a:pPr>
              <a:lnSpc>
                <a:spcPct val="150000"/>
              </a:lnSpc>
              <a:buNone/>
            </a:pPr>
            <a:r>
              <a:rPr lang="en-US" sz="2800" dirty="0"/>
              <a:t>    </a:t>
            </a:r>
            <a:r>
              <a:rPr lang="en-US" sz="2800" b="1" dirty="0"/>
              <a:t>ALTER TABLE </a:t>
            </a:r>
            <a:r>
              <a:rPr lang="en-US" sz="2800" b="1" i="1" dirty="0" err="1"/>
              <a:t>table_name</a:t>
            </a:r>
            <a:br>
              <a:rPr lang="en-US" sz="2800" b="1" dirty="0"/>
            </a:br>
            <a:r>
              <a:rPr lang="en-US" sz="2800" b="1" dirty="0"/>
              <a:t>ALTER COLUMN </a:t>
            </a:r>
            <a:r>
              <a:rPr lang="en-US" sz="2800" b="1" i="1" dirty="0" err="1"/>
              <a:t>column_name</a:t>
            </a:r>
            <a:r>
              <a:rPr lang="en-US" sz="2800" b="1" i="1" dirty="0"/>
              <a:t> </a:t>
            </a:r>
            <a:r>
              <a:rPr lang="en-US" sz="2800" b="1" i="1" dirty="0" err="1"/>
              <a:t>datatype</a:t>
            </a:r>
            <a:r>
              <a:rPr lang="en-US" sz="2800" b="1" dirty="0"/>
              <a:t>;</a:t>
            </a:r>
          </a:p>
          <a:p>
            <a:pPr>
              <a:lnSpc>
                <a:spcPct val="150000"/>
              </a:lnSpc>
            </a:pPr>
            <a:r>
              <a:rPr lang="en-US" sz="2800" dirty="0"/>
              <a:t>ALTER TABLE </a:t>
            </a:r>
            <a:r>
              <a:rPr lang="en-US" sz="2800" i="1" dirty="0" err="1"/>
              <a:t>table_name</a:t>
            </a:r>
            <a:br>
              <a:rPr lang="en-US" sz="2800" dirty="0"/>
            </a:br>
            <a:r>
              <a:rPr lang="en-US" sz="2800" dirty="0"/>
              <a:t>MODIFY COLUMN </a:t>
            </a:r>
            <a:r>
              <a:rPr lang="en-US" sz="2800" i="1" dirty="0" err="1"/>
              <a:t>column_name</a:t>
            </a:r>
            <a:r>
              <a:rPr lang="en-US" sz="2800" i="1" dirty="0"/>
              <a:t> </a:t>
            </a:r>
            <a:r>
              <a:rPr lang="en-US" sz="2800" i="1" dirty="0" err="1"/>
              <a:t>datatype</a:t>
            </a:r>
            <a:r>
              <a:rPr lang="en-US" sz="2800" dirty="0"/>
              <a:t>;</a:t>
            </a:r>
          </a:p>
          <a:p>
            <a:pPr>
              <a:lnSpc>
                <a:spcPct val="150000"/>
              </a:lnSpc>
            </a:pPr>
            <a:endParaRPr lang="en-US" sz="2800" dirty="0"/>
          </a:p>
          <a:p>
            <a:endParaRPr lang="en-US" dirty="0"/>
          </a:p>
          <a:p>
            <a:endParaRPr lang="en-US" dirty="0"/>
          </a:p>
        </p:txBody>
      </p:sp>
      <p:sp>
        <p:nvSpPr>
          <p:cNvPr id="4" name="Title 1"/>
          <p:cNvSpPr>
            <a:spLocks noGrp="1"/>
          </p:cNvSpPr>
          <p:nvPr>
            <p:ph type="title"/>
          </p:nvPr>
        </p:nvSpPr>
        <p:spPr>
          <a:xfrm>
            <a:off x="457200" y="274638"/>
            <a:ext cx="8229600" cy="563562"/>
          </a:xfrm>
        </p:spPr>
        <p:txBody>
          <a:bodyPr>
            <a:noAutofit/>
          </a:bodyPr>
          <a:lstStyle/>
          <a:p>
            <a:r>
              <a:rPr lang="en-US" sz="2400" b="1" dirty="0"/>
              <a:t>ALTER TABLE -  RENAME COLUMN AND </a:t>
            </a:r>
            <a:br>
              <a:rPr lang="en-US" sz="2400" b="1" dirty="0"/>
            </a:br>
            <a:r>
              <a:rPr lang="en-US" sz="2400" b="1" dirty="0"/>
              <a:t>                                   MODIFY COLUMN DATATYPE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304800"/>
          </a:xfrm>
        </p:spPr>
        <p:txBody>
          <a:bodyPr>
            <a:noAutofit/>
          </a:bodyPr>
          <a:lstStyle/>
          <a:p>
            <a:r>
              <a:rPr lang="en-US" sz="2400" b="1" dirty="0"/>
              <a:t>SQL Comments</a:t>
            </a:r>
          </a:p>
        </p:txBody>
      </p:sp>
      <p:sp>
        <p:nvSpPr>
          <p:cNvPr id="3" name="Content Placeholder 2"/>
          <p:cNvSpPr>
            <a:spLocks noGrp="1"/>
          </p:cNvSpPr>
          <p:nvPr>
            <p:ph idx="1"/>
          </p:nvPr>
        </p:nvSpPr>
        <p:spPr>
          <a:xfrm>
            <a:off x="457200" y="609600"/>
            <a:ext cx="8229600" cy="5867400"/>
          </a:xfrm>
        </p:spPr>
        <p:txBody>
          <a:bodyPr>
            <a:noAutofit/>
          </a:bodyPr>
          <a:lstStyle/>
          <a:p>
            <a:pPr>
              <a:lnSpc>
                <a:spcPct val="150000"/>
              </a:lnSpc>
            </a:pPr>
            <a:r>
              <a:rPr lang="en-US" sz="2000" dirty="0"/>
              <a:t>Comments are used to explain sections of SQL statements, or to prevent execution of SQL statements.</a:t>
            </a:r>
          </a:p>
          <a:p>
            <a:pPr>
              <a:lnSpc>
                <a:spcPct val="150000"/>
              </a:lnSpc>
              <a:buNone/>
            </a:pPr>
            <a:r>
              <a:rPr lang="en-US" sz="2000" b="1" dirty="0"/>
              <a:t>Single Line Comments</a:t>
            </a:r>
          </a:p>
          <a:p>
            <a:pPr>
              <a:lnSpc>
                <a:spcPct val="150000"/>
              </a:lnSpc>
            </a:pPr>
            <a:r>
              <a:rPr lang="en-US" sz="2000" dirty="0"/>
              <a:t>Single line comments start with --</a:t>
            </a:r>
          </a:p>
          <a:p>
            <a:pPr>
              <a:lnSpc>
                <a:spcPct val="150000"/>
              </a:lnSpc>
            </a:pPr>
            <a:r>
              <a:rPr lang="en-US" sz="2000" dirty="0"/>
              <a:t>Any text between -- and the end of the line will be ignored (will not be executed).</a:t>
            </a:r>
          </a:p>
          <a:p>
            <a:pPr>
              <a:lnSpc>
                <a:spcPct val="150000"/>
              </a:lnSpc>
            </a:pPr>
            <a:r>
              <a:rPr lang="en-US" sz="2000" dirty="0"/>
              <a:t>The following example uses a single-line comment as an explanation:</a:t>
            </a:r>
          </a:p>
          <a:p>
            <a:pPr>
              <a:lnSpc>
                <a:spcPct val="150000"/>
              </a:lnSpc>
              <a:buNone/>
            </a:pPr>
            <a:r>
              <a:rPr lang="en-US" sz="2000" b="1" dirty="0"/>
              <a:t>--Select all:</a:t>
            </a:r>
            <a:br>
              <a:rPr lang="en-US" sz="2000" b="1" dirty="0"/>
            </a:br>
            <a:r>
              <a:rPr lang="en-US" sz="2000" b="1" dirty="0"/>
              <a:t>SELECT * FROM Customers;</a:t>
            </a:r>
          </a:p>
          <a:p>
            <a:pPr>
              <a:lnSpc>
                <a:spcPct val="150000"/>
              </a:lnSpc>
              <a:buNone/>
            </a:pPr>
            <a:r>
              <a:rPr lang="en-US" sz="2000" dirty="0"/>
              <a:t>The following example uses a single-line comment to ignore the end of a line:</a:t>
            </a:r>
          </a:p>
          <a:p>
            <a:pPr>
              <a:lnSpc>
                <a:spcPct val="150000"/>
              </a:lnSpc>
              <a:buNone/>
            </a:pPr>
            <a:r>
              <a:rPr lang="en-US" sz="2000" dirty="0"/>
              <a:t>SELECT * FROM Customers -- WHERE City='Berlin‘;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Autofit/>
          </a:bodyPr>
          <a:lstStyle/>
          <a:p>
            <a:r>
              <a:rPr lang="en-US" sz="2800" b="1" dirty="0"/>
              <a:t>DQL (Data Query Language)</a:t>
            </a:r>
            <a:endParaRPr lang="en-US" sz="2800" dirty="0"/>
          </a:p>
        </p:txBody>
      </p:sp>
      <p:sp>
        <p:nvSpPr>
          <p:cNvPr id="3" name="Content Placeholder 2"/>
          <p:cNvSpPr>
            <a:spLocks noGrp="1"/>
          </p:cNvSpPr>
          <p:nvPr>
            <p:ph idx="1"/>
          </p:nvPr>
        </p:nvSpPr>
        <p:spPr>
          <a:xfrm>
            <a:off x="457200" y="762000"/>
            <a:ext cx="8229600" cy="6096000"/>
          </a:xfrm>
        </p:spPr>
        <p:txBody>
          <a:bodyPr>
            <a:normAutofit fontScale="85000" lnSpcReduction="20000"/>
          </a:bodyPr>
          <a:lstStyle/>
          <a:p>
            <a:pPr algn="just" fontAlgn="base">
              <a:lnSpc>
                <a:spcPct val="150000"/>
              </a:lnSpc>
            </a:pPr>
            <a:r>
              <a:rPr lang="en-US" sz="2200" b="1" dirty="0"/>
              <a:t>DQL </a:t>
            </a:r>
            <a:r>
              <a:rPr lang="en-US" sz="2200" dirty="0"/>
              <a:t>statements are used for performing queries on the data within schema objects. </a:t>
            </a:r>
          </a:p>
          <a:p>
            <a:pPr algn="just" fontAlgn="base">
              <a:lnSpc>
                <a:spcPct val="150000"/>
              </a:lnSpc>
            </a:pPr>
            <a:r>
              <a:rPr lang="en-US" sz="2200" dirty="0"/>
              <a:t>The purpose of the DQL Command is to get some schema relation based on the query passed to it. </a:t>
            </a:r>
          </a:p>
          <a:p>
            <a:pPr algn="just" fontAlgn="base">
              <a:lnSpc>
                <a:spcPct val="150000"/>
              </a:lnSpc>
            </a:pPr>
            <a:r>
              <a:rPr lang="en-US" sz="2200" dirty="0"/>
              <a:t>We can define DQL as follows it is a component of SQL statement that allows getting data from the database and imposing order upon it. </a:t>
            </a:r>
          </a:p>
          <a:p>
            <a:pPr algn="just" fontAlgn="base">
              <a:lnSpc>
                <a:spcPct val="150000"/>
              </a:lnSpc>
            </a:pPr>
            <a:r>
              <a:rPr lang="en-US" sz="2200" dirty="0"/>
              <a:t>It includes the SELECT statement. </a:t>
            </a:r>
          </a:p>
          <a:p>
            <a:pPr algn="just" fontAlgn="base">
              <a:lnSpc>
                <a:spcPct val="150000"/>
              </a:lnSpc>
            </a:pPr>
            <a:r>
              <a:rPr lang="en-US" sz="2200" dirty="0"/>
              <a:t>This command allows getting the data out of the database to perform operations with it. </a:t>
            </a:r>
          </a:p>
          <a:p>
            <a:pPr algn="just" fontAlgn="base">
              <a:lnSpc>
                <a:spcPct val="150000"/>
              </a:lnSpc>
            </a:pPr>
            <a:r>
              <a:rPr lang="en-US" sz="2200" dirty="0"/>
              <a:t>When a SELECT is fired against a table or tables the result is compiled into a further temporary table, which is displayed or perhaps received by the program i.e. a front-end.</a:t>
            </a:r>
          </a:p>
          <a:p>
            <a:pPr algn="just" fontAlgn="base">
              <a:lnSpc>
                <a:spcPct val="150000"/>
              </a:lnSpc>
            </a:pPr>
            <a:r>
              <a:rPr lang="en-US" sz="2200" dirty="0"/>
              <a:t>List of DQL: </a:t>
            </a:r>
          </a:p>
          <a:p>
            <a:pPr algn="just" fontAlgn="base">
              <a:lnSpc>
                <a:spcPct val="150000"/>
              </a:lnSpc>
              <a:buFont typeface="Wingdings" pitchFamily="2" charset="2"/>
              <a:buChar char="Ø"/>
            </a:pPr>
            <a:r>
              <a:rPr lang="en-US" sz="2200" b="1" u="sng" dirty="0"/>
              <a:t>SELECT</a:t>
            </a:r>
            <a:r>
              <a:rPr lang="en-US" sz="2200" b="1" dirty="0"/>
              <a:t>: </a:t>
            </a:r>
            <a:r>
              <a:rPr lang="en-US" sz="2200" dirty="0"/>
              <a:t>It is used to retrieve data from the database.</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Autofit/>
          </a:bodyPr>
          <a:lstStyle/>
          <a:p>
            <a:r>
              <a:rPr lang="en-US" sz="2400" b="1" dirty="0"/>
              <a:t>DML (Data Manipulation Language)</a:t>
            </a:r>
            <a:endParaRPr lang="en-US" sz="2400" dirty="0"/>
          </a:p>
        </p:txBody>
      </p:sp>
      <p:sp>
        <p:nvSpPr>
          <p:cNvPr id="3" name="Content Placeholder 2"/>
          <p:cNvSpPr>
            <a:spLocks noGrp="1"/>
          </p:cNvSpPr>
          <p:nvPr>
            <p:ph idx="1"/>
          </p:nvPr>
        </p:nvSpPr>
        <p:spPr>
          <a:xfrm>
            <a:off x="457200" y="685800"/>
            <a:ext cx="8229600" cy="5943600"/>
          </a:xfrm>
        </p:spPr>
        <p:txBody>
          <a:bodyPr>
            <a:noAutofit/>
          </a:bodyPr>
          <a:lstStyle/>
          <a:p>
            <a:pPr fontAlgn="base">
              <a:lnSpc>
                <a:spcPct val="150000"/>
              </a:lnSpc>
            </a:pPr>
            <a:r>
              <a:rPr lang="en-US" sz="2000" dirty="0"/>
              <a:t>The SQL commands that deal with the manipulation of data present in the database belong to DML or Data Manipulation Language and this includes most of the SQL statements. It is the component of the SQL statement that controls access to data and to the database. Basically, DCL statements are grouped with DML statements.</a:t>
            </a:r>
          </a:p>
          <a:p>
            <a:pPr fontAlgn="base">
              <a:lnSpc>
                <a:spcPct val="150000"/>
              </a:lnSpc>
            </a:pPr>
            <a:r>
              <a:rPr lang="en-US" sz="2000" b="1" dirty="0"/>
              <a:t>List of DML commands: </a:t>
            </a:r>
          </a:p>
          <a:p>
            <a:pPr fontAlgn="base">
              <a:lnSpc>
                <a:spcPct val="150000"/>
              </a:lnSpc>
              <a:buFont typeface="Wingdings" pitchFamily="2" charset="2"/>
              <a:buChar char="Ø"/>
            </a:pPr>
            <a:r>
              <a:rPr lang="en-US" sz="2000" b="1" u="sng" dirty="0">
                <a:solidFill>
                  <a:srgbClr val="00B050"/>
                </a:solidFill>
              </a:rPr>
              <a:t>INSERT</a:t>
            </a:r>
            <a:r>
              <a:rPr lang="en-US" sz="2000" dirty="0"/>
              <a:t>: It is used to insert data into a table.</a:t>
            </a:r>
          </a:p>
          <a:p>
            <a:pPr fontAlgn="base">
              <a:lnSpc>
                <a:spcPct val="150000"/>
              </a:lnSpc>
              <a:buFont typeface="Wingdings" pitchFamily="2" charset="2"/>
              <a:buChar char="Ø"/>
            </a:pPr>
            <a:r>
              <a:rPr lang="en-US" sz="2000" b="1" u="sng" dirty="0">
                <a:solidFill>
                  <a:srgbClr val="00B050"/>
                </a:solidFill>
              </a:rPr>
              <a:t>UPDATE</a:t>
            </a:r>
            <a:r>
              <a:rPr lang="en-US" sz="2000" b="1" dirty="0"/>
              <a:t>:</a:t>
            </a:r>
            <a:r>
              <a:rPr lang="en-US" sz="2000" dirty="0"/>
              <a:t> It is used to update existing data within a table.</a:t>
            </a:r>
          </a:p>
          <a:p>
            <a:pPr fontAlgn="base">
              <a:lnSpc>
                <a:spcPct val="150000"/>
              </a:lnSpc>
              <a:buFont typeface="Wingdings" pitchFamily="2" charset="2"/>
              <a:buChar char="Ø"/>
            </a:pPr>
            <a:r>
              <a:rPr lang="en-US" sz="2000" b="1" u="sng" dirty="0">
                <a:solidFill>
                  <a:srgbClr val="00B050"/>
                </a:solidFill>
              </a:rPr>
              <a:t>DELETE</a:t>
            </a:r>
            <a:r>
              <a:rPr lang="en-US" sz="2000" dirty="0"/>
              <a:t>: It is used to delete records from a database table.</a:t>
            </a:r>
          </a:p>
          <a:p>
            <a:pPr fontAlgn="base">
              <a:lnSpc>
                <a:spcPct val="150000"/>
              </a:lnSpc>
              <a:buFont typeface="Wingdings" pitchFamily="2" charset="2"/>
              <a:buChar char="Ø"/>
            </a:pPr>
            <a:r>
              <a:rPr lang="en-US" sz="2000" b="1" u="sng" dirty="0">
                <a:solidFill>
                  <a:srgbClr val="00B050"/>
                </a:solidFill>
              </a:rPr>
              <a:t>LOCK</a:t>
            </a:r>
            <a:r>
              <a:rPr lang="en-US" sz="2000" b="1" u="sng" dirty="0"/>
              <a:t>:</a:t>
            </a:r>
            <a:r>
              <a:rPr lang="en-US" sz="2000" dirty="0"/>
              <a:t> Table control concurrency.</a:t>
            </a:r>
          </a:p>
          <a:p>
            <a:pPr fontAlgn="base">
              <a:lnSpc>
                <a:spcPct val="150000"/>
              </a:lnSpc>
              <a:buFont typeface="Wingdings" pitchFamily="2" charset="2"/>
              <a:buChar char="Ø"/>
            </a:pPr>
            <a:r>
              <a:rPr lang="en-US" sz="2000" b="1" u="sng" dirty="0">
                <a:solidFill>
                  <a:srgbClr val="00B050"/>
                </a:solidFill>
              </a:rPr>
              <a:t>CALL:</a:t>
            </a:r>
            <a:r>
              <a:rPr lang="en-US" sz="2000" b="1" dirty="0"/>
              <a:t> </a:t>
            </a:r>
            <a:r>
              <a:rPr lang="en-US" sz="2000" dirty="0"/>
              <a:t>Call a PL/SQL or JAVA subprogram.</a:t>
            </a:r>
          </a:p>
          <a:p>
            <a:pPr fontAlgn="base">
              <a:lnSpc>
                <a:spcPct val="150000"/>
              </a:lnSpc>
              <a:buFont typeface="Wingdings" pitchFamily="2" charset="2"/>
              <a:buChar char="Ø"/>
            </a:pPr>
            <a:r>
              <a:rPr lang="en-US" sz="2000" b="1" u="sng" dirty="0">
                <a:solidFill>
                  <a:srgbClr val="00B050"/>
                </a:solidFill>
              </a:rPr>
              <a:t>EXPLAIN PLAN:</a:t>
            </a:r>
            <a:r>
              <a:rPr lang="en-US" sz="2000" dirty="0"/>
              <a:t> It describes the access path to data.</a:t>
            </a:r>
          </a:p>
          <a:p>
            <a:pPr>
              <a:lnSpc>
                <a:spcPct val="150000"/>
              </a:lnSpc>
            </a:pP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DML – INSERT COMMAND</a:t>
            </a:r>
          </a:p>
        </p:txBody>
      </p:sp>
      <p:sp>
        <p:nvSpPr>
          <p:cNvPr id="3" name="Content Placeholder 2"/>
          <p:cNvSpPr>
            <a:spLocks noGrp="1"/>
          </p:cNvSpPr>
          <p:nvPr>
            <p:ph idx="1"/>
          </p:nvPr>
        </p:nvSpPr>
        <p:spPr/>
        <p:txBody>
          <a:bodyPr>
            <a:normAutofit lnSpcReduction="10000"/>
          </a:bodyPr>
          <a:lstStyle/>
          <a:p>
            <a:pPr fontAlgn="base">
              <a:lnSpc>
                <a:spcPct val="150000"/>
              </a:lnSpc>
            </a:pPr>
            <a:r>
              <a:rPr lang="en-US" b="1" dirty="0"/>
              <a:t>INSERT INTO Syntax:</a:t>
            </a:r>
          </a:p>
          <a:p>
            <a:pPr fontAlgn="base">
              <a:lnSpc>
                <a:spcPct val="150000"/>
              </a:lnSpc>
              <a:buNone/>
            </a:pPr>
            <a:r>
              <a:rPr lang="en-US" dirty="0"/>
              <a:t>    INSERT INTO </a:t>
            </a:r>
            <a:r>
              <a:rPr lang="en-US" dirty="0" err="1"/>
              <a:t>table_name</a:t>
            </a:r>
            <a:r>
              <a:rPr lang="en-US" dirty="0"/>
              <a:t> VALUES (value1, value2, value3); </a:t>
            </a:r>
          </a:p>
          <a:p>
            <a:pPr fontAlgn="base">
              <a:lnSpc>
                <a:spcPct val="150000"/>
              </a:lnSpc>
            </a:pPr>
            <a:r>
              <a:rPr lang="en-US" b="1" dirty="0"/>
              <a:t>Insert Data in Specified Columns - Syntax:</a:t>
            </a:r>
          </a:p>
          <a:p>
            <a:pPr fontAlgn="base">
              <a:lnSpc>
                <a:spcPct val="150000"/>
              </a:lnSpc>
              <a:buNone/>
            </a:pPr>
            <a:r>
              <a:rPr lang="en-US" b="1" dirty="0"/>
              <a:t>   </a:t>
            </a:r>
            <a:r>
              <a:rPr lang="en-US" i="1" dirty="0"/>
              <a:t>INSERT INTO </a:t>
            </a:r>
            <a:r>
              <a:rPr lang="en-US" i="1" dirty="0" err="1"/>
              <a:t>table_name</a:t>
            </a:r>
            <a:r>
              <a:rPr lang="en-US" i="1" dirty="0"/>
              <a:t> (column1, column2, column3) VALUES ( value1, value2, value3); </a:t>
            </a:r>
          </a:p>
          <a:p>
            <a:pPr fontAlgn="base">
              <a:buNone/>
            </a:pPr>
            <a:endParaRPr lang="en-US" b="1" dirty="0"/>
          </a:p>
          <a:p>
            <a:pPr fontAlgn="base">
              <a:buNone/>
            </a:pPr>
            <a:endParaRPr lang="en-US" dirty="0"/>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endParaRPr lang="en-US" sz="2800" dirty="0"/>
          </a:p>
        </p:txBody>
      </p:sp>
      <p:sp>
        <p:nvSpPr>
          <p:cNvPr id="3" name="Content Placeholder 2"/>
          <p:cNvSpPr>
            <a:spLocks noGrp="1"/>
          </p:cNvSpPr>
          <p:nvPr>
            <p:ph idx="1"/>
          </p:nvPr>
        </p:nvSpPr>
        <p:spPr/>
        <p:txBody>
          <a:bodyPr/>
          <a:lstStyle/>
          <a:p>
            <a:r>
              <a:rPr lang="en-US" b="1" dirty="0"/>
              <a:t>Method 1 (Inserting only values) – SQL INSERT Query</a:t>
            </a:r>
          </a:p>
          <a:p>
            <a:r>
              <a:rPr lang="en-US" b="1" dirty="0"/>
              <a:t>Method 2 (Inserting values in only specified columns) – SQL INSERT INTO Statement</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fontAlgn="base"/>
            <a:r>
              <a:rPr lang="en-US" sz="2400" b="1" dirty="0"/>
              <a:t>Inserting all columns of a table – INSERT INTO SELECT Statement </a:t>
            </a:r>
            <a:endParaRPr lang="en-US" sz="2400" dirty="0"/>
          </a:p>
        </p:txBody>
      </p:sp>
      <p:sp>
        <p:nvSpPr>
          <p:cNvPr id="3" name="Content Placeholder 2"/>
          <p:cNvSpPr>
            <a:spLocks noGrp="1"/>
          </p:cNvSpPr>
          <p:nvPr>
            <p:ph idx="1"/>
          </p:nvPr>
        </p:nvSpPr>
        <p:spPr/>
        <p:txBody>
          <a:bodyPr/>
          <a:lstStyle/>
          <a:p>
            <a:pPr fontAlgn="base"/>
            <a:r>
              <a:rPr lang="en-US" dirty="0"/>
              <a:t>We can copy all the data of a table and insert it into a different table.</a:t>
            </a:r>
          </a:p>
          <a:p>
            <a:pPr fontAlgn="base"/>
            <a:r>
              <a:rPr lang="en-US" b="1" dirty="0"/>
              <a:t>Syntax:</a:t>
            </a:r>
            <a:endParaRPr lang="en-US" dirty="0"/>
          </a:p>
          <a:p>
            <a:pPr fontAlgn="base">
              <a:buNone/>
            </a:pPr>
            <a:r>
              <a:rPr lang="en-US" dirty="0"/>
              <a:t>    INSERT INTO </a:t>
            </a:r>
            <a:r>
              <a:rPr lang="en-US" dirty="0" err="1"/>
              <a:t>first_table</a:t>
            </a:r>
            <a:r>
              <a:rPr lang="en-US" dirty="0"/>
              <a:t> SELECT * FROM </a:t>
            </a:r>
            <a:r>
              <a:rPr lang="en-US" dirty="0" err="1"/>
              <a:t>second_table</a:t>
            </a:r>
            <a:r>
              <a:rPr lang="en-US" dirty="0"/>
              <a:t>;</a:t>
            </a:r>
          </a:p>
          <a:p>
            <a:pPr fontAlgn="base"/>
            <a:endParaRPr lang="en-US" dirty="0"/>
          </a:p>
          <a:p>
            <a:pPr>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t>Inserting specific columns of a table – INSERT INTO SELECT Statement </a:t>
            </a:r>
            <a:endParaRPr lang="en-US" sz="2800" dirty="0"/>
          </a:p>
        </p:txBody>
      </p:sp>
      <p:sp>
        <p:nvSpPr>
          <p:cNvPr id="3" name="Content Placeholder 2"/>
          <p:cNvSpPr>
            <a:spLocks noGrp="1"/>
          </p:cNvSpPr>
          <p:nvPr>
            <p:ph idx="1"/>
          </p:nvPr>
        </p:nvSpPr>
        <p:spPr/>
        <p:txBody>
          <a:bodyPr/>
          <a:lstStyle/>
          <a:p>
            <a:r>
              <a:rPr lang="en-US" dirty="0"/>
              <a:t>We can copy only those columns of a table that we want to insert into a different table.</a:t>
            </a:r>
          </a:p>
          <a:p>
            <a:pPr fontAlgn="base"/>
            <a:r>
              <a:rPr lang="en-US" b="1" dirty="0"/>
              <a:t>Syntax:</a:t>
            </a:r>
            <a:endParaRPr lang="en-US" dirty="0"/>
          </a:p>
          <a:p>
            <a:pPr fontAlgn="base">
              <a:buNone/>
            </a:pPr>
            <a:r>
              <a:rPr lang="en-US" sz="2800" dirty="0"/>
              <a:t>INSERT INTO </a:t>
            </a:r>
            <a:r>
              <a:rPr lang="en-US" sz="2800" dirty="0" err="1"/>
              <a:t>first_table</a:t>
            </a:r>
            <a:r>
              <a:rPr lang="en-US" sz="2800" dirty="0"/>
              <a:t>(names_of_columns1) </a:t>
            </a:r>
          </a:p>
          <a:p>
            <a:pPr fontAlgn="base">
              <a:buNone/>
            </a:pPr>
            <a:r>
              <a:rPr lang="en-US" sz="2800" dirty="0"/>
              <a:t>SELECT names_of_columns2 FROM </a:t>
            </a:r>
            <a:r>
              <a:rPr lang="en-US" sz="2800" dirty="0" err="1"/>
              <a:t>second_table</a:t>
            </a:r>
            <a:r>
              <a:rPr lang="en-US" sz="2800" dirty="0"/>
              <a:t>; </a:t>
            </a:r>
          </a:p>
          <a:p>
            <a:pPr>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2800" dirty="0"/>
              <a:t>DML : </a:t>
            </a:r>
            <a:r>
              <a:rPr lang="en-US" sz="2800" b="1" dirty="0"/>
              <a:t>UPDATE Statement</a:t>
            </a:r>
            <a:endParaRPr lang="en-US" sz="2800" dirty="0"/>
          </a:p>
        </p:txBody>
      </p:sp>
      <p:sp>
        <p:nvSpPr>
          <p:cNvPr id="3" name="Content Placeholder 2"/>
          <p:cNvSpPr>
            <a:spLocks noGrp="1"/>
          </p:cNvSpPr>
          <p:nvPr>
            <p:ph idx="1"/>
          </p:nvPr>
        </p:nvSpPr>
        <p:spPr>
          <a:xfrm>
            <a:off x="457200" y="1066800"/>
            <a:ext cx="8229600" cy="5486400"/>
          </a:xfrm>
        </p:spPr>
        <p:txBody>
          <a:bodyPr>
            <a:normAutofit fontScale="25000" lnSpcReduction="20000"/>
          </a:bodyPr>
          <a:lstStyle/>
          <a:p>
            <a:pPr algn="just">
              <a:lnSpc>
                <a:spcPct val="170000"/>
              </a:lnSpc>
            </a:pPr>
            <a:r>
              <a:rPr lang="en-US" sz="11200" dirty="0"/>
              <a:t>The UPDATE statement in </a:t>
            </a:r>
            <a:r>
              <a:rPr lang="en-US" sz="11200" u="sng" dirty="0"/>
              <a:t>SQL </a:t>
            </a:r>
            <a:r>
              <a:rPr lang="en-US" sz="11200" dirty="0"/>
              <a:t>is used to update the data of an existing table in the database. </a:t>
            </a:r>
          </a:p>
          <a:p>
            <a:pPr algn="just">
              <a:lnSpc>
                <a:spcPct val="170000"/>
              </a:lnSpc>
            </a:pPr>
            <a:r>
              <a:rPr lang="en-US" sz="11200" dirty="0"/>
              <a:t>We can update single columns as well as multiple columns using the UPDATE statement as per our requirement.</a:t>
            </a:r>
          </a:p>
          <a:p>
            <a:pPr algn="just">
              <a:lnSpc>
                <a:spcPct val="170000"/>
              </a:lnSpc>
            </a:pPr>
            <a:r>
              <a:rPr lang="en-US" sz="11200" b="1" dirty="0"/>
              <a:t>Syntax</a:t>
            </a:r>
          </a:p>
          <a:p>
            <a:pPr fontAlgn="base">
              <a:lnSpc>
                <a:spcPct val="170000"/>
              </a:lnSpc>
              <a:buNone/>
            </a:pPr>
            <a:r>
              <a:rPr lang="en-US" sz="11200" i="1" dirty="0"/>
              <a:t>     UPDATE </a:t>
            </a:r>
            <a:r>
              <a:rPr lang="en-US" sz="11200" i="1" dirty="0" err="1"/>
              <a:t>table_name</a:t>
            </a:r>
            <a:r>
              <a:rPr lang="en-US" sz="11200" i="1" dirty="0"/>
              <a:t> SET column1 = value1, column2 = value2,…  WHERE condition;</a:t>
            </a:r>
          </a:p>
          <a:p>
            <a:pPr>
              <a:buNone/>
            </a:pPr>
            <a:br>
              <a:rPr lang="en-US" dirty="0"/>
            </a:b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Updating Multiple Columns</a:t>
            </a:r>
            <a:endParaRPr lang="en-US" dirty="0"/>
          </a:p>
        </p:txBody>
      </p:sp>
      <p:sp>
        <p:nvSpPr>
          <p:cNvPr id="3" name="Content Placeholder 2"/>
          <p:cNvSpPr>
            <a:spLocks noGrp="1"/>
          </p:cNvSpPr>
          <p:nvPr>
            <p:ph idx="1"/>
          </p:nvPr>
        </p:nvSpPr>
        <p:spPr/>
        <p:txBody>
          <a:bodyPr/>
          <a:lstStyle/>
          <a:p>
            <a:r>
              <a:rPr lang="en-US" dirty="0"/>
              <a:t>Example </a:t>
            </a:r>
          </a:p>
          <a:p>
            <a:pPr>
              <a:buNone/>
            </a:pPr>
            <a:r>
              <a:rPr lang="en-US" dirty="0"/>
              <a:t>    UPDATE Customer SET </a:t>
            </a:r>
            <a:r>
              <a:rPr lang="en-US" dirty="0" err="1"/>
              <a:t>CustomerName</a:t>
            </a:r>
            <a:r>
              <a:rPr lang="en-US" dirty="0"/>
              <a:t> = 'Satyam', Country = 'USA' WHERE </a:t>
            </a:r>
            <a:r>
              <a:rPr lang="en-US" dirty="0" err="1"/>
              <a:t>CustomerID</a:t>
            </a:r>
            <a:r>
              <a:rPr lang="en-US" dirty="0"/>
              <a:t> = 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Omitting WHERE Clause</a:t>
            </a:r>
            <a:endParaRPr lang="en-US" dirty="0"/>
          </a:p>
        </p:txBody>
      </p:sp>
      <p:sp>
        <p:nvSpPr>
          <p:cNvPr id="3" name="Content Placeholder 2"/>
          <p:cNvSpPr>
            <a:spLocks noGrp="1"/>
          </p:cNvSpPr>
          <p:nvPr>
            <p:ph idx="1"/>
          </p:nvPr>
        </p:nvSpPr>
        <p:spPr/>
        <p:txBody>
          <a:bodyPr/>
          <a:lstStyle/>
          <a:p>
            <a:pPr fontAlgn="base"/>
            <a:r>
              <a:rPr lang="en-US" dirty="0"/>
              <a:t>If we omit the WHERE clause from the update query then all of the rows will get updated.</a:t>
            </a:r>
          </a:p>
          <a:p>
            <a:pPr fontAlgn="base">
              <a:buNone/>
            </a:pPr>
            <a:endParaRPr lang="en-US" dirty="0"/>
          </a:p>
          <a:p>
            <a:pPr>
              <a:buNone/>
            </a:pPr>
            <a:r>
              <a:rPr lang="en-US" dirty="0"/>
              <a:t>    Example: </a:t>
            </a:r>
          </a:p>
          <a:p>
            <a:pPr>
              <a:buNone/>
            </a:pPr>
            <a:r>
              <a:rPr lang="en-US" dirty="0"/>
              <a:t>    UPDATE Customer SET </a:t>
            </a:r>
            <a:r>
              <a:rPr lang="en-US" dirty="0" err="1"/>
              <a:t>CustomerName</a:t>
            </a:r>
            <a:r>
              <a:rPr lang="en-US" dirty="0"/>
              <a:t> = '</a:t>
            </a:r>
            <a:r>
              <a:rPr lang="en-US" dirty="0" err="1"/>
              <a:t>Shubham</a:t>
            </a:r>
            <a:r>
              <a:rPr lang="en-US" dirty="0"/>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DML : </a:t>
            </a:r>
            <a:r>
              <a:rPr lang="en-US" b="1" dirty="0"/>
              <a:t>DELETE Command</a:t>
            </a:r>
            <a:endParaRPr lang="en-US" dirty="0"/>
          </a:p>
        </p:txBody>
      </p:sp>
      <p:sp>
        <p:nvSpPr>
          <p:cNvPr id="3" name="Content Placeholder 2"/>
          <p:cNvSpPr>
            <a:spLocks noGrp="1"/>
          </p:cNvSpPr>
          <p:nvPr>
            <p:ph idx="1"/>
          </p:nvPr>
        </p:nvSpPr>
        <p:spPr>
          <a:xfrm>
            <a:off x="457200" y="1219200"/>
            <a:ext cx="8229600" cy="5257800"/>
          </a:xfrm>
        </p:spPr>
        <p:txBody>
          <a:bodyPr>
            <a:normAutofit fontScale="92500" lnSpcReduction="20000"/>
          </a:bodyPr>
          <a:lstStyle/>
          <a:p>
            <a:pPr algn="just" fontAlgn="base">
              <a:lnSpc>
                <a:spcPct val="150000"/>
              </a:lnSpc>
            </a:pPr>
            <a:r>
              <a:rPr lang="en-US" dirty="0"/>
              <a:t>Existing records in a table can be deleted using the SQL DELETE Statement. </a:t>
            </a:r>
          </a:p>
          <a:p>
            <a:pPr algn="just" fontAlgn="base">
              <a:lnSpc>
                <a:spcPct val="150000"/>
              </a:lnSpc>
            </a:pPr>
            <a:r>
              <a:rPr lang="en-US" dirty="0"/>
              <a:t>We can delete a single record or multiple records depending on the condition we specify in the WHERE clause.</a:t>
            </a:r>
          </a:p>
          <a:p>
            <a:pPr algn="just" fontAlgn="base">
              <a:lnSpc>
                <a:spcPct val="150000"/>
              </a:lnSpc>
            </a:pPr>
            <a:r>
              <a:rPr lang="en-US" b="1" dirty="0"/>
              <a:t>Syntax: </a:t>
            </a:r>
            <a:endParaRPr lang="en-US" dirty="0"/>
          </a:p>
          <a:p>
            <a:pPr algn="just" fontAlgn="base">
              <a:lnSpc>
                <a:spcPct val="150000"/>
              </a:lnSpc>
              <a:buNone/>
            </a:pPr>
            <a:r>
              <a:rPr lang="en-US" dirty="0"/>
              <a:t>    DELETE FROM </a:t>
            </a:r>
            <a:r>
              <a:rPr lang="en-US" dirty="0" err="1"/>
              <a:t>table_name</a:t>
            </a:r>
            <a:r>
              <a:rPr lang="en-US" dirty="0"/>
              <a:t> WHERE </a:t>
            </a:r>
            <a:r>
              <a:rPr lang="en-US" dirty="0" err="1"/>
              <a:t>some_condition</a:t>
            </a:r>
            <a:r>
              <a:rPr lang="en-US" dirty="0"/>
              <a:t>;</a:t>
            </a:r>
          </a:p>
          <a:p>
            <a:pPr algn="just"/>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Deleting Single Record</a:t>
            </a:r>
            <a:endParaRPr lang="en-US" dirty="0"/>
          </a:p>
        </p:txBody>
      </p:sp>
      <p:sp>
        <p:nvSpPr>
          <p:cNvPr id="3" name="Content Placeholder 2"/>
          <p:cNvSpPr>
            <a:spLocks noGrp="1"/>
          </p:cNvSpPr>
          <p:nvPr>
            <p:ph idx="1"/>
          </p:nvPr>
        </p:nvSpPr>
        <p:spPr/>
        <p:txBody>
          <a:bodyPr>
            <a:normAutofit/>
          </a:bodyPr>
          <a:lstStyle/>
          <a:p>
            <a:pPr>
              <a:lnSpc>
                <a:spcPct val="150000"/>
              </a:lnSpc>
            </a:pPr>
            <a:r>
              <a:rPr lang="en-US" dirty="0"/>
              <a:t>Example </a:t>
            </a:r>
          </a:p>
          <a:p>
            <a:pPr fontAlgn="base">
              <a:lnSpc>
                <a:spcPct val="150000"/>
              </a:lnSpc>
            </a:pPr>
            <a:r>
              <a:rPr lang="en-US" dirty="0"/>
              <a:t>Delete the rows where NAME = ‘</a:t>
            </a:r>
            <a:r>
              <a:rPr lang="en-US" dirty="0" err="1"/>
              <a:t>Rithvik</a:t>
            </a:r>
            <a:r>
              <a:rPr lang="en-US" dirty="0"/>
              <a:t>’. This will delete only the fourth row.</a:t>
            </a:r>
          </a:p>
          <a:p>
            <a:pPr fontAlgn="base">
              <a:lnSpc>
                <a:spcPct val="150000"/>
              </a:lnSpc>
            </a:pPr>
            <a:r>
              <a:rPr lang="en-US" b="1" dirty="0"/>
              <a:t>Query:</a:t>
            </a:r>
            <a:endParaRPr lang="en-US" dirty="0"/>
          </a:p>
          <a:p>
            <a:pPr>
              <a:lnSpc>
                <a:spcPct val="150000"/>
              </a:lnSpc>
              <a:buNone/>
            </a:pPr>
            <a:r>
              <a:rPr lang="en-US" dirty="0"/>
              <a:t>    </a:t>
            </a:r>
            <a:r>
              <a:rPr lang="en-US" sz="2400" dirty="0"/>
              <a:t>DELETE FROM  EMPLOYEE WHERE NAME = '</a:t>
            </a:r>
            <a:r>
              <a:rPr lang="en-US" sz="2400" dirty="0" err="1"/>
              <a:t>Rithvik</a:t>
            </a:r>
            <a:r>
              <a:rPr lang="en-US" sz="2400" dirty="0"/>
              <a:t>'; </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Deleting Multiple Records</a:t>
            </a:r>
            <a:endParaRPr lang="en-US" dirty="0"/>
          </a:p>
        </p:txBody>
      </p:sp>
      <p:sp>
        <p:nvSpPr>
          <p:cNvPr id="3" name="Content Placeholder 2"/>
          <p:cNvSpPr>
            <a:spLocks noGrp="1"/>
          </p:cNvSpPr>
          <p:nvPr>
            <p:ph idx="1"/>
          </p:nvPr>
        </p:nvSpPr>
        <p:spPr/>
        <p:txBody>
          <a:bodyPr/>
          <a:lstStyle/>
          <a:p>
            <a:pPr fontAlgn="base"/>
            <a:r>
              <a:rPr lang="en-US" dirty="0"/>
              <a:t> Delete the rows from the table  Employee where the department is “Development”. This will delete 2 rows(the first row and the seventh row).</a:t>
            </a:r>
          </a:p>
          <a:p>
            <a:pPr fontAlgn="base"/>
            <a:r>
              <a:rPr lang="en-US" b="1" dirty="0"/>
              <a:t>Query:</a:t>
            </a:r>
            <a:endParaRPr lang="en-US" dirty="0"/>
          </a:p>
          <a:p>
            <a:pPr>
              <a:buNone/>
            </a:pPr>
            <a:r>
              <a:rPr lang="en-US" dirty="0"/>
              <a:t>    DELETE FROM  Employee WHERE department = 'Development';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Autofit/>
          </a:bodyPr>
          <a:lstStyle/>
          <a:p>
            <a:r>
              <a:rPr lang="en-US" sz="2800" b="1" dirty="0"/>
              <a:t>Delete All of the Records</a:t>
            </a:r>
            <a:endParaRPr lang="en-US" sz="2800" dirty="0"/>
          </a:p>
        </p:txBody>
      </p:sp>
      <p:sp>
        <p:nvSpPr>
          <p:cNvPr id="3" name="Content Placeholder 2"/>
          <p:cNvSpPr>
            <a:spLocks noGrp="1"/>
          </p:cNvSpPr>
          <p:nvPr>
            <p:ph idx="1"/>
          </p:nvPr>
        </p:nvSpPr>
        <p:spPr>
          <a:xfrm>
            <a:off x="457200" y="762000"/>
            <a:ext cx="8382000" cy="5867400"/>
          </a:xfrm>
        </p:spPr>
        <p:txBody>
          <a:bodyPr>
            <a:normAutofit fontScale="92500"/>
          </a:bodyPr>
          <a:lstStyle/>
          <a:p>
            <a:pPr fontAlgn="base">
              <a:lnSpc>
                <a:spcPct val="150000"/>
              </a:lnSpc>
            </a:pPr>
            <a:r>
              <a:rPr lang="en-US" sz="2400" dirty="0"/>
              <a:t>There are two queries to do this as shown below,</a:t>
            </a:r>
          </a:p>
          <a:p>
            <a:pPr fontAlgn="base">
              <a:lnSpc>
                <a:spcPct val="150000"/>
              </a:lnSpc>
              <a:buNone/>
            </a:pPr>
            <a:r>
              <a:rPr lang="en-US" sz="2400" b="1" dirty="0"/>
              <a:t>Query:</a:t>
            </a:r>
            <a:endParaRPr lang="en-US" sz="2400" dirty="0"/>
          </a:p>
          <a:p>
            <a:pPr fontAlgn="base">
              <a:lnSpc>
                <a:spcPct val="150000"/>
              </a:lnSpc>
              <a:buFont typeface="Wingdings" pitchFamily="2" charset="2"/>
              <a:buChar char="Ø"/>
            </a:pPr>
            <a:r>
              <a:rPr lang="en-US" sz="2400" dirty="0"/>
              <a:t>DELETE FROM  Employee; </a:t>
            </a:r>
          </a:p>
          <a:p>
            <a:pPr fontAlgn="base">
              <a:lnSpc>
                <a:spcPct val="150000"/>
              </a:lnSpc>
              <a:buNone/>
            </a:pPr>
            <a:r>
              <a:rPr lang="en-US" sz="2400" dirty="0"/>
              <a:t> Or </a:t>
            </a:r>
          </a:p>
          <a:p>
            <a:pPr fontAlgn="base">
              <a:lnSpc>
                <a:spcPct val="150000"/>
              </a:lnSpc>
              <a:buFont typeface="Wingdings" pitchFamily="2" charset="2"/>
              <a:buChar char="Ø"/>
            </a:pPr>
            <a:r>
              <a:rPr lang="en-US" sz="2400" dirty="0"/>
              <a:t>DELETE * FROM Employee; </a:t>
            </a:r>
          </a:p>
          <a:p>
            <a:pPr fontAlgn="base">
              <a:lnSpc>
                <a:spcPct val="150000"/>
              </a:lnSpc>
            </a:pPr>
            <a:r>
              <a:rPr lang="en-US" sz="2400" b="1" dirty="0"/>
              <a:t>Output:</a:t>
            </a:r>
            <a:endParaRPr lang="en-US" sz="2400" dirty="0"/>
          </a:p>
          <a:p>
            <a:pPr fontAlgn="base">
              <a:lnSpc>
                <a:spcPct val="150000"/>
              </a:lnSpc>
              <a:buNone/>
            </a:pPr>
            <a:r>
              <a:rPr lang="en-US" sz="2400" dirty="0"/>
              <a:t>    All of the records in the table will be deleted, there are no records left to display. The table Employee  will become empty!</a:t>
            </a:r>
          </a:p>
          <a:p>
            <a:pPr fontAlgn="base">
              <a:lnSpc>
                <a:spcPct val="150000"/>
              </a:lnSpc>
              <a:buNone/>
            </a:pPr>
            <a:r>
              <a:rPr lang="en-US" sz="2400" b="1" dirty="0"/>
              <a:t>NOTE</a:t>
            </a:r>
            <a:r>
              <a:rPr lang="en-US" sz="2400" dirty="0"/>
              <a:t> : DELETE is a </a:t>
            </a:r>
            <a:r>
              <a:rPr lang="en-US" sz="2400" u="sng" dirty="0">
                <a:hlinkClick r:id="rId2"/>
              </a:rPr>
              <a:t>DML</a:t>
            </a:r>
            <a:r>
              <a:rPr lang="en-US" sz="2400" dirty="0"/>
              <a:t> (Data Manipulation Language) command hence operation performed by DELETE can be rolled back or undone.</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DML : LOCK Command</a:t>
            </a:r>
          </a:p>
        </p:txBody>
      </p:sp>
      <p:sp>
        <p:nvSpPr>
          <p:cNvPr id="3" name="Content Placeholder 2"/>
          <p:cNvSpPr>
            <a:spLocks noGrp="1"/>
          </p:cNvSpPr>
          <p:nvPr>
            <p:ph idx="1"/>
          </p:nvPr>
        </p:nvSpPr>
        <p:spPr/>
        <p:txBody>
          <a:bodyPr>
            <a:normAutofit lnSpcReduction="10000"/>
          </a:bodyPr>
          <a:lstStyle/>
          <a:p>
            <a:r>
              <a:rPr lang="en-US" dirty="0"/>
              <a:t>SQL Server is a versatile database and it is the most used Relational Database that is used across many software industries. In this article, let us see about the SQL Lock table in SQL Server by taking some practical examples. As it is meeting  Atomicity(A), Consistency(C), Isolation(I), and Durability(D) requirements it is called a relational database. In order to maintain ACID mechanisms, in SQL Server, a lock is maintained.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705600"/>
          </a:xfrm>
        </p:spPr>
        <p:txBody>
          <a:bodyPr>
            <a:noAutofit/>
          </a:bodyPr>
          <a:lstStyle/>
          <a:p>
            <a:pPr fontAlgn="base">
              <a:lnSpc>
                <a:spcPct val="150000"/>
              </a:lnSpc>
              <a:buNone/>
            </a:pPr>
            <a:r>
              <a:rPr lang="en-US" sz="1800" b="1" dirty="0"/>
              <a:t>There are different types of locks are there.</a:t>
            </a:r>
          </a:p>
          <a:p>
            <a:pPr fontAlgn="base">
              <a:lnSpc>
                <a:spcPct val="150000"/>
              </a:lnSpc>
              <a:buFont typeface="Wingdings" pitchFamily="2" charset="2"/>
              <a:buChar char="Ø"/>
            </a:pPr>
            <a:r>
              <a:rPr lang="en-US" sz="1800" b="1" dirty="0"/>
              <a:t>Shared (S) Locks: </a:t>
            </a:r>
            <a:r>
              <a:rPr lang="en-US" sz="1800" dirty="0"/>
              <a:t>When the object needs to be read, this type of lock will occur, but this is not harmful.</a:t>
            </a:r>
          </a:p>
          <a:p>
            <a:pPr fontAlgn="base">
              <a:lnSpc>
                <a:spcPct val="150000"/>
              </a:lnSpc>
              <a:buFont typeface="Wingdings" pitchFamily="2" charset="2"/>
              <a:buChar char="Ø"/>
            </a:pPr>
            <a:r>
              <a:rPr lang="en-US" sz="1800" b="1" dirty="0"/>
              <a:t>Exclusive (X) Locks: </a:t>
            </a:r>
            <a:r>
              <a:rPr lang="en-US" sz="1800" dirty="0"/>
              <a:t>It prevents other transactions like inserting/updating/deleting etc., Hence no modifications can be done on a locked object.</a:t>
            </a:r>
          </a:p>
          <a:p>
            <a:pPr fontAlgn="base">
              <a:lnSpc>
                <a:spcPct val="150000"/>
              </a:lnSpc>
              <a:buFont typeface="Wingdings" pitchFamily="2" charset="2"/>
              <a:buChar char="Ø"/>
            </a:pPr>
            <a:r>
              <a:rPr lang="en-US" sz="1800" b="1" dirty="0"/>
              <a:t>Update (U) Locks: </a:t>
            </a:r>
            <a:r>
              <a:rPr lang="en-US" sz="1800" dirty="0"/>
              <a:t>More or less similar to Exclusive lock but here the operation can be viewed as “read phase” and “write phase”. Especially during the read phase, other transactions are prevented. </a:t>
            </a:r>
          </a:p>
          <a:p>
            <a:pPr fontAlgn="base">
              <a:lnSpc>
                <a:spcPct val="150000"/>
              </a:lnSpc>
              <a:buFont typeface="Wingdings" pitchFamily="2" charset="2"/>
              <a:buChar char="Ø"/>
            </a:pPr>
            <a:r>
              <a:rPr lang="en-US" sz="1800" b="1" dirty="0"/>
              <a:t>Intent Locks: </a:t>
            </a:r>
            <a:r>
              <a:rPr lang="en-US" sz="1800" dirty="0"/>
              <a:t>When SQL Server has the shared (S) lock or exclusive (X) lock on a row, then the intent lock is on the table.</a:t>
            </a:r>
          </a:p>
          <a:p>
            <a:pPr fontAlgn="base">
              <a:lnSpc>
                <a:spcPct val="150000"/>
              </a:lnSpc>
              <a:buFont typeface="Wingdings" pitchFamily="2" charset="2"/>
              <a:buChar char="Ø"/>
            </a:pPr>
            <a:r>
              <a:rPr lang="en-US" sz="1800" b="1" dirty="0"/>
              <a:t>Regular intent locks: </a:t>
            </a:r>
            <a:r>
              <a:rPr lang="en-US" sz="1800" dirty="0"/>
              <a:t>Intent exclusive (IX) , Intent shared (IS), and Intent update (IU).</a:t>
            </a:r>
          </a:p>
          <a:p>
            <a:pPr fontAlgn="base">
              <a:lnSpc>
                <a:spcPct val="150000"/>
              </a:lnSpc>
              <a:buFont typeface="Wingdings" pitchFamily="2" charset="2"/>
              <a:buChar char="Ø"/>
            </a:pPr>
            <a:r>
              <a:rPr lang="en-US" sz="1800" b="1" dirty="0"/>
              <a:t>Conversion locks: </a:t>
            </a:r>
            <a:r>
              <a:rPr lang="en-US" sz="1800" dirty="0"/>
              <a:t>Shared with intent exclusive (SIX), Shared with intent update (SIU), and Update with intent exclusive (UIX).</a:t>
            </a:r>
          </a:p>
          <a:p>
            <a:pPr>
              <a:lnSpc>
                <a:spcPct val="150000"/>
              </a:lnSpc>
            </a:pP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Lock hierarchy</a:t>
            </a:r>
          </a:p>
        </p:txBody>
      </p:sp>
      <p:pic>
        <p:nvPicPr>
          <p:cNvPr id="1026" name="Picture 2" descr="D:\DY Patil\Academic Year 2023-24\Sem-I\DBMS\Theory\PPT\Unit 2\lockhierarchy.png"/>
          <p:cNvPicPr>
            <a:picLocks noChangeAspect="1" noChangeArrowheads="1"/>
          </p:cNvPicPr>
          <p:nvPr/>
        </p:nvPicPr>
        <p:blipFill>
          <a:blip r:embed="rId2" cstate="print"/>
          <a:srcRect/>
          <a:stretch>
            <a:fillRect/>
          </a:stretch>
        </p:blipFill>
        <p:spPr bwMode="auto">
          <a:xfrm>
            <a:off x="2819400" y="1676400"/>
            <a:ext cx="3843337" cy="4156015"/>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CALL</a:t>
            </a:r>
          </a:p>
        </p:txBody>
      </p:sp>
      <p:sp>
        <p:nvSpPr>
          <p:cNvPr id="3" name="Content Placeholder 2"/>
          <p:cNvSpPr>
            <a:spLocks noGrp="1"/>
          </p:cNvSpPr>
          <p:nvPr>
            <p:ph idx="1"/>
          </p:nvPr>
        </p:nvSpPr>
        <p:spPr>
          <a:xfrm>
            <a:off x="457200" y="1219200"/>
            <a:ext cx="8229600" cy="4906963"/>
          </a:xfrm>
        </p:spPr>
        <p:txBody>
          <a:bodyPr/>
          <a:lstStyle/>
          <a:p>
            <a:pPr algn="just"/>
            <a:r>
              <a:rPr lang="en-US" dirty="0"/>
              <a:t>A stored procedure is a pre-written SQL query that can be called multiple times and will run as the same. </a:t>
            </a:r>
          </a:p>
          <a:p>
            <a:pPr algn="just"/>
            <a:r>
              <a:rPr lang="en-US" dirty="0"/>
              <a:t>Like we can create a Stored procedure for Insert, select, update in SQL database. </a:t>
            </a:r>
          </a:p>
          <a:p>
            <a:pPr algn="just"/>
            <a:r>
              <a:rPr lang="en-US" dirty="0"/>
              <a:t>We can also pass parameters to the Stored procedures.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Autofit/>
          </a:bodyPr>
          <a:lstStyle/>
          <a:p>
            <a:r>
              <a:rPr lang="en-US" sz="2800" b="1" dirty="0"/>
              <a:t>Using CALL</a:t>
            </a:r>
          </a:p>
        </p:txBody>
      </p:sp>
      <p:sp>
        <p:nvSpPr>
          <p:cNvPr id="3" name="Content Placeholder 2"/>
          <p:cNvSpPr>
            <a:spLocks noGrp="1"/>
          </p:cNvSpPr>
          <p:nvPr>
            <p:ph idx="1"/>
          </p:nvPr>
        </p:nvSpPr>
        <p:spPr>
          <a:xfrm>
            <a:off x="457200" y="762000"/>
            <a:ext cx="8458200" cy="5867400"/>
          </a:xfrm>
        </p:spPr>
        <p:txBody>
          <a:bodyPr>
            <a:normAutofit fontScale="92500" lnSpcReduction="20000"/>
          </a:bodyPr>
          <a:lstStyle/>
          <a:p>
            <a:pPr>
              <a:buNone/>
            </a:pPr>
            <a:r>
              <a:rPr lang="en-US" b="1" dirty="0"/>
              <a:t>Step 1: </a:t>
            </a:r>
            <a:r>
              <a:rPr lang="en-US" dirty="0"/>
              <a:t>Creating Database</a:t>
            </a:r>
          </a:p>
          <a:p>
            <a:pPr lvl="2">
              <a:buFont typeface="Wingdings" pitchFamily="2" charset="2"/>
              <a:buChar char="Ø"/>
            </a:pPr>
            <a:r>
              <a:rPr lang="en-US" dirty="0"/>
              <a:t>CREATE DATABASE GFG</a:t>
            </a:r>
          </a:p>
          <a:p>
            <a:pPr>
              <a:buNone/>
            </a:pPr>
            <a:r>
              <a:rPr lang="en-US" b="1" dirty="0"/>
              <a:t>Step 2: </a:t>
            </a:r>
            <a:r>
              <a:rPr lang="en-US" dirty="0"/>
              <a:t>Using Database</a:t>
            </a:r>
          </a:p>
          <a:p>
            <a:pPr lvl="2">
              <a:buFont typeface="Wingdings" pitchFamily="2" charset="2"/>
              <a:buChar char="Ø"/>
            </a:pPr>
            <a:r>
              <a:rPr lang="en-US" dirty="0"/>
              <a:t>USE GFG 		</a:t>
            </a:r>
          </a:p>
          <a:p>
            <a:pPr>
              <a:buNone/>
            </a:pPr>
            <a:r>
              <a:rPr lang="en-US" b="1" dirty="0"/>
              <a:t>Step 3: </a:t>
            </a:r>
            <a:r>
              <a:rPr lang="en-US" dirty="0"/>
              <a:t>Create a table</a:t>
            </a:r>
          </a:p>
          <a:p>
            <a:pPr lvl="2">
              <a:buFont typeface="Wingdings" pitchFamily="2" charset="2"/>
              <a:buChar char="Ø"/>
            </a:pPr>
            <a:r>
              <a:rPr lang="en-US" dirty="0"/>
              <a:t>CREATE TABLE </a:t>
            </a:r>
            <a:r>
              <a:rPr lang="en-US" dirty="0" err="1"/>
              <a:t>gfgTutorial</a:t>
            </a:r>
            <a:r>
              <a:rPr lang="en-US" dirty="0"/>
              <a:t>( id integer, Name </a:t>
            </a:r>
            <a:r>
              <a:rPr lang="en-US" dirty="0" err="1"/>
              <a:t>varchar</a:t>
            </a:r>
            <a:r>
              <a:rPr lang="en-US" dirty="0"/>
              <a:t>(20) )</a:t>
            </a:r>
          </a:p>
          <a:p>
            <a:pPr>
              <a:buNone/>
            </a:pPr>
            <a:r>
              <a:rPr lang="en-US" b="1" dirty="0"/>
              <a:t>Step 4: </a:t>
            </a:r>
            <a:r>
              <a:rPr lang="en-US" dirty="0"/>
              <a:t>Describe the table</a:t>
            </a:r>
          </a:p>
          <a:p>
            <a:pPr lvl="2">
              <a:buFont typeface="Wingdings" pitchFamily="2" charset="2"/>
              <a:buChar char="Ø"/>
            </a:pPr>
            <a:r>
              <a:rPr lang="en-US" dirty="0" err="1"/>
              <a:t>sp_help</a:t>
            </a:r>
            <a:r>
              <a:rPr lang="en-US" dirty="0"/>
              <a:t> '</a:t>
            </a:r>
            <a:r>
              <a:rPr lang="en-US" dirty="0" err="1"/>
              <a:t>dbo.gfgTutorial</a:t>
            </a:r>
            <a:r>
              <a:rPr lang="en-US" dirty="0"/>
              <a:t>'</a:t>
            </a:r>
          </a:p>
          <a:p>
            <a:pPr>
              <a:buNone/>
            </a:pPr>
            <a:r>
              <a:rPr lang="en-US" b="1" dirty="0"/>
              <a:t>Step 5: </a:t>
            </a:r>
            <a:r>
              <a:rPr lang="en-US" dirty="0"/>
              <a:t>Insert some data into the table</a:t>
            </a:r>
          </a:p>
          <a:p>
            <a:pPr>
              <a:buNone/>
            </a:pPr>
            <a:r>
              <a:rPr lang="en-US" b="1" dirty="0"/>
              <a:t>Step 6</a:t>
            </a:r>
            <a:r>
              <a:rPr lang="en-US" dirty="0"/>
              <a:t>: Create a Stored procedure for Select all the rows from a table</a:t>
            </a:r>
          </a:p>
          <a:p>
            <a:pPr lvl="2">
              <a:buFont typeface="Wingdings" pitchFamily="2" charset="2"/>
              <a:buChar char="Ø"/>
            </a:pPr>
            <a:r>
              <a:rPr lang="en-US" dirty="0"/>
              <a:t>CREATE PROCEDURE </a:t>
            </a:r>
            <a:r>
              <a:rPr lang="en-US" dirty="0" err="1"/>
              <a:t>select_all_data</a:t>
            </a:r>
            <a:r>
              <a:rPr lang="en-US" dirty="0"/>
              <a:t> AS SELECT * FROM </a:t>
            </a:r>
            <a:r>
              <a:rPr lang="en-US" dirty="0" err="1"/>
              <a:t>gfgTutorial</a:t>
            </a:r>
            <a:r>
              <a:rPr lang="en-US" dirty="0"/>
              <a:t> ;</a:t>
            </a:r>
          </a:p>
          <a:p>
            <a:pPr lvl="2">
              <a:buFont typeface="Wingdings" pitchFamily="2" charset="2"/>
              <a:buChar char="Ø"/>
            </a:pPr>
            <a:r>
              <a:rPr lang="en-US" dirty="0"/>
              <a:t>EXEC </a:t>
            </a:r>
            <a:r>
              <a:rPr lang="en-US" dirty="0" err="1"/>
              <a:t>select_all_data</a:t>
            </a:r>
            <a:endParaRPr lang="en-US" dirty="0"/>
          </a:p>
        </p:txBody>
      </p:sp>
      <p:sp>
        <p:nvSpPr>
          <p:cNvPr id="4" name="TextBox 3"/>
          <p:cNvSpPr txBox="1"/>
          <p:nvPr/>
        </p:nvSpPr>
        <p:spPr>
          <a:xfrm>
            <a:off x="6934200" y="6400800"/>
            <a:ext cx="1524000" cy="369332"/>
          </a:xfrm>
          <a:prstGeom prst="rect">
            <a:avLst/>
          </a:prstGeom>
          <a:noFill/>
        </p:spPr>
        <p:txBody>
          <a:bodyPr wrap="square" rtlCol="0">
            <a:spAutoFit/>
          </a:bodyPr>
          <a:lstStyle/>
          <a:p>
            <a:r>
              <a:rPr lang="en-US" dirty="0">
                <a:solidFill>
                  <a:srgbClr val="00B050"/>
                </a:solidFill>
              </a:rPr>
              <a:t>Continue….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Parameterized Stored Procedure</a:t>
            </a:r>
          </a:p>
        </p:txBody>
      </p:sp>
      <p:sp>
        <p:nvSpPr>
          <p:cNvPr id="3" name="Content Placeholder 2"/>
          <p:cNvSpPr>
            <a:spLocks noGrp="1"/>
          </p:cNvSpPr>
          <p:nvPr>
            <p:ph idx="1"/>
          </p:nvPr>
        </p:nvSpPr>
        <p:spPr>
          <a:xfrm>
            <a:off x="457200" y="1066800"/>
            <a:ext cx="8229600" cy="5486400"/>
          </a:xfrm>
        </p:spPr>
        <p:txBody>
          <a:bodyPr>
            <a:normAutofit/>
          </a:bodyPr>
          <a:lstStyle/>
          <a:p>
            <a:r>
              <a:rPr lang="en-US" b="1" dirty="0"/>
              <a:t>Step 1:</a:t>
            </a:r>
            <a:r>
              <a:rPr lang="en-US" dirty="0"/>
              <a:t> Create a parameterized stored procedure to insert data in the table</a:t>
            </a:r>
          </a:p>
          <a:p>
            <a:pPr>
              <a:buFont typeface="Wingdings" pitchFamily="2" charset="2"/>
              <a:buChar char="Ø"/>
            </a:pPr>
            <a:r>
              <a:rPr lang="en-US" dirty="0"/>
              <a:t>CREATE PROCEDURE </a:t>
            </a:r>
            <a:r>
              <a:rPr lang="en-US" dirty="0" err="1"/>
              <a:t>insertData</a:t>
            </a:r>
            <a:r>
              <a:rPr lang="en-US" dirty="0"/>
              <a:t> @Name </a:t>
            </a:r>
            <a:r>
              <a:rPr lang="en-US" dirty="0" err="1"/>
              <a:t>varchar</a:t>
            </a:r>
            <a:r>
              <a:rPr lang="en-US" dirty="0"/>
              <a:t>(30), @id </a:t>
            </a:r>
            <a:r>
              <a:rPr lang="en-US" dirty="0" err="1"/>
              <a:t>varchar</a:t>
            </a:r>
            <a:r>
              <a:rPr lang="en-US" dirty="0"/>
              <a:t>(30) AS INSERT INTO </a:t>
            </a:r>
            <a:r>
              <a:rPr lang="en-US" dirty="0" err="1"/>
              <a:t>gfgTutorial</a:t>
            </a:r>
            <a:r>
              <a:rPr lang="en-US" dirty="0"/>
              <a:t> VALUES(@id, @Name)</a:t>
            </a:r>
          </a:p>
          <a:p>
            <a:pPr fontAlgn="base"/>
            <a:r>
              <a:rPr lang="en-US" b="1" dirty="0"/>
              <a:t>Step 2: </a:t>
            </a:r>
            <a:r>
              <a:rPr lang="en-US" dirty="0"/>
              <a:t>Execute stored procedure</a:t>
            </a:r>
          </a:p>
          <a:p>
            <a:pPr>
              <a:buFont typeface="Wingdings" pitchFamily="2" charset="2"/>
              <a:buChar char="Ø"/>
            </a:pPr>
            <a:r>
              <a:rPr lang="en-US" dirty="0"/>
              <a:t>EXEC </a:t>
            </a:r>
            <a:r>
              <a:rPr lang="en-US" dirty="0" err="1"/>
              <a:t>insertData</a:t>
            </a:r>
            <a:r>
              <a:rPr lang="en-US" dirty="0"/>
              <a:t> @Name = 'Inserted Name', @id = 6</a:t>
            </a:r>
          </a:p>
          <a:p>
            <a:r>
              <a:rPr lang="en-US" dirty="0"/>
              <a:t>Check the data is inserted or not.</a:t>
            </a:r>
          </a:p>
          <a:p>
            <a:pPr marL="342900" lvl="2" indent="-342900">
              <a:buFont typeface="Wingdings" pitchFamily="2" charset="2"/>
              <a:buChar char="Ø"/>
            </a:pPr>
            <a:r>
              <a:rPr lang="en-US" dirty="0"/>
              <a:t>EXEC </a:t>
            </a:r>
            <a:r>
              <a:rPr lang="en-US" dirty="0" err="1"/>
              <a:t>select_all_data</a:t>
            </a:r>
            <a:endParaRPr lang="en-US" dirty="0"/>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82562"/>
          </a:xfrm>
        </p:spPr>
        <p:txBody>
          <a:bodyPr>
            <a:noAutofit/>
          </a:bodyPr>
          <a:lstStyle/>
          <a:p>
            <a:r>
              <a:rPr lang="en-US" sz="2800" b="1" dirty="0"/>
              <a:t>DCL (Data Control Language)</a:t>
            </a:r>
            <a:endParaRPr lang="en-US" sz="2800" dirty="0"/>
          </a:p>
        </p:txBody>
      </p:sp>
      <p:sp>
        <p:nvSpPr>
          <p:cNvPr id="3" name="Content Placeholder 2"/>
          <p:cNvSpPr>
            <a:spLocks noGrp="1"/>
          </p:cNvSpPr>
          <p:nvPr>
            <p:ph idx="1"/>
          </p:nvPr>
        </p:nvSpPr>
        <p:spPr>
          <a:xfrm>
            <a:off x="457200" y="762000"/>
            <a:ext cx="8229600" cy="6096000"/>
          </a:xfrm>
        </p:spPr>
        <p:txBody>
          <a:bodyPr>
            <a:noAutofit/>
          </a:bodyPr>
          <a:lstStyle/>
          <a:p>
            <a:pPr fontAlgn="base">
              <a:lnSpc>
                <a:spcPct val="160000"/>
              </a:lnSpc>
            </a:pPr>
            <a:r>
              <a:rPr lang="en-US" sz="2000" dirty="0"/>
              <a:t>DCL includes commands such as GRANT and REVOKE which mainly deal with the rights, permissions, and other controls of the database system. </a:t>
            </a:r>
          </a:p>
          <a:p>
            <a:pPr fontAlgn="base">
              <a:lnSpc>
                <a:spcPct val="160000"/>
              </a:lnSpc>
            </a:pPr>
            <a:r>
              <a:rPr lang="en-US" sz="2000" dirty="0"/>
              <a:t>List of  DCL commands: </a:t>
            </a:r>
          </a:p>
          <a:p>
            <a:pPr fontAlgn="base">
              <a:lnSpc>
                <a:spcPct val="160000"/>
              </a:lnSpc>
              <a:buFont typeface="Wingdings" pitchFamily="2" charset="2"/>
              <a:buChar char="Ø"/>
            </a:pPr>
            <a:r>
              <a:rPr lang="en-US" sz="2000" b="1" u="sng" dirty="0"/>
              <a:t>GRANT: </a:t>
            </a:r>
            <a:r>
              <a:rPr lang="en-US" sz="2000" dirty="0"/>
              <a:t>This command</a:t>
            </a:r>
            <a:r>
              <a:rPr lang="en-US" sz="2000" b="1" dirty="0"/>
              <a:t> </a:t>
            </a:r>
            <a:r>
              <a:rPr lang="en-US" sz="2000" dirty="0"/>
              <a:t>gives users access privileges to the database.</a:t>
            </a:r>
          </a:p>
          <a:p>
            <a:pPr fontAlgn="base">
              <a:lnSpc>
                <a:spcPct val="160000"/>
              </a:lnSpc>
            </a:pPr>
            <a:r>
              <a:rPr lang="en-US" sz="2000" b="1" dirty="0"/>
              <a:t>Syntax:</a:t>
            </a:r>
            <a:endParaRPr lang="en-US" sz="2000" dirty="0"/>
          </a:p>
          <a:p>
            <a:pPr fontAlgn="base">
              <a:lnSpc>
                <a:spcPct val="160000"/>
              </a:lnSpc>
            </a:pPr>
            <a:r>
              <a:rPr lang="en-US" sz="2000" dirty="0"/>
              <a:t>GRANT SELECT, UPDATE ON MY_TABLE TO SOME_USER, ANOTHER_USER;  </a:t>
            </a:r>
          </a:p>
          <a:p>
            <a:pPr fontAlgn="base">
              <a:lnSpc>
                <a:spcPct val="160000"/>
              </a:lnSpc>
              <a:buFont typeface="Wingdings" pitchFamily="2" charset="2"/>
              <a:buChar char="Ø"/>
            </a:pPr>
            <a:r>
              <a:rPr lang="en-US" sz="2000" b="1" u="sng" dirty="0"/>
              <a:t>REVOKE:</a:t>
            </a:r>
            <a:r>
              <a:rPr lang="en-US" sz="2000" b="1" dirty="0"/>
              <a:t> </a:t>
            </a:r>
            <a:r>
              <a:rPr lang="en-US" sz="2000" dirty="0"/>
              <a:t>This command withdraws the user’s access privileges given by using the GRANT command.</a:t>
            </a:r>
          </a:p>
          <a:p>
            <a:pPr fontAlgn="base">
              <a:lnSpc>
                <a:spcPct val="160000"/>
              </a:lnSpc>
            </a:pPr>
            <a:r>
              <a:rPr lang="en-US" sz="2000" b="1" dirty="0"/>
              <a:t>Syntax:</a:t>
            </a:r>
            <a:endParaRPr lang="en-US" sz="2000" dirty="0"/>
          </a:p>
          <a:p>
            <a:pPr fontAlgn="base">
              <a:lnSpc>
                <a:spcPct val="160000"/>
              </a:lnSpc>
            </a:pPr>
            <a:r>
              <a:rPr lang="en-US" sz="2000" dirty="0"/>
              <a:t>REVOKE SELECT, UPDATE ON MY_TABLE FROM USER1, USER2;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b="1" dirty="0"/>
              <a:t>TCL (Transaction Control Language)</a:t>
            </a:r>
            <a:endParaRPr lang="en-US" dirty="0"/>
          </a:p>
        </p:txBody>
      </p:sp>
      <p:sp>
        <p:nvSpPr>
          <p:cNvPr id="3" name="Content Placeholder 2"/>
          <p:cNvSpPr>
            <a:spLocks noGrp="1"/>
          </p:cNvSpPr>
          <p:nvPr>
            <p:ph idx="1"/>
          </p:nvPr>
        </p:nvSpPr>
        <p:spPr>
          <a:xfrm>
            <a:off x="457200" y="990600"/>
            <a:ext cx="8229600" cy="5486400"/>
          </a:xfrm>
        </p:spPr>
        <p:txBody>
          <a:bodyPr>
            <a:normAutofit fontScale="47500" lnSpcReduction="20000"/>
          </a:bodyPr>
          <a:lstStyle/>
          <a:p>
            <a:pPr algn="just" fontAlgn="base">
              <a:lnSpc>
                <a:spcPct val="170000"/>
              </a:lnSpc>
            </a:pPr>
            <a:r>
              <a:rPr lang="en-US" dirty="0"/>
              <a:t>Transactions group a set of tasks into a single execution unit. Each transaction begins with a specific task and ends when all the tasks in the group successfully complete. If any of the tasks fail, the transaction fails. </a:t>
            </a:r>
          </a:p>
          <a:p>
            <a:pPr algn="just" fontAlgn="base">
              <a:lnSpc>
                <a:spcPct val="170000"/>
              </a:lnSpc>
            </a:pPr>
            <a:r>
              <a:rPr lang="en-US" dirty="0"/>
              <a:t>Therefore, a transaction has only two results: success or failure. </a:t>
            </a:r>
          </a:p>
          <a:p>
            <a:pPr algn="just" fontAlgn="base">
              <a:lnSpc>
                <a:spcPct val="170000"/>
              </a:lnSpc>
              <a:buFont typeface="Wingdings" pitchFamily="2" charset="2"/>
              <a:buChar char="Ø"/>
            </a:pPr>
            <a:r>
              <a:rPr lang="en-US" b="1" dirty="0"/>
              <a:t>BEGIN:</a:t>
            </a:r>
            <a:r>
              <a:rPr lang="en-US" dirty="0"/>
              <a:t> Opens a Transaction.</a:t>
            </a:r>
          </a:p>
          <a:p>
            <a:pPr algn="just" fontAlgn="base">
              <a:lnSpc>
                <a:spcPct val="170000"/>
              </a:lnSpc>
              <a:buFont typeface="Wingdings" pitchFamily="2" charset="2"/>
              <a:buChar char="Ø"/>
            </a:pPr>
            <a:r>
              <a:rPr lang="en-US" b="1" u="sng" dirty="0"/>
              <a:t>COMMIT</a:t>
            </a:r>
            <a:r>
              <a:rPr lang="en-US" b="1" dirty="0"/>
              <a:t>: </a:t>
            </a:r>
            <a:r>
              <a:rPr lang="en-US" dirty="0"/>
              <a:t>Commits a Transaction.</a:t>
            </a:r>
          </a:p>
          <a:p>
            <a:pPr lvl="1" algn="just" fontAlgn="base">
              <a:lnSpc>
                <a:spcPct val="170000"/>
              </a:lnSpc>
              <a:buNone/>
            </a:pPr>
            <a:r>
              <a:rPr lang="en-US" b="1" dirty="0"/>
              <a:t>Syntax:</a:t>
            </a:r>
            <a:endParaRPr lang="en-US" dirty="0"/>
          </a:p>
          <a:p>
            <a:pPr lvl="1" algn="just" fontAlgn="base">
              <a:lnSpc>
                <a:spcPct val="170000"/>
              </a:lnSpc>
              <a:buNone/>
            </a:pPr>
            <a:r>
              <a:rPr lang="en-US" dirty="0"/>
              <a:t>COMMIT;  </a:t>
            </a:r>
          </a:p>
          <a:p>
            <a:pPr algn="just" fontAlgn="base">
              <a:lnSpc>
                <a:spcPct val="170000"/>
              </a:lnSpc>
              <a:buFont typeface="Wingdings" pitchFamily="2" charset="2"/>
              <a:buChar char="Ø"/>
            </a:pPr>
            <a:r>
              <a:rPr lang="en-US" b="1" u="sng" dirty="0"/>
              <a:t>ROLLBACK</a:t>
            </a:r>
            <a:r>
              <a:rPr lang="en-US" b="1" dirty="0"/>
              <a:t>: </a:t>
            </a:r>
            <a:r>
              <a:rPr lang="en-US" dirty="0"/>
              <a:t>Rollbacks a transaction in case of any error occurs.</a:t>
            </a:r>
          </a:p>
          <a:p>
            <a:pPr lvl="1" algn="just" fontAlgn="base">
              <a:lnSpc>
                <a:spcPct val="170000"/>
              </a:lnSpc>
              <a:buNone/>
            </a:pPr>
            <a:r>
              <a:rPr lang="en-US" b="1" dirty="0"/>
              <a:t>Syntax:</a:t>
            </a:r>
            <a:endParaRPr lang="en-US" dirty="0"/>
          </a:p>
          <a:p>
            <a:pPr lvl="1" algn="just" fontAlgn="base">
              <a:lnSpc>
                <a:spcPct val="170000"/>
              </a:lnSpc>
              <a:buNone/>
            </a:pPr>
            <a:r>
              <a:rPr lang="en-US" dirty="0"/>
              <a:t>ROLLBACK;  </a:t>
            </a:r>
          </a:p>
          <a:p>
            <a:pPr algn="just" fontAlgn="base">
              <a:lnSpc>
                <a:spcPct val="170000"/>
              </a:lnSpc>
              <a:buFont typeface="Wingdings" pitchFamily="2" charset="2"/>
              <a:buChar char="Ø"/>
            </a:pPr>
            <a:r>
              <a:rPr lang="en-US" b="1" u="sng" dirty="0"/>
              <a:t>SAVEPOINT</a:t>
            </a:r>
            <a:r>
              <a:rPr lang="en-US" b="1" dirty="0"/>
              <a:t>: </a:t>
            </a:r>
            <a:r>
              <a:rPr lang="en-US" dirty="0"/>
              <a:t>Sets a save point within a transaction.</a:t>
            </a:r>
          </a:p>
          <a:p>
            <a:pPr lvl="1" algn="just" fontAlgn="base">
              <a:lnSpc>
                <a:spcPct val="170000"/>
              </a:lnSpc>
              <a:buNone/>
            </a:pPr>
            <a:r>
              <a:rPr lang="en-US" b="1" dirty="0"/>
              <a:t>Syntax:</a:t>
            </a:r>
            <a:endParaRPr lang="en-US" dirty="0"/>
          </a:p>
          <a:p>
            <a:pPr lvl="1" algn="just" fontAlgn="base">
              <a:lnSpc>
                <a:spcPct val="170000"/>
              </a:lnSpc>
              <a:buNone/>
            </a:pPr>
            <a:r>
              <a:rPr lang="en-US" dirty="0"/>
              <a:t>SAVEPOINT SAVEPOINT_NAME;  </a:t>
            </a:r>
          </a:p>
          <a:p>
            <a:pPr algn="just">
              <a:lnSpc>
                <a:spcPct val="170000"/>
              </a:lnSpc>
            </a:pP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SQL Operators. </a:t>
            </a:r>
          </a:p>
        </p:txBody>
      </p:sp>
      <p:sp>
        <p:nvSpPr>
          <p:cNvPr id="3" name="Content Placeholder 2"/>
          <p:cNvSpPr>
            <a:spLocks noGrp="1"/>
          </p:cNvSpPr>
          <p:nvPr>
            <p:ph idx="1"/>
          </p:nvPr>
        </p:nvSpPr>
        <p:spPr>
          <a:xfrm>
            <a:off x="457200" y="1219200"/>
            <a:ext cx="8229600" cy="4906963"/>
          </a:xfrm>
        </p:spPr>
        <p:txBody>
          <a:bodyPr/>
          <a:lstStyle/>
          <a:p>
            <a:pPr fontAlgn="base"/>
            <a:r>
              <a:rPr lang="en-US" b="1" dirty="0"/>
              <a:t>Types of SQL Operators</a:t>
            </a:r>
          </a:p>
          <a:p>
            <a:pPr fontAlgn="base"/>
            <a:r>
              <a:rPr lang="en-US" u="sng" dirty="0"/>
              <a:t>Arithmetic operator</a:t>
            </a:r>
            <a:endParaRPr lang="en-US" dirty="0"/>
          </a:p>
          <a:p>
            <a:pPr fontAlgn="base"/>
            <a:r>
              <a:rPr lang="en-US" u="sng" dirty="0"/>
              <a:t>Comparison operator</a:t>
            </a:r>
          </a:p>
          <a:p>
            <a:pPr fontAlgn="base"/>
            <a:r>
              <a:rPr lang="en-US" u="sng" dirty="0"/>
              <a:t>Logical operator</a:t>
            </a:r>
            <a:endParaRPr lang="en-US" dirty="0"/>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Arithmetic Operators</a:t>
            </a:r>
            <a:br>
              <a:rPr lang="en-US" b="1" dirty="0"/>
            </a:b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143000" y="990600"/>
            <a:ext cx="7011995" cy="3852862"/>
          </a:xfrm>
          <a:prstGeom prst="rect">
            <a:avLst/>
          </a:prstGeom>
          <a:noFill/>
          <a:ln w="9525">
            <a:noFill/>
            <a:miter lim="800000"/>
            <a:headEnd/>
            <a:tailEnd/>
          </a:ln>
        </p:spPr>
      </p:pic>
      <p:sp>
        <p:nvSpPr>
          <p:cNvPr id="2051" name="Rectangle 3"/>
          <p:cNvSpPr>
            <a:spLocks noChangeArrowheads="1"/>
          </p:cNvSpPr>
          <p:nvPr/>
        </p:nvSpPr>
        <p:spPr bwMode="auto">
          <a:xfrm>
            <a:off x="685800" y="5410200"/>
            <a:ext cx="7772400" cy="705293"/>
          </a:xfrm>
          <a:prstGeom prst="rect">
            <a:avLst/>
          </a:prstGeom>
          <a:solidFill>
            <a:srgbClr val="FFFFFF"/>
          </a:solidFill>
          <a:ln w="9525">
            <a:noFill/>
            <a:miter lim="800000"/>
            <a:headEnd/>
            <a:tailEnd/>
          </a:ln>
          <a:effectLst/>
        </p:spPr>
        <p:txBody>
          <a:bodyPr vert="horz" wrap="squar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273239"/>
                </a:solidFill>
                <a:effectLst/>
                <a:latin typeface="Nunito"/>
                <a:cs typeface="Arial" pitchFamily="34" charset="0"/>
              </a:rPr>
              <a:t>Example Query:</a:t>
            </a:r>
            <a:endParaRPr kumimoji="0" lang="en-US" sz="2000" b="0" i="0" u="none" strike="noStrike" cap="none" normalizeH="0" baseline="0" dirty="0">
              <a:ln>
                <a:noFill/>
              </a:ln>
              <a:solidFill>
                <a:srgbClr val="273239"/>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273239"/>
                </a:solidFill>
                <a:effectLst/>
                <a:latin typeface="Consolas" pitchFamily="49" charset="0"/>
                <a:cs typeface="Consolas" pitchFamily="49" charset="0"/>
              </a:rPr>
              <a:t>SELECT * FROM employee WHERE </a:t>
            </a:r>
            <a:r>
              <a:rPr kumimoji="0" lang="en-US" sz="2000" b="0" i="0" u="none" strike="noStrike" cap="none" normalizeH="0" baseline="0" dirty="0" err="1">
                <a:ln>
                  <a:noFill/>
                </a:ln>
                <a:solidFill>
                  <a:srgbClr val="273239"/>
                </a:solidFill>
                <a:effectLst/>
                <a:latin typeface="Consolas" pitchFamily="49" charset="0"/>
                <a:cs typeface="Consolas" pitchFamily="49" charset="0"/>
              </a:rPr>
              <a:t>emp_city</a:t>
            </a:r>
            <a:r>
              <a:rPr kumimoji="0" lang="en-US" sz="2000" b="0" i="0" u="none" strike="noStrike" cap="none" normalizeH="0" baseline="0" dirty="0">
                <a:ln>
                  <a:noFill/>
                </a:ln>
                <a:solidFill>
                  <a:srgbClr val="273239"/>
                </a:solidFill>
                <a:effectLst/>
                <a:latin typeface="Consolas" pitchFamily="49" charset="0"/>
                <a:cs typeface="Consolas" pitchFamily="49" charset="0"/>
              </a:rPr>
              <a:t> NOT LIKE 'A%';</a:t>
            </a:r>
            <a:r>
              <a:rPr kumimoji="0" lang="en-US" sz="1100" b="0" i="0" u="none" strike="noStrike" cap="none" normalizeH="0" baseline="0" dirty="0">
                <a:ln>
                  <a:noFill/>
                </a:ln>
                <a:solidFill>
                  <a:schemeClr val="tx1"/>
                </a:solidFill>
                <a:effectLst/>
                <a:latin typeface="Arial" pitchFamily="34" charset="0"/>
                <a:cs typeface="Arial" pitchFamily="34" charset="0"/>
              </a:rPr>
              <a:t> </a:t>
            </a: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Comparison Operators</a:t>
            </a:r>
            <a:endParaRPr lang="en-US" dirty="0"/>
          </a:p>
        </p:txBody>
      </p:sp>
      <p:pic>
        <p:nvPicPr>
          <p:cNvPr id="59394" name="Picture 2"/>
          <p:cNvPicPr>
            <a:picLocks noChangeAspect="1" noChangeArrowheads="1"/>
          </p:cNvPicPr>
          <p:nvPr/>
        </p:nvPicPr>
        <p:blipFill>
          <a:blip r:embed="rId2" cstate="print"/>
          <a:srcRect/>
          <a:stretch>
            <a:fillRect/>
          </a:stretch>
        </p:blipFill>
        <p:spPr bwMode="auto">
          <a:xfrm>
            <a:off x="914400" y="1752600"/>
            <a:ext cx="3019425" cy="4222655"/>
          </a:xfrm>
          <a:prstGeom prst="rect">
            <a:avLst/>
          </a:prstGeom>
          <a:noFill/>
          <a:ln w="9525">
            <a:noFill/>
            <a:miter lim="800000"/>
            <a:headEnd/>
            <a:tailEnd/>
          </a:ln>
        </p:spPr>
      </p:pic>
      <p:sp>
        <p:nvSpPr>
          <p:cNvPr id="59395" name="Rectangle 3"/>
          <p:cNvSpPr>
            <a:spLocks noChangeArrowheads="1"/>
          </p:cNvSpPr>
          <p:nvPr/>
        </p:nvSpPr>
        <p:spPr bwMode="auto">
          <a:xfrm>
            <a:off x="4343400" y="2192732"/>
            <a:ext cx="4419600" cy="643738"/>
          </a:xfrm>
          <a:prstGeom prst="rect">
            <a:avLst/>
          </a:prstGeom>
          <a:solidFill>
            <a:srgbClr val="FFFFFF"/>
          </a:solidFill>
          <a:ln w="9525">
            <a:noFill/>
            <a:miter lim="800000"/>
            <a:headEnd/>
            <a:tailEnd/>
          </a:ln>
          <a:effectLst/>
        </p:spPr>
        <p:txBody>
          <a:bodyPr vert="horz" wrap="squar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a:ln>
                  <a:noFill/>
                </a:ln>
                <a:solidFill>
                  <a:srgbClr val="273239"/>
                </a:solidFill>
                <a:effectLst/>
                <a:latin typeface="Nunito"/>
                <a:cs typeface="Arial" pitchFamily="34" charset="0"/>
              </a:rPr>
              <a:t>Example Query:</a:t>
            </a:r>
            <a:endParaRPr kumimoji="0" lang="en-US" b="0" i="0" u="none" strike="noStrike" cap="none" normalizeH="0" baseline="0" dirty="0">
              <a:ln>
                <a:noFill/>
              </a:ln>
              <a:solidFill>
                <a:srgbClr val="273239"/>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273239"/>
                </a:solidFill>
                <a:effectLst/>
                <a:latin typeface="Consolas" pitchFamily="49" charset="0"/>
                <a:cs typeface="Consolas" pitchFamily="49" charset="0"/>
              </a:rPr>
              <a:t>SELECT * FROM MATHS WHERE MARKS=50;</a:t>
            </a:r>
            <a:r>
              <a:rPr kumimoji="0" lang="en-US" sz="1050" b="0" i="0" u="none" strike="noStrike" cap="none" normalizeH="0" baseline="0" dirty="0">
                <a:ln>
                  <a:noFill/>
                </a:ln>
                <a:solidFill>
                  <a:schemeClr val="tx1"/>
                </a:solidFill>
                <a:effectLst/>
                <a:latin typeface="Arial" pitchFamily="34" charset="0"/>
                <a:cs typeface="Arial" pitchFamily="34" charset="0"/>
              </a:rPr>
              <a:t> </a:t>
            </a:r>
            <a:endParaRPr kumimoji="0" lang="en-US" sz="28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pPr fontAlgn="base"/>
            <a:r>
              <a:rPr lang="en-US" b="1" dirty="0"/>
              <a:t>Logical Operators</a:t>
            </a:r>
            <a:endParaRPr lang="en-US" dirty="0"/>
          </a:p>
        </p:txBody>
      </p:sp>
      <p:pic>
        <p:nvPicPr>
          <p:cNvPr id="60418" name="Picture 2"/>
          <p:cNvPicPr>
            <a:picLocks noChangeAspect="1" noChangeArrowheads="1"/>
          </p:cNvPicPr>
          <p:nvPr/>
        </p:nvPicPr>
        <p:blipFill>
          <a:blip r:embed="rId2" cstate="print"/>
          <a:srcRect/>
          <a:stretch>
            <a:fillRect/>
          </a:stretch>
        </p:blipFill>
        <p:spPr bwMode="auto">
          <a:xfrm>
            <a:off x="1066800" y="1295400"/>
            <a:ext cx="7155072" cy="3370834"/>
          </a:xfrm>
          <a:prstGeom prst="rect">
            <a:avLst/>
          </a:prstGeom>
          <a:noFill/>
          <a:ln w="9525">
            <a:noFill/>
            <a:miter lim="800000"/>
            <a:headEnd/>
            <a:tailEnd/>
          </a:ln>
        </p:spPr>
      </p:pic>
      <p:sp>
        <p:nvSpPr>
          <p:cNvPr id="60419" name="Rectangle 3"/>
          <p:cNvSpPr>
            <a:spLocks noChangeArrowheads="1"/>
          </p:cNvSpPr>
          <p:nvPr/>
        </p:nvSpPr>
        <p:spPr bwMode="auto">
          <a:xfrm>
            <a:off x="304800" y="5195310"/>
            <a:ext cx="8839200" cy="582182"/>
          </a:xfrm>
          <a:prstGeom prst="rect">
            <a:avLst/>
          </a:prstGeom>
          <a:solidFill>
            <a:srgbClr val="FFFFFF"/>
          </a:solidFill>
          <a:ln w="9525">
            <a:noFill/>
            <a:miter lim="800000"/>
            <a:headEnd/>
            <a:tailEnd/>
          </a:ln>
          <a:effectLst/>
        </p:spPr>
        <p:txBody>
          <a:bodyPr vert="horz" wrap="squar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rgbClr val="273239"/>
                </a:solidFill>
                <a:effectLst/>
                <a:latin typeface="Nunito"/>
                <a:cs typeface="Arial" pitchFamily="34" charset="0"/>
              </a:rPr>
              <a:t>Example Query:</a:t>
            </a:r>
            <a:endParaRPr kumimoji="0" lang="en-US" sz="1600" b="0" i="0" u="none" strike="noStrike" cap="none" normalizeH="0" baseline="0" dirty="0">
              <a:ln>
                <a:noFill/>
              </a:ln>
              <a:solidFill>
                <a:srgbClr val="273239"/>
              </a:solidFill>
              <a:effectLst/>
              <a:latin typeface="Consolas" pitchFamily="49" charset="0"/>
              <a:cs typeface="Consolas"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273239"/>
                </a:solidFill>
                <a:effectLst/>
                <a:latin typeface="Consolas" pitchFamily="49" charset="0"/>
                <a:cs typeface="Consolas" pitchFamily="49" charset="0"/>
              </a:rPr>
              <a:t>SELECT * FROM employee WHERE </a:t>
            </a:r>
            <a:r>
              <a:rPr kumimoji="0" lang="en-US" sz="1600" b="0" i="0" u="none" strike="noStrike" cap="none" normalizeH="0" baseline="0" dirty="0" err="1">
                <a:ln>
                  <a:noFill/>
                </a:ln>
                <a:solidFill>
                  <a:srgbClr val="273239"/>
                </a:solidFill>
                <a:effectLst/>
                <a:latin typeface="Consolas" pitchFamily="49" charset="0"/>
                <a:cs typeface="Consolas" pitchFamily="49" charset="0"/>
              </a:rPr>
              <a:t>emp_city</a:t>
            </a:r>
            <a:r>
              <a:rPr kumimoji="0" lang="en-US" sz="1600" b="0" i="0" u="none" strike="noStrike" cap="none" normalizeH="0" baseline="0" dirty="0">
                <a:ln>
                  <a:noFill/>
                </a:ln>
                <a:solidFill>
                  <a:srgbClr val="273239"/>
                </a:solidFill>
                <a:effectLst/>
                <a:latin typeface="Consolas" pitchFamily="49" charset="0"/>
                <a:cs typeface="Consolas" pitchFamily="49" charset="0"/>
              </a:rPr>
              <a:t> = 'Allahabad' AND </a:t>
            </a:r>
            <a:r>
              <a:rPr kumimoji="0" lang="en-US" sz="1600" b="0" i="0" u="none" strike="noStrike" cap="none" normalizeH="0" baseline="0" dirty="0" err="1">
                <a:ln>
                  <a:noFill/>
                </a:ln>
                <a:solidFill>
                  <a:srgbClr val="273239"/>
                </a:solidFill>
                <a:effectLst/>
                <a:latin typeface="Consolas" pitchFamily="49" charset="0"/>
                <a:cs typeface="Consolas" pitchFamily="49" charset="0"/>
              </a:rPr>
              <a:t>emp_country</a:t>
            </a:r>
            <a:r>
              <a:rPr kumimoji="0" lang="en-US" sz="1600" b="0" i="0" u="none" strike="noStrike" cap="none" normalizeH="0" baseline="0" dirty="0">
                <a:ln>
                  <a:noFill/>
                </a:ln>
                <a:solidFill>
                  <a:srgbClr val="273239"/>
                </a:solidFill>
                <a:effectLst/>
                <a:latin typeface="Consolas" pitchFamily="49" charset="0"/>
                <a:cs typeface="Consolas" pitchFamily="49" charset="0"/>
              </a:rPr>
              <a:t> = 'India';</a:t>
            </a:r>
            <a:r>
              <a:rPr kumimoji="0" lang="en-US" sz="1000" b="0" i="0" u="none" strike="noStrike" cap="none" normalizeH="0" baseline="0" dirty="0">
                <a:ln>
                  <a:noFill/>
                </a:ln>
                <a:solidFill>
                  <a:schemeClr val="tx1"/>
                </a:solidFill>
                <a:effectLst/>
                <a:latin typeface="Arial" pitchFamily="34" charset="0"/>
                <a:cs typeface="Arial" pitchFamily="34" charset="0"/>
              </a:rPr>
              <a:t> </a:t>
            </a:r>
            <a:endParaRPr kumimoji="0" lang="en-US" sz="24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Special Operators</a:t>
            </a:r>
            <a:endParaRPr lang="en-US" dirty="0"/>
          </a:p>
        </p:txBody>
      </p:sp>
      <p:sp>
        <p:nvSpPr>
          <p:cNvPr id="3" name="Content Placeholder 2"/>
          <p:cNvSpPr>
            <a:spLocks noGrp="1"/>
          </p:cNvSpPr>
          <p:nvPr>
            <p:ph idx="1"/>
          </p:nvPr>
        </p:nvSpPr>
        <p:spPr/>
        <p:txBody>
          <a:bodyPr/>
          <a:lstStyle/>
          <a:p>
            <a:endParaRPr lang="en-US"/>
          </a:p>
        </p:txBody>
      </p:sp>
      <p:pic>
        <p:nvPicPr>
          <p:cNvPr id="61443" name="Picture 3"/>
          <p:cNvPicPr>
            <a:picLocks noChangeAspect="1" noChangeArrowheads="1"/>
          </p:cNvPicPr>
          <p:nvPr/>
        </p:nvPicPr>
        <p:blipFill>
          <a:blip r:embed="rId2" cstate="print"/>
          <a:srcRect/>
          <a:stretch>
            <a:fillRect/>
          </a:stretch>
        </p:blipFill>
        <p:spPr bwMode="auto">
          <a:xfrm>
            <a:off x="685800" y="838200"/>
            <a:ext cx="7924800" cy="5105400"/>
          </a:xfrm>
          <a:prstGeom prst="rect">
            <a:avLst/>
          </a:prstGeom>
          <a:noFill/>
          <a:ln w="9525">
            <a:noFill/>
            <a:miter lim="800000"/>
            <a:headEnd/>
            <a:tailEnd/>
          </a:ln>
        </p:spPr>
      </p:pic>
      <p:sp>
        <p:nvSpPr>
          <p:cNvPr id="61444" name="Rectangle 4"/>
          <p:cNvSpPr>
            <a:spLocks noChangeArrowheads="1"/>
          </p:cNvSpPr>
          <p:nvPr/>
        </p:nvSpPr>
        <p:spPr bwMode="auto">
          <a:xfrm>
            <a:off x="457200" y="6499616"/>
            <a:ext cx="8534400" cy="366739"/>
          </a:xfrm>
          <a:prstGeom prst="rect">
            <a:avLst/>
          </a:prstGeom>
          <a:noFill/>
          <a:ln w="9525">
            <a:noFill/>
            <a:miter lim="800000"/>
            <a:headEnd/>
            <a:tailEnd/>
          </a:ln>
          <a:effectLst/>
        </p:spPr>
        <p:txBody>
          <a:bodyPr vert="horz" wrap="squar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rgbClr val="273239"/>
                </a:solidFill>
                <a:effectLst/>
                <a:latin typeface="Consolas" pitchFamily="49" charset="0"/>
                <a:cs typeface="Consolas" pitchFamily="49" charset="0"/>
              </a:rPr>
              <a:t>SELECT * FROM employee WHERE </a:t>
            </a:r>
            <a:r>
              <a:rPr kumimoji="0" lang="en-US" b="0" i="0" u="none" strike="noStrike" cap="none" normalizeH="0" baseline="0" dirty="0" err="1">
                <a:ln>
                  <a:noFill/>
                </a:ln>
                <a:solidFill>
                  <a:srgbClr val="273239"/>
                </a:solidFill>
                <a:effectLst/>
                <a:latin typeface="Consolas" pitchFamily="49" charset="0"/>
                <a:cs typeface="Consolas" pitchFamily="49" charset="0"/>
              </a:rPr>
              <a:t>emp_id</a:t>
            </a:r>
            <a:r>
              <a:rPr kumimoji="0" lang="en-US" b="0" i="0" u="none" strike="noStrike" cap="none" normalizeH="0" baseline="0" dirty="0">
                <a:ln>
                  <a:noFill/>
                </a:ln>
                <a:solidFill>
                  <a:srgbClr val="273239"/>
                </a:solidFill>
                <a:effectLst/>
                <a:latin typeface="Consolas" pitchFamily="49" charset="0"/>
                <a:cs typeface="Consolas" pitchFamily="49" charset="0"/>
              </a:rPr>
              <a:t> BETWEEN 101 AND 104;</a:t>
            </a:r>
            <a:r>
              <a:rPr kumimoji="0" lang="en-US" sz="1050" b="0" i="0" u="none" strike="noStrike" cap="none" normalizeH="0" baseline="0" dirty="0">
                <a:ln>
                  <a:noFill/>
                </a:ln>
                <a:solidFill>
                  <a:schemeClr val="tx1"/>
                </a:solidFill>
                <a:effectLst/>
                <a:latin typeface="Arial" pitchFamily="34" charset="0"/>
                <a:cs typeface="Arial" pitchFamily="34" charset="0"/>
              </a:rPr>
              <a:t> </a:t>
            </a:r>
            <a:endParaRPr kumimoji="0" lang="en-US" sz="28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p:cNvPicPr>
            <a:picLocks noChangeAspect="1" noChangeArrowheads="1"/>
          </p:cNvPicPr>
          <p:nvPr/>
        </p:nvPicPr>
        <p:blipFill>
          <a:blip r:embed="rId2" cstate="print"/>
          <a:srcRect/>
          <a:stretch>
            <a:fillRect/>
          </a:stretch>
        </p:blipFill>
        <p:spPr bwMode="auto">
          <a:xfrm>
            <a:off x="533400" y="195681"/>
            <a:ext cx="3276600" cy="4689536"/>
          </a:xfrm>
          <a:prstGeom prst="rect">
            <a:avLst/>
          </a:prstGeom>
          <a:noFill/>
          <a:ln w="9525">
            <a:noFill/>
            <a:miter lim="800000"/>
            <a:headEnd/>
            <a:tailEnd/>
          </a:ln>
        </p:spPr>
      </p:pic>
      <p:sp>
        <p:nvSpPr>
          <p:cNvPr id="5" name="Rectangle 4"/>
          <p:cNvSpPr/>
          <p:nvPr/>
        </p:nvSpPr>
        <p:spPr>
          <a:xfrm>
            <a:off x="4267200" y="533400"/>
            <a:ext cx="4572000" cy="2308324"/>
          </a:xfrm>
          <a:prstGeom prst="rect">
            <a:avLst/>
          </a:prstGeom>
        </p:spPr>
        <p:txBody>
          <a:bodyPr>
            <a:spAutoFit/>
          </a:bodyPr>
          <a:lstStyle/>
          <a:p>
            <a:pPr algn="just"/>
            <a:r>
              <a:rPr lang="en-US" b="1" dirty="0"/>
              <a:t>Explanation</a:t>
            </a:r>
            <a:br>
              <a:rPr lang="en-US" dirty="0"/>
            </a:br>
            <a:r>
              <a:rPr lang="en-US" dirty="0"/>
              <a:t>The instructors with salary &gt; (salary of some instructor in the ‘Computer Science’ department) get returned. The salaries in the ‘Computer Science’ department are 1.3, 2 and 2. This implies any instructor with a salary greater than 1.3 can be included in the final result.</a:t>
            </a:r>
          </a:p>
        </p:txBody>
      </p:sp>
      <p:sp>
        <p:nvSpPr>
          <p:cNvPr id="6" name="TextBox 5"/>
          <p:cNvSpPr txBox="1"/>
          <p:nvPr/>
        </p:nvSpPr>
        <p:spPr>
          <a:xfrm>
            <a:off x="152400" y="4800600"/>
            <a:ext cx="8686800" cy="2031325"/>
          </a:xfrm>
          <a:prstGeom prst="rect">
            <a:avLst/>
          </a:prstGeom>
          <a:noFill/>
        </p:spPr>
        <p:txBody>
          <a:bodyPr wrap="square" rtlCol="0">
            <a:spAutoFit/>
          </a:bodyPr>
          <a:lstStyle/>
          <a:p>
            <a:r>
              <a:rPr lang="en-US" dirty="0"/>
              <a:t>select name from instructor where Salary &gt; some(select Salary from instructor where dept='Computer Science');</a:t>
            </a:r>
          </a:p>
          <a:p>
            <a:endParaRPr lang="en-US" dirty="0"/>
          </a:p>
          <a:p>
            <a:r>
              <a:rPr lang="en-US" dirty="0"/>
              <a:t>Output:</a:t>
            </a:r>
          </a:p>
          <a:p>
            <a:r>
              <a:rPr lang="en-US" dirty="0" err="1"/>
              <a:t>Visweswaran</a:t>
            </a:r>
            <a:endParaRPr lang="en-US" dirty="0"/>
          </a:p>
          <a:p>
            <a:r>
              <a:rPr lang="en-US" dirty="0"/>
              <a:t>Samantha</a:t>
            </a:r>
          </a:p>
          <a:p>
            <a:r>
              <a:rPr lang="en-US" dirty="0" err="1"/>
              <a:t>Debarka</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SQL Clauses</a:t>
            </a:r>
          </a:p>
        </p:txBody>
      </p:sp>
      <p:pic>
        <p:nvPicPr>
          <p:cNvPr id="63490" name="Picture 2"/>
          <p:cNvPicPr>
            <a:picLocks noChangeAspect="1" noChangeArrowheads="1"/>
          </p:cNvPicPr>
          <p:nvPr/>
        </p:nvPicPr>
        <p:blipFill>
          <a:blip r:embed="rId2" cstate="print"/>
          <a:srcRect/>
          <a:stretch>
            <a:fillRect/>
          </a:stretch>
        </p:blipFill>
        <p:spPr bwMode="auto">
          <a:xfrm>
            <a:off x="1600200" y="1752600"/>
            <a:ext cx="6172200" cy="3404331"/>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GROUP BY</a:t>
            </a:r>
          </a:p>
        </p:txBody>
      </p:sp>
      <p:sp>
        <p:nvSpPr>
          <p:cNvPr id="3" name="Content Placeholder 2"/>
          <p:cNvSpPr>
            <a:spLocks noGrp="1"/>
          </p:cNvSpPr>
          <p:nvPr>
            <p:ph idx="1"/>
          </p:nvPr>
        </p:nvSpPr>
        <p:spPr>
          <a:xfrm>
            <a:off x="457200" y="762000"/>
            <a:ext cx="8229600" cy="5364163"/>
          </a:xfrm>
        </p:spPr>
        <p:txBody>
          <a:bodyPr>
            <a:normAutofit fontScale="77500" lnSpcReduction="20000"/>
          </a:bodyPr>
          <a:lstStyle/>
          <a:p>
            <a:r>
              <a:rPr lang="en-US" dirty="0"/>
              <a:t>SQL GROUP BY statement is used to arrange identical data into groups. </a:t>
            </a:r>
          </a:p>
          <a:p>
            <a:r>
              <a:rPr lang="en-US" dirty="0"/>
              <a:t>The GROUP BY statement is used with the SQL SELECT statement.</a:t>
            </a:r>
          </a:p>
          <a:p>
            <a:r>
              <a:rPr lang="en-US" dirty="0"/>
              <a:t>The GROUP BY statement follows the WHERE clause in a SELECT statement and precedes the ORDER BY clause.</a:t>
            </a:r>
          </a:p>
          <a:p>
            <a:r>
              <a:rPr lang="en-US" dirty="0"/>
              <a:t>The GROUP BY statement is used with aggregation function.</a:t>
            </a:r>
          </a:p>
          <a:p>
            <a:pPr>
              <a:buFont typeface="Wingdings" pitchFamily="2" charset="2"/>
              <a:buChar char="Ø"/>
            </a:pPr>
            <a:r>
              <a:rPr lang="en-US" b="1" dirty="0"/>
              <a:t>Syntax</a:t>
            </a:r>
            <a:endParaRPr lang="en-US" dirty="0"/>
          </a:p>
          <a:p>
            <a:pPr lvl="1">
              <a:buNone/>
            </a:pPr>
            <a:r>
              <a:rPr lang="en-US" dirty="0"/>
              <a:t>SELECT column  </a:t>
            </a:r>
          </a:p>
          <a:p>
            <a:pPr lvl="1">
              <a:buNone/>
            </a:pPr>
            <a:r>
              <a:rPr lang="en-US" dirty="0"/>
              <a:t>FROM </a:t>
            </a:r>
            <a:r>
              <a:rPr lang="en-US" dirty="0" err="1"/>
              <a:t>table_name</a:t>
            </a:r>
            <a:r>
              <a:rPr lang="en-US" dirty="0"/>
              <a:t>  </a:t>
            </a:r>
          </a:p>
          <a:p>
            <a:pPr lvl="1">
              <a:buNone/>
            </a:pPr>
            <a:r>
              <a:rPr lang="en-US" dirty="0"/>
              <a:t>WHERE conditions   </a:t>
            </a:r>
          </a:p>
          <a:p>
            <a:pPr lvl="1">
              <a:buNone/>
            </a:pPr>
            <a:r>
              <a:rPr lang="en-US" dirty="0"/>
              <a:t>GROUP BY column  </a:t>
            </a:r>
          </a:p>
          <a:p>
            <a:pPr lvl="1">
              <a:buNone/>
            </a:pPr>
            <a:r>
              <a:rPr lang="en-US" dirty="0"/>
              <a:t>ORDER BY column  </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BY EXAMPLE</a:t>
            </a:r>
          </a:p>
        </p:txBody>
      </p:sp>
      <p:pic>
        <p:nvPicPr>
          <p:cNvPr id="64514" name="Picture 2"/>
          <p:cNvPicPr>
            <a:picLocks noChangeAspect="1" noChangeArrowheads="1"/>
          </p:cNvPicPr>
          <p:nvPr/>
        </p:nvPicPr>
        <p:blipFill>
          <a:blip r:embed="rId2" cstate="print"/>
          <a:srcRect/>
          <a:stretch>
            <a:fillRect/>
          </a:stretch>
        </p:blipFill>
        <p:spPr bwMode="auto">
          <a:xfrm>
            <a:off x="1219200" y="1371600"/>
            <a:ext cx="6781800" cy="3352800"/>
          </a:xfrm>
          <a:prstGeom prst="rect">
            <a:avLst/>
          </a:prstGeom>
          <a:noFill/>
          <a:ln w="9525">
            <a:noFill/>
            <a:miter lim="800000"/>
            <a:headEnd/>
            <a:tailEnd/>
          </a:ln>
        </p:spPr>
      </p:pic>
      <p:sp>
        <p:nvSpPr>
          <p:cNvPr id="5" name="Rectangle 4"/>
          <p:cNvSpPr/>
          <p:nvPr/>
        </p:nvSpPr>
        <p:spPr>
          <a:xfrm>
            <a:off x="762000" y="4953000"/>
            <a:ext cx="7848600" cy="369332"/>
          </a:xfrm>
          <a:prstGeom prst="rect">
            <a:avLst/>
          </a:prstGeom>
        </p:spPr>
        <p:txBody>
          <a:bodyPr wrap="square">
            <a:spAutoFit/>
          </a:bodyPr>
          <a:lstStyle/>
          <a:p>
            <a:r>
              <a:rPr lang="en-US" dirty="0"/>
              <a:t>SELECT COMPANY, COUNT(*)  FROM PRODUCT_MAST   GROUP BY COMPANY;  </a:t>
            </a:r>
          </a:p>
        </p:txBody>
      </p:sp>
      <p:pic>
        <p:nvPicPr>
          <p:cNvPr id="64515" name="Picture 3"/>
          <p:cNvPicPr>
            <a:picLocks noChangeAspect="1" noChangeArrowheads="1"/>
          </p:cNvPicPr>
          <p:nvPr/>
        </p:nvPicPr>
        <p:blipFill>
          <a:blip r:embed="rId3" cstate="print"/>
          <a:srcRect/>
          <a:stretch>
            <a:fillRect/>
          </a:stretch>
        </p:blipFill>
        <p:spPr bwMode="auto">
          <a:xfrm>
            <a:off x="1524000" y="5410200"/>
            <a:ext cx="1371600" cy="1414800"/>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HAVING</a:t>
            </a:r>
          </a:p>
        </p:txBody>
      </p:sp>
      <p:sp>
        <p:nvSpPr>
          <p:cNvPr id="3" name="Content Placeholder 2"/>
          <p:cNvSpPr>
            <a:spLocks noGrp="1"/>
          </p:cNvSpPr>
          <p:nvPr>
            <p:ph idx="1"/>
          </p:nvPr>
        </p:nvSpPr>
        <p:spPr>
          <a:xfrm>
            <a:off x="457200" y="1066800"/>
            <a:ext cx="8229600" cy="5562600"/>
          </a:xfrm>
        </p:spPr>
        <p:txBody>
          <a:bodyPr>
            <a:normAutofit fontScale="92500" lnSpcReduction="20000"/>
          </a:bodyPr>
          <a:lstStyle/>
          <a:p>
            <a:pPr algn="just"/>
            <a:r>
              <a:rPr lang="en-US" dirty="0"/>
              <a:t>HAVING clause is used to specify a search condition for a group or an aggregate.</a:t>
            </a:r>
          </a:p>
          <a:p>
            <a:pPr algn="just"/>
            <a:r>
              <a:rPr lang="en-US" dirty="0"/>
              <a:t>Having is used in a GROUP BY clause. If you are not using GROUP BY clause then you can use HAVING function like a WHERE clause.</a:t>
            </a:r>
          </a:p>
          <a:p>
            <a:r>
              <a:rPr lang="en-US" b="1" dirty="0"/>
              <a:t>Syntax:</a:t>
            </a:r>
            <a:endParaRPr lang="en-US" dirty="0"/>
          </a:p>
          <a:p>
            <a:pPr>
              <a:buNone/>
            </a:pPr>
            <a:r>
              <a:rPr lang="en-US" dirty="0"/>
              <a:t>SELECT column1, column2   </a:t>
            </a:r>
          </a:p>
          <a:p>
            <a:pPr>
              <a:buNone/>
            </a:pPr>
            <a:r>
              <a:rPr lang="en-US" dirty="0"/>
              <a:t>FROM </a:t>
            </a:r>
            <a:r>
              <a:rPr lang="en-US" dirty="0" err="1"/>
              <a:t>table_name</a:t>
            </a:r>
            <a:r>
              <a:rPr lang="en-US" dirty="0"/>
              <a:t>  </a:t>
            </a:r>
          </a:p>
          <a:p>
            <a:pPr>
              <a:buNone/>
            </a:pPr>
            <a:r>
              <a:rPr lang="en-US" dirty="0"/>
              <a:t>WHERE conditions   </a:t>
            </a:r>
          </a:p>
          <a:p>
            <a:pPr>
              <a:buNone/>
            </a:pPr>
            <a:r>
              <a:rPr lang="en-US" dirty="0"/>
              <a:t>GROUP BY column1, column2   </a:t>
            </a:r>
          </a:p>
          <a:p>
            <a:pPr>
              <a:buNone/>
            </a:pPr>
            <a:r>
              <a:rPr lang="en-US" dirty="0"/>
              <a:t>HAVING conditions  </a:t>
            </a:r>
          </a:p>
          <a:p>
            <a:pPr>
              <a:buNone/>
            </a:pPr>
            <a:r>
              <a:rPr lang="en-US" dirty="0"/>
              <a:t>ORDER BY column1, column2;  </a:t>
            </a:r>
          </a:p>
          <a:p>
            <a:endParaRPr lang="en-US" dirty="0"/>
          </a:p>
          <a:p>
            <a:pPr algn="just"/>
            <a:endParaRPr lang="en-US" dirty="0"/>
          </a:p>
          <a:p>
            <a:pPr algn="just"/>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HAVING EXAMPLE</a:t>
            </a:r>
          </a:p>
        </p:txBody>
      </p:sp>
      <p:sp>
        <p:nvSpPr>
          <p:cNvPr id="3" name="Content Placeholder 2"/>
          <p:cNvSpPr>
            <a:spLocks noGrp="1"/>
          </p:cNvSpPr>
          <p:nvPr>
            <p:ph idx="1"/>
          </p:nvPr>
        </p:nvSpPr>
        <p:spPr>
          <a:xfrm>
            <a:off x="457200" y="1600200"/>
            <a:ext cx="8382000" cy="4525963"/>
          </a:xfrm>
        </p:spPr>
        <p:txBody>
          <a:bodyPr/>
          <a:lstStyle/>
          <a:p>
            <a:pPr>
              <a:buNone/>
            </a:pPr>
            <a:r>
              <a:rPr lang="en-US" sz="2400" dirty="0"/>
              <a:t>SELECT COMPANY, COUNT(*)  FROM PRODUCT_MAST   GROUP BY COMPANY  HAVING COUNT(*)&gt;2;  </a:t>
            </a:r>
          </a:p>
          <a:p>
            <a:pPr>
              <a:buNone/>
            </a:pPr>
            <a:r>
              <a:rPr lang="en-US" b="1" dirty="0"/>
              <a:t>Output:</a:t>
            </a:r>
          </a:p>
          <a:p>
            <a:pPr>
              <a:buNone/>
            </a:pPr>
            <a:r>
              <a:rPr lang="en-US" dirty="0"/>
              <a:t>Com1 5 </a:t>
            </a:r>
          </a:p>
          <a:p>
            <a:pPr>
              <a:buNone/>
            </a:pPr>
            <a:r>
              <a:rPr lang="en-US" dirty="0"/>
              <a:t>Com2 3</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ORDER BY</a:t>
            </a:r>
          </a:p>
        </p:txBody>
      </p:sp>
      <p:sp>
        <p:nvSpPr>
          <p:cNvPr id="3" name="Content Placeholder 2"/>
          <p:cNvSpPr>
            <a:spLocks noGrp="1"/>
          </p:cNvSpPr>
          <p:nvPr>
            <p:ph idx="1"/>
          </p:nvPr>
        </p:nvSpPr>
        <p:spPr>
          <a:xfrm>
            <a:off x="457200" y="1066800"/>
            <a:ext cx="8229600" cy="5059363"/>
          </a:xfrm>
        </p:spPr>
        <p:txBody>
          <a:bodyPr>
            <a:normAutofit fontScale="77500" lnSpcReduction="20000"/>
          </a:bodyPr>
          <a:lstStyle/>
          <a:p>
            <a:pPr algn="just"/>
            <a:r>
              <a:rPr lang="en-US" dirty="0"/>
              <a:t>The ORDER BY clause sorts the result-set in ascending or descending order.</a:t>
            </a:r>
          </a:p>
          <a:p>
            <a:pPr algn="just"/>
            <a:r>
              <a:rPr lang="en-US" dirty="0"/>
              <a:t>It sorts the records in ascending order by default. DESC keyword is used to sort the records in descending order.</a:t>
            </a:r>
          </a:p>
          <a:p>
            <a:pPr algn="just"/>
            <a:r>
              <a:rPr lang="en-US" b="1" dirty="0"/>
              <a:t>Syntax:</a:t>
            </a:r>
            <a:endParaRPr lang="en-US" dirty="0"/>
          </a:p>
          <a:p>
            <a:pPr algn="just"/>
            <a:r>
              <a:rPr lang="en-US" dirty="0"/>
              <a:t>SELECT column1, column2  </a:t>
            </a:r>
          </a:p>
          <a:p>
            <a:pPr algn="just"/>
            <a:r>
              <a:rPr lang="en-US" dirty="0"/>
              <a:t>FROM </a:t>
            </a:r>
            <a:r>
              <a:rPr lang="en-US" dirty="0" err="1"/>
              <a:t>table_name</a:t>
            </a:r>
            <a:r>
              <a:rPr lang="en-US" dirty="0"/>
              <a:t>  </a:t>
            </a:r>
          </a:p>
          <a:p>
            <a:pPr algn="just"/>
            <a:r>
              <a:rPr lang="en-US" dirty="0"/>
              <a:t>WHERE condition  </a:t>
            </a:r>
          </a:p>
          <a:p>
            <a:pPr algn="just"/>
            <a:r>
              <a:rPr lang="en-US" dirty="0"/>
              <a:t>ORDER BY column1, column2... ASC|DESC;  </a:t>
            </a:r>
          </a:p>
          <a:p>
            <a:pPr algn="just"/>
            <a:r>
              <a:rPr lang="en-US" b="1" dirty="0"/>
              <a:t>Where</a:t>
            </a:r>
            <a:endParaRPr lang="en-US" dirty="0"/>
          </a:p>
          <a:p>
            <a:pPr algn="just"/>
            <a:r>
              <a:rPr lang="en-US" b="1" dirty="0"/>
              <a:t>ASC:</a:t>
            </a:r>
            <a:r>
              <a:rPr lang="en-US" dirty="0"/>
              <a:t> It is used to sort the result set in ascending order by expression.</a:t>
            </a:r>
          </a:p>
          <a:p>
            <a:pPr algn="just"/>
            <a:r>
              <a:rPr lang="en-US" b="1" dirty="0"/>
              <a:t>DESC:</a:t>
            </a:r>
            <a:r>
              <a:rPr lang="en-US" dirty="0"/>
              <a:t> It sorts the result set in descending order by expression.</a:t>
            </a:r>
          </a:p>
          <a:p>
            <a:pPr algn="just"/>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8229600" cy="411162"/>
          </a:xfrm>
        </p:spPr>
        <p:txBody>
          <a:bodyPr>
            <a:noAutofit/>
          </a:bodyPr>
          <a:lstStyle/>
          <a:p>
            <a:r>
              <a:rPr lang="en-US" sz="2800" dirty="0"/>
              <a:t>Example: Sorting Results in Ascending Order</a:t>
            </a:r>
          </a:p>
        </p:txBody>
      </p:sp>
      <p:pic>
        <p:nvPicPr>
          <p:cNvPr id="66562" name="Picture 2"/>
          <p:cNvPicPr>
            <a:picLocks noChangeAspect="1" noChangeArrowheads="1"/>
          </p:cNvPicPr>
          <p:nvPr/>
        </p:nvPicPr>
        <p:blipFill>
          <a:blip r:embed="rId2" cstate="print"/>
          <a:srcRect/>
          <a:stretch>
            <a:fillRect/>
          </a:stretch>
        </p:blipFill>
        <p:spPr bwMode="auto">
          <a:xfrm>
            <a:off x="990600" y="685800"/>
            <a:ext cx="7219950" cy="2657475"/>
          </a:xfrm>
          <a:prstGeom prst="rect">
            <a:avLst/>
          </a:prstGeom>
          <a:noFill/>
          <a:ln w="9525">
            <a:noFill/>
            <a:miter lim="800000"/>
            <a:headEnd/>
            <a:tailEnd/>
          </a:ln>
        </p:spPr>
      </p:pic>
      <p:sp>
        <p:nvSpPr>
          <p:cNvPr id="6" name="Rectangle 5"/>
          <p:cNvSpPr/>
          <p:nvPr/>
        </p:nvSpPr>
        <p:spPr>
          <a:xfrm>
            <a:off x="990600" y="3581400"/>
            <a:ext cx="7010400" cy="923330"/>
          </a:xfrm>
          <a:prstGeom prst="rect">
            <a:avLst/>
          </a:prstGeom>
        </p:spPr>
        <p:txBody>
          <a:bodyPr wrap="square">
            <a:spAutoFit/>
          </a:bodyPr>
          <a:lstStyle/>
          <a:p>
            <a:r>
              <a:rPr lang="en-US" dirty="0"/>
              <a:t>SELECT *  FROM CUSTOMER ORDER BY NAME;  </a:t>
            </a:r>
          </a:p>
          <a:p>
            <a:endParaRPr lang="en-US" b="1" dirty="0"/>
          </a:p>
          <a:p>
            <a:r>
              <a:rPr lang="en-US" b="1" dirty="0"/>
              <a:t>Output:</a:t>
            </a:r>
          </a:p>
        </p:txBody>
      </p:sp>
      <p:pic>
        <p:nvPicPr>
          <p:cNvPr id="66563" name="Picture 3"/>
          <p:cNvPicPr>
            <a:picLocks noChangeAspect="1" noChangeArrowheads="1"/>
          </p:cNvPicPr>
          <p:nvPr/>
        </p:nvPicPr>
        <p:blipFill>
          <a:blip r:embed="rId3" cstate="print"/>
          <a:srcRect/>
          <a:stretch>
            <a:fillRect/>
          </a:stretch>
        </p:blipFill>
        <p:spPr bwMode="auto">
          <a:xfrm>
            <a:off x="914400" y="4495800"/>
            <a:ext cx="7305675" cy="2057400"/>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Sorting Results in Descending Order</a:t>
            </a:r>
          </a:p>
        </p:txBody>
      </p:sp>
      <p:sp>
        <p:nvSpPr>
          <p:cNvPr id="3" name="Content Placeholder 2"/>
          <p:cNvSpPr>
            <a:spLocks noGrp="1"/>
          </p:cNvSpPr>
          <p:nvPr>
            <p:ph idx="1"/>
          </p:nvPr>
        </p:nvSpPr>
        <p:spPr>
          <a:xfrm>
            <a:off x="457200" y="1219200"/>
            <a:ext cx="8229600" cy="4906963"/>
          </a:xfrm>
        </p:spPr>
        <p:txBody>
          <a:bodyPr/>
          <a:lstStyle/>
          <a:p>
            <a:pPr>
              <a:buNone/>
            </a:pPr>
            <a:r>
              <a:rPr lang="en-US" sz="2400" dirty="0"/>
              <a:t>SELECT * FROM CUSTOMER  ORDER BY NAME DESC; </a:t>
            </a:r>
          </a:p>
          <a:p>
            <a:pPr>
              <a:buNone/>
            </a:pPr>
            <a:endParaRPr lang="en-US" sz="2400" dirty="0"/>
          </a:p>
          <a:p>
            <a:pPr>
              <a:buNone/>
            </a:pPr>
            <a:r>
              <a:rPr lang="en-US" sz="2400" b="1" dirty="0"/>
              <a:t>Output:  </a:t>
            </a:r>
          </a:p>
          <a:p>
            <a:pPr>
              <a:buNone/>
            </a:pPr>
            <a:endParaRPr lang="en-US" dirty="0"/>
          </a:p>
        </p:txBody>
      </p:sp>
      <p:pic>
        <p:nvPicPr>
          <p:cNvPr id="67586" name="Picture 2"/>
          <p:cNvPicPr>
            <a:picLocks noChangeAspect="1" noChangeArrowheads="1"/>
          </p:cNvPicPr>
          <p:nvPr/>
        </p:nvPicPr>
        <p:blipFill>
          <a:blip r:embed="rId2" cstate="print"/>
          <a:srcRect/>
          <a:stretch>
            <a:fillRect/>
          </a:stretch>
        </p:blipFill>
        <p:spPr bwMode="auto">
          <a:xfrm>
            <a:off x="381000" y="3048000"/>
            <a:ext cx="8506722" cy="2590800"/>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Autofit/>
          </a:bodyPr>
          <a:lstStyle/>
          <a:p>
            <a:r>
              <a:rPr lang="en-US" sz="2800" dirty="0"/>
              <a:t>Index in SQL</a:t>
            </a:r>
          </a:p>
        </p:txBody>
      </p:sp>
      <p:sp>
        <p:nvSpPr>
          <p:cNvPr id="3" name="Content Placeholder 2"/>
          <p:cNvSpPr>
            <a:spLocks noGrp="1"/>
          </p:cNvSpPr>
          <p:nvPr>
            <p:ph idx="1"/>
          </p:nvPr>
        </p:nvSpPr>
        <p:spPr>
          <a:xfrm>
            <a:off x="457200" y="838200"/>
            <a:ext cx="8229600" cy="5715000"/>
          </a:xfrm>
        </p:spPr>
        <p:txBody>
          <a:bodyPr>
            <a:noAutofit/>
          </a:bodyPr>
          <a:lstStyle/>
          <a:p>
            <a:pPr algn="just">
              <a:lnSpc>
                <a:spcPct val="170000"/>
              </a:lnSpc>
            </a:pPr>
            <a:r>
              <a:rPr lang="en-US" sz="1800" dirty="0"/>
              <a:t>Indexes are </a:t>
            </a:r>
            <a:r>
              <a:rPr lang="en-US" sz="1800" b="1" dirty="0"/>
              <a:t>special lookup tables</a:t>
            </a:r>
            <a:r>
              <a:rPr lang="en-US" sz="1800" dirty="0"/>
              <a:t> that the database search engine can use to speed up data retrieval. </a:t>
            </a:r>
          </a:p>
          <a:p>
            <a:pPr algn="just">
              <a:lnSpc>
                <a:spcPct val="170000"/>
              </a:lnSpc>
            </a:pPr>
            <a:r>
              <a:rPr lang="en-US" sz="1800" dirty="0"/>
              <a:t>An index helps to speed up </a:t>
            </a:r>
            <a:r>
              <a:rPr lang="en-US" sz="1800" b="1" dirty="0"/>
              <a:t>SELECT</a:t>
            </a:r>
            <a:r>
              <a:rPr lang="en-US" sz="1800" dirty="0"/>
              <a:t> queries and </a:t>
            </a:r>
            <a:r>
              <a:rPr lang="en-US" sz="1800" b="1" dirty="0"/>
              <a:t>WHERE</a:t>
            </a:r>
            <a:r>
              <a:rPr lang="en-US" sz="1800" dirty="0"/>
              <a:t> clauses, but it slows down data input, with the </a:t>
            </a:r>
            <a:r>
              <a:rPr lang="en-US" sz="1800" b="1" dirty="0"/>
              <a:t>UPDATE</a:t>
            </a:r>
            <a:r>
              <a:rPr lang="en-US" sz="1800" dirty="0"/>
              <a:t> and the </a:t>
            </a:r>
            <a:r>
              <a:rPr lang="en-US" sz="1800" b="1" dirty="0"/>
              <a:t>INSERT</a:t>
            </a:r>
            <a:r>
              <a:rPr lang="en-US" sz="1800" dirty="0"/>
              <a:t> statements. Indexes can be created or dropped with no effect on the data.</a:t>
            </a:r>
          </a:p>
          <a:p>
            <a:pPr algn="just">
              <a:lnSpc>
                <a:spcPct val="170000"/>
              </a:lnSpc>
            </a:pPr>
            <a:r>
              <a:rPr lang="en-US" sz="1800" dirty="0"/>
              <a:t>Creating an index involves the </a:t>
            </a:r>
            <a:r>
              <a:rPr lang="en-US" sz="1800" b="1" dirty="0"/>
              <a:t>CREATE INDEX</a:t>
            </a:r>
            <a:r>
              <a:rPr lang="en-US" sz="1800" dirty="0"/>
              <a:t> statement, which allows you to name the index, to specify the table and which column or columns to index, and to indicate whether the index is in an ascending or descending order.</a:t>
            </a:r>
          </a:p>
          <a:p>
            <a:pPr algn="just">
              <a:lnSpc>
                <a:spcPct val="170000"/>
              </a:lnSpc>
            </a:pPr>
            <a:r>
              <a:rPr lang="en-US" sz="1800" dirty="0"/>
              <a:t>Indexes can also be unique, like the </a:t>
            </a:r>
            <a:r>
              <a:rPr lang="en-US" sz="1800" b="1" dirty="0"/>
              <a:t>UNIQUE</a:t>
            </a:r>
            <a:r>
              <a:rPr lang="en-US" sz="1800" dirty="0"/>
              <a:t> constraint, in that the index prevents duplicate entries in the column or combination of columns on which there is an index.</a:t>
            </a:r>
          </a:p>
          <a:p>
            <a:pPr algn="just">
              <a:lnSpc>
                <a:spcPct val="170000"/>
              </a:lnSpc>
            </a:pPr>
            <a:endParaRPr lang="en-US" sz="2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sz="3200" b="1" dirty="0"/>
              <a:t>The CREATE INDEX Command</a:t>
            </a:r>
          </a:p>
        </p:txBody>
      </p:sp>
      <p:sp>
        <p:nvSpPr>
          <p:cNvPr id="3" name="Content Placeholder 2"/>
          <p:cNvSpPr>
            <a:spLocks noGrp="1"/>
          </p:cNvSpPr>
          <p:nvPr>
            <p:ph idx="1"/>
          </p:nvPr>
        </p:nvSpPr>
        <p:spPr/>
        <p:txBody>
          <a:bodyPr/>
          <a:lstStyle/>
          <a:p>
            <a:r>
              <a:rPr lang="en-US" dirty="0"/>
              <a:t>The basic syntax of a </a:t>
            </a:r>
            <a:r>
              <a:rPr lang="en-US" b="1" dirty="0"/>
              <a:t>CREATE INDEX</a:t>
            </a:r>
            <a:r>
              <a:rPr lang="en-US" dirty="0"/>
              <a:t> is as follows.</a:t>
            </a:r>
          </a:p>
          <a:p>
            <a:pPr>
              <a:buNone/>
            </a:pPr>
            <a:r>
              <a:rPr lang="en-US" dirty="0"/>
              <a:t>CREATE INDEX </a:t>
            </a:r>
            <a:r>
              <a:rPr lang="en-US" dirty="0" err="1"/>
              <a:t>index_name</a:t>
            </a:r>
            <a:r>
              <a:rPr lang="en-US" dirty="0"/>
              <a:t> ON </a:t>
            </a:r>
            <a:r>
              <a:rPr lang="en-US" dirty="0" err="1"/>
              <a:t>table_name</a:t>
            </a:r>
            <a:r>
              <a:rPr lang="en-US" dirty="0"/>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96000"/>
          </a:xfrm>
        </p:spPr>
        <p:txBody>
          <a:bodyPr>
            <a:normAutofit fontScale="55000" lnSpcReduction="20000"/>
          </a:bodyPr>
          <a:lstStyle/>
          <a:p>
            <a:pPr>
              <a:lnSpc>
                <a:spcPct val="170000"/>
              </a:lnSpc>
            </a:pPr>
            <a:r>
              <a:rPr lang="en-US" b="1" dirty="0"/>
              <a:t>Single-Column Indexes</a:t>
            </a:r>
          </a:p>
          <a:p>
            <a:pPr>
              <a:lnSpc>
                <a:spcPct val="170000"/>
              </a:lnSpc>
              <a:buNone/>
            </a:pPr>
            <a:r>
              <a:rPr lang="en-US" dirty="0"/>
              <a:t>     A single-column index is created based on only one table column. </a:t>
            </a:r>
          </a:p>
          <a:p>
            <a:pPr>
              <a:lnSpc>
                <a:spcPct val="170000"/>
              </a:lnSpc>
              <a:buNone/>
            </a:pPr>
            <a:r>
              <a:rPr lang="en-US" dirty="0"/>
              <a:t>     The basic syntax is as follows.</a:t>
            </a:r>
          </a:p>
          <a:p>
            <a:pPr>
              <a:lnSpc>
                <a:spcPct val="170000"/>
              </a:lnSpc>
              <a:buNone/>
            </a:pPr>
            <a:r>
              <a:rPr lang="en-US" dirty="0"/>
              <a:t>     CREATE INDEX </a:t>
            </a:r>
            <a:r>
              <a:rPr lang="en-US" dirty="0" err="1"/>
              <a:t>index_name</a:t>
            </a:r>
            <a:r>
              <a:rPr lang="en-US" dirty="0"/>
              <a:t> ON </a:t>
            </a:r>
            <a:r>
              <a:rPr lang="en-US" dirty="0" err="1"/>
              <a:t>table_name</a:t>
            </a:r>
            <a:r>
              <a:rPr lang="en-US" dirty="0"/>
              <a:t> (</a:t>
            </a:r>
            <a:r>
              <a:rPr lang="en-US" dirty="0" err="1"/>
              <a:t>column_name</a:t>
            </a:r>
            <a:r>
              <a:rPr lang="en-US" dirty="0"/>
              <a:t>); </a:t>
            </a:r>
          </a:p>
          <a:p>
            <a:pPr>
              <a:lnSpc>
                <a:spcPct val="170000"/>
              </a:lnSpc>
            </a:pPr>
            <a:r>
              <a:rPr lang="en-US" b="1" dirty="0"/>
              <a:t>Unique Indexes</a:t>
            </a:r>
          </a:p>
          <a:p>
            <a:pPr>
              <a:lnSpc>
                <a:spcPct val="170000"/>
              </a:lnSpc>
              <a:buNone/>
            </a:pPr>
            <a:r>
              <a:rPr lang="en-US" dirty="0"/>
              <a:t>      Unique indexes are used not only for performance, but also for data integrity. </a:t>
            </a:r>
          </a:p>
          <a:p>
            <a:pPr>
              <a:lnSpc>
                <a:spcPct val="170000"/>
              </a:lnSpc>
              <a:buNone/>
            </a:pPr>
            <a:r>
              <a:rPr lang="en-US" dirty="0"/>
              <a:t>      A unique index does not allow any duplicate values to be inserted into the table. </a:t>
            </a:r>
          </a:p>
          <a:p>
            <a:pPr>
              <a:lnSpc>
                <a:spcPct val="170000"/>
              </a:lnSpc>
              <a:buNone/>
            </a:pPr>
            <a:r>
              <a:rPr lang="en-US" dirty="0"/>
              <a:t>      The basic syntax is as follows.</a:t>
            </a:r>
          </a:p>
          <a:p>
            <a:pPr>
              <a:lnSpc>
                <a:spcPct val="170000"/>
              </a:lnSpc>
              <a:buNone/>
            </a:pPr>
            <a:r>
              <a:rPr lang="en-US" dirty="0"/>
              <a:t>      CREATE UNIQUE INDEX </a:t>
            </a:r>
            <a:r>
              <a:rPr lang="en-US" dirty="0" err="1"/>
              <a:t>index_name</a:t>
            </a:r>
            <a:r>
              <a:rPr lang="en-US" dirty="0"/>
              <a:t> on </a:t>
            </a:r>
            <a:r>
              <a:rPr lang="en-US" dirty="0" err="1"/>
              <a:t>table_name</a:t>
            </a:r>
            <a:r>
              <a:rPr lang="en-US" dirty="0"/>
              <a:t> (</a:t>
            </a:r>
            <a:r>
              <a:rPr lang="en-US" dirty="0" err="1"/>
              <a:t>column_name</a:t>
            </a:r>
            <a:r>
              <a:rPr lang="en-US" dirty="0"/>
              <a:t>); </a:t>
            </a:r>
          </a:p>
          <a:p>
            <a:pPr>
              <a:lnSpc>
                <a:spcPct val="170000"/>
              </a:lnSpc>
            </a:pPr>
            <a:r>
              <a:rPr lang="en-US" sz="3100" b="1" dirty="0"/>
              <a:t>Composite Indexes</a:t>
            </a:r>
          </a:p>
          <a:p>
            <a:pPr>
              <a:lnSpc>
                <a:spcPct val="170000"/>
              </a:lnSpc>
              <a:buNone/>
            </a:pPr>
            <a:r>
              <a:rPr lang="en-US" dirty="0"/>
              <a:t>      A composite index is an index on two or more columns of a table. Its basic syntax is as follows.</a:t>
            </a:r>
          </a:p>
          <a:p>
            <a:pPr>
              <a:lnSpc>
                <a:spcPct val="170000"/>
              </a:lnSpc>
              <a:buNone/>
            </a:pPr>
            <a:r>
              <a:rPr lang="en-US" dirty="0"/>
              <a:t>     CREATE INDEX </a:t>
            </a:r>
            <a:r>
              <a:rPr lang="en-US" dirty="0" err="1"/>
              <a:t>index_name</a:t>
            </a:r>
            <a:r>
              <a:rPr lang="en-US" dirty="0"/>
              <a:t> on </a:t>
            </a:r>
            <a:r>
              <a:rPr lang="en-US" dirty="0" err="1"/>
              <a:t>table_name</a:t>
            </a:r>
            <a:r>
              <a:rPr lang="en-US" dirty="0"/>
              <a:t> (column1, column2);</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DROP INDEX Command</a:t>
            </a:r>
            <a:br>
              <a:rPr lang="en-US" dirty="0"/>
            </a:br>
            <a:endParaRPr lang="en-US" dirty="0"/>
          </a:p>
        </p:txBody>
      </p:sp>
      <p:sp>
        <p:nvSpPr>
          <p:cNvPr id="3" name="Content Placeholder 2"/>
          <p:cNvSpPr>
            <a:spLocks noGrp="1"/>
          </p:cNvSpPr>
          <p:nvPr>
            <p:ph idx="1"/>
          </p:nvPr>
        </p:nvSpPr>
        <p:spPr>
          <a:xfrm>
            <a:off x="457200" y="1066800"/>
            <a:ext cx="8229600" cy="5059363"/>
          </a:xfrm>
        </p:spPr>
        <p:txBody>
          <a:bodyPr>
            <a:normAutofit lnSpcReduction="10000"/>
          </a:bodyPr>
          <a:lstStyle/>
          <a:p>
            <a:pPr algn="just">
              <a:lnSpc>
                <a:spcPct val="150000"/>
              </a:lnSpc>
            </a:pPr>
            <a:r>
              <a:rPr lang="en-US" dirty="0"/>
              <a:t>An index can be dropped using SQL </a:t>
            </a:r>
            <a:r>
              <a:rPr lang="en-US" b="1" dirty="0"/>
              <a:t>DROP</a:t>
            </a:r>
            <a:r>
              <a:rPr lang="en-US" dirty="0"/>
              <a:t> command. Care should be taken when dropping an index because the performance may either slow down or improve.</a:t>
            </a:r>
          </a:p>
          <a:p>
            <a:pPr lvl="1" algn="just">
              <a:lnSpc>
                <a:spcPct val="150000"/>
              </a:lnSpc>
              <a:buNone/>
            </a:pPr>
            <a:r>
              <a:rPr lang="en-US" dirty="0"/>
              <a:t>The basic syntax is as follows −</a:t>
            </a:r>
          </a:p>
          <a:p>
            <a:pPr lvl="1" algn="just">
              <a:lnSpc>
                <a:spcPct val="150000"/>
              </a:lnSpc>
              <a:buNone/>
            </a:pPr>
            <a:r>
              <a:rPr lang="en-US" dirty="0"/>
              <a:t>DROP INDEX </a:t>
            </a:r>
            <a:r>
              <a:rPr lang="en-US" dirty="0" err="1"/>
              <a:t>index_name</a:t>
            </a:r>
            <a:r>
              <a:rPr lang="en-US" dirty="0"/>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Sequence in SQL</a:t>
            </a:r>
          </a:p>
        </p:txBody>
      </p:sp>
      <p:sp>
        <p:nvSpPr>
          <p:cNvPr id="3" name="Content Placeholder 2"/>
          <p:cNvSpPr>
            <a:spLocks noGrp="1"/>
          </p:cNvSpPr>
          <p:nvPr>
            <p:ph idx="1"/>
          </p:nvPr>
        </p:nvSpPr>
        <p:spPr>
          <a:xfrm>
            <a:off x="457200" y="1295400"/>
            <a:ext cx="8229600" cy="4830763"/>
          </a:xfrm>
        </p:spPr>
        <p:txBody>
          <a:bodyPr>
            <a:normAutofit fontScale="92500" lnSpcReduction="10000"/>
          </a:bodyPr>
          <a:lstStyle/>
          <a:p>
            <a:pPr algn="just" fontAlgn="base"/>
            <a:r>
              <a:rPr lang="en-US" dirty="0"/>
              <a:t>A sequence is a user-defined schema-bound object that generates a series of numeric values.</a:t>
            </a:r>
          </a:p>
          <a:p>
            <a:pPr algn="just" fontAlgn="base"/>
            <a:r>
              <a:rPr lang="en-US" dirty="0"/>
              <a:t>Sequences are frequently used in many databases because many applications </a:t>
            </a:r>
            <a:r>
              <a:rPr lang="en-US" b="1" dirty="0"/>
              <a:t>require each row in a table to contain a unique value and sequences provide an easy way to generate them</a:t>
            </a:r>
            <a:r>
              <a:rPr lang="en-US" dirty="0"/>
              <a:t>.</a:t>
            </a:r>
          </a:p>
          <a:p>
            <a:pPr algn="just" fontAlgn="base"/>
            <a:r>
              <a:rPr lang="en-US" dirty="0"/>
              <a:t>The sequence of numeric values is generated in an ascending or descending order at defined intervals and can be configured to restart when it exceeds </a:t>
            </a:r>
            <a:r>
              <a:rPr lang="en-US" dirty="0" err="1"/>
              <a:t>max_value</a:t>
            </a:r>
            <a:r>
              <a:rPr lang="en-US" dirty="0"/>
              <a: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3200" b="1" dirty="0"/>
              <a:t>Sequences</a:t>
            </a:r>
          </a:p>
        </p:txBody>
      </p:sp>
      <p:sp>
        <p:nvSpPr>
          <p:cNvPr id="3" name="Content Placeholder 2"/>
          <p:cNvSpPr>
            <a:spLocks noGrp="1"/>
          </p:cNvSpPr>
          <p:nvPr>
            <p:ph idx="1"/>
          </p:nvPr>
        </p:nvSpPr>
        <p:spPr>
          <a:xfrm>
            <a:off x="457200" y="762000"/>
            <a:ext cx="8229600" cy="4876800"/>
          </a:xfrm>
        </p:spPr>
        <p:txBody>
          <a:bodyPr>
            <a:normAutofit/>
          </a:bodyPr>
          <a:lstStyle/>
          <a:p>
            <a:pPr fontAlgn="base"/>
            <a:r>
              <a:rPr lang="en-US" sz="1800" b="1" dirty="0"/>
              <a:t>Syntax:</a:t>
            </a:r>
            <a:endParaRPr lang="en-US" sz="1800" dirty="0"/>
          </a:p>
          <a:p>
            <a:pPr fontAlgn="base">
              <a:buNone/>
            </a:pPr>
            <a:r>
              <a:rPr lang="en-US" sz="1800" dirty="0"/>
              <a:t>CREATE SEQUENCE </a:t>
            </a:r>
            <a:r>
              <a:rPr lang="en-US" sz="1800" dirty="0" err="1"/>
              <a:t>sequence_name</a:t>
            </a:r>
            <a:endParaRPr lang="en-US" sz="1800" dirty="0"/>
          </a:p>
          <a:p>
            <a:pPr fontAlgn="base">
              <a:buNone/>
            </a:pPr>
            <a:r>
              <a:rPr lang="en-US" sz="1800" i="1" dirty="0"/>
              <a:t>START WITH </a:t>
            </a:r>
            <a:r>
              <a:rPr lang="en-US" sz="1800" i="1" dirty="0" err="1"/>
              <a:t>initial_value</a:t>
            </a:r>
            <a:endParaRPr lang="en-US" sz="1800" i="1" dirty="0"/>
          </a:p>
          <a:p>
            <a:pPr fontAlgn="base">
              <a:buNone/>
            </a:pPr>
            <a:r>
              <a:rPr lang="en-US" sz="1800" i="1" dirty="0"/>
              <a:t>INCREMENT BY </a:t>
            </a:r>
            <a:r>
              <a:rPr lang="en-US" sz="1800" i="1" dirty="0" err="1"/>
              <a:t>increment_value</a:t>
            </a:r>
            <a:endParaRPr lang="en-US" sz="1800" i="1" dirty="0"/>
          </a:p>
          <a:p>
            <a:pPr fontAlgn="base">
              <a:buNone/>
            </a:pPr>
            <a:r>
              <a:rPr lang="en-US" sz="1800" i="1" dirty="0"/>
              <a:t>MINVALUE minimum value</a:t>
            </a:r>
          </a:p>
          <a:p>
            <a:pPr fontAlgn="base">
              <a:buNone/>
            </a:pPr>
            <a:r>
              <a:rPr lang="en-US" sz="1800" i="1" dirty="0"/>
              <a:t>MAXVALUE maximum value</a:t>
            </a:r>
          </a:p>
          <a:p>
            <a:pPr fontAlgn="base">
              <a:buNone/>
            </a:pPr>
            <a:r>
              <a:rPr lang="en-US" sz="1800" i="1" dirty="0"/>
              <a:t>CYCLE|NOCYCLE ;</a:t>
            </a:r>
          </a:p>
          <a:p>
            <a:pPr fontAlgn="base"/>
            <a:r>
              <a:rPr lang="en-US" sz="1800" b="1" dirty="0"/>
              <a:t>Example 1:</a:t>
            </a:r>
            <a:endParaRPr lang="en-US" sz="1800" dirty="0"/>
          </a:p>
          <a:p>
            <a:pPr>
              <a:buNone/>
            </a:pPr>
            <a:r>
              <a:rPr lang="en-US" sz="1800" dirty="0"/>
              <a:t>CREATE SEQUENCE sequence_1 </a:t>
            </a:r>
          </a:p>
          <a:p>
            <a:pPr>
              <a:buNone/>
            </a:pPr>
            <a:r>
              <a:rPr lang="en-US" sz="1800" dirty="0"/>
              <a:t>start with 1 </a:t>
            </a:r>
          </a:p>
          <a:p>
            <a:pPr>
              <a:buNone/>
            </a:pPr>
            <a:r>
              <a:rPr lang="en-US" sz="1800" dirty="0"/>
              <a:t>increment by 1 </a:t>
            </a:r>
          </a:p>
          <a:p>
            <a:pPr>
              <a:buNone/>
            </a:pPr>
            <a:r>
              <a:rPr lang="en-US" sz="1800" dirty="0" err="1"/>
              <a:t>minvalue</a:t>
            </a:r>
            <a:r>
              <a:rPr lang="en-US" sz="1800" dirty="0"/>
              <a:t> 0 </a:t>
            </a:r>
          </a:p>
          <a:p>
            <a:pPr>
              <a:buNone/>
            </a:pPr>
            <a:r>
              <a:rPr lang="en-US" sz="1800" dirty="0" err="1"/>
              <a:t>maxvalue</a:t>
            </a:r>
            <a:r>
              <a:rPr lang="en-US" sz="1800" dirty="0"/>
              <a:t> 100 </a:t>
            </a:r>
          </a:p>
          <a:p>
            <a:pPr>
              <a:buNone/>
            </a:pPr>
            <a:r>
              <a:rPr lang="en-US" sz="1800" dirty="0"/>
              <a:t>cycle;</a:t>
            </a:r>
            <a:endParaRPr lang="en-US" sz="1800" i="1" dirty="0"/>
          </a:p>
          <a:p>
            <a:pPr fontAlgn="base">
              <a:buNone/>
            </a:pPr>
            <a:endParaRPr lang="en-US" i="1" dirty="0"/>
          </a:p>
          <a:p>
            <a:pPr fontAlgn="base">
              <a:buNone/>
            </a:pPr>
            <a:endParaRPr lang="en-US" dirty="0"/>
          </a:p>
        </p:txBody>
      </p:sp>
      <p:sp>
        <p:nvSpPr>
          <p:cNvPr id="4" name="Rectangle 3"/>
          <p:cNvSpPr/>
          <p:nvPr/>
        </p:nvSpPr>
        <p:spPr>
          <a:xfrm>
            <a:off x="304800" y="5715000"/>
            <a:ext cx="8458200" cy="923330"/>
          </a:xfrm>
          <a:prstGeom prst="rect">
            <a:avLst/>
          </a:prstGeom>
        </p:spPr>
        <p:txBody>
          <a:bodyPr wrap="square">
            <a:spAutoFit/>
          </a:bodyPr>
          <a:lstStyle/>
          <a:p>
            <a:r>
              <a:rPr lang="en-US" dirty="0"/>
              <a:t>The above query will create a sequence named </a:t>
            </a:r>
            <a:r>
              <a:rPr lang="en-US" i="1" dirty="0"/>
              <a:t>sequence_1</a:t>
            </a:r>
            <a:r>
              <a:rPr lang="en-US" dirty="0"/>
              <a:t>. The sequence will start from 1 and will be incremented by 1 having maximum value of 100. The sequence will repeat itself from the start value after exceeding 100.</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229600" cy="4678363"/>
          </a:xfrm>
        </p:spPr>
        <p:txBody>
          <a:bodyPr>
            <a:normAutofit/>
          </a:bodyPr>
          <a:lstStyle/>
          <a:p>
            <a:pPr fontAlgn="base"/>
            <a:r>
              <a:rPr lang="en-US" b="1" dirty="0"/>
              <a:t>Example 2:</a:t>
            </a:r>
            <a:r>
              <a:rPr lang="en-US" dirty="0"/>
              <a:t> Following is the sequence query creating a sequence in descending order.</a:t>
            </a:r>
          </a:p>
          <a:p>
            <a:pPr lvl="1">
              <a:buNone/>
            </a:pPr>
            <a:r>
              <a:rPr lang="en-US" dirty="0"/>
              <a:t>CREATE SEQUENCE </a:t>
            </a:r>
          </a:p>
          <a:p>
            <a:pPr lvl="1">
              <a:buNone/>
            </a:pPr>
            <a:r>
              <a:rPr lang="en-US" dirty="0"/>
              <a:t>sequence_2 start with 100 </a:t>
            </a:r>
          </a:p>
          <a:p>
            <a:pPr lvl="1">
              <a:buNone/>
            </a:pPr>
            <a:r>
              <a:rPr lang="en-US" dirty="0"/>
              <a:t>increment by -1 </a:t>
            </a:r>
          </a:p>
          <a:p>
            <a:pPr lvl="1">
              <a:buNone/>
            </a:pPr>
            <a:r>
              <a:rPr lang="en-US" dirty="0"/>
              <a:t>min value 1 </a:t>
            </a:r>
          </a:p>
          <a:p>
            <a:pPr lvl="1">
              <a:buNone/>
            </a:pPr>
            <a:r>
              <a:rPr lang="en-US" dirty="0"/>
              <a:t>max value 100 </a:t>
            </a:r>
          </a:p>
          <a:p>
            <a:pPr lvl="1">
              <a:buNone/>
            </a:pPr>
            <a:r>
              <a:rPr lang="en-US" dirty="0"/>
              <a:t>cycle;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Views in SQL</a:t>
            </a:r>
            <a:endParaRPr lang="en-US" dirty="0"/>
          </a:p>
        </p:txBody>
      </p:sp>
      <p:sp>
        <p:nvSpPr>
          <p:cNvPr id="3" name="Content Placeholder 2"/>
          <p:cNvSpPr>
            <a:spLocks noGrp="1"/>
          </p:cNvSpPr>
          <p:nvPr>
            <p:ph idx="1"/>
          </p:nvPr>
        </p:nvSpPr>
        <p:spPr>
          <a:xfrm>
            <a:off x="457200" y="1143000"/>
            <a:ext cx="8229600" cy="4983163"/>
          </a:xfrm>
        </p:spPr>
        <p:txBody>
          <a:bodyPr/>
          <a:lstStyle/>
          <a:p>
            <a:r>
              <a:rPr lang="en-US" dirty="0"/>
              <a:t>Views in SQL are considered as a virtual table. A view also contains rows and columns.</a:t>
            </a:r>
          </a:p>
          <a:p>
            <a:r>
              <a:rPr lang="en-US" dirty="0"/>
              <a:t>To create the view, we can select the fields from one or more tables present in the database.</a:t>
            </a:r>
          </a:p>
          <a:p>
            <a:r>
              <a:rPr lang="en-US" dirty="0"/>
              <a:t>A view can either have specific rows based on certain condition or all the rows of a table.</a:t>
            </a:r>
          </a:p>
          <a:p>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Advantages of View</a:t>
            </a:r>
          </a:p>
        </p:txBody>
      </p:sp>
      <p:sp>
        <p:nvSpPr>
          <p:cNvPr id="3" name="Content Placeholder 2"/>
          <p:cNvSpPr>
            <a:spLocks noGrp="1"/>
          </p:cNvSpPr>
          <p:nvPr>
            <p:ph idx="1"/>
          </p:nvPr>
        </p:nvSpPr>
        <p:spPr>
          <a:xfrm>
            <a:off x="457200" y="990600"/>
            <a:ext cx="8229600" cy="5638800"/>
          </a:xfrm>
        </p:spPr>
        <p:txBody>
          <a:bodyPr>
            <a:normAutofit fontScale="47500" lnSpcReduction="20000"/>
          </a:bodyPr>
          <a:lstStyle/>
          <a:p>
            <a:pPr>
              <a:lnSpc>
                <a:spcPct val="170000"/>
              </a:lnSpc>
            </a:pPr>
            <a:r>
              <a:rPr lang="en-US" sz="3500" b="1" dirty="0"/>
              <a:t>Complexity:</a:t>
            </a:r>
            <a:r>
              <a:rPr lang="en-US" sz="3500" dirty="0"/>
              <a:t> Views help to reduce the complexity. Different views can be created on the same base table for different users.</a:t>
            </a:r>
          </a:p>
          <a:p>
            <a:pPr>
              <a:lnSpc>
                <a:spcPct val="170000"/>
              </a:lnSpc>
            </a:pPr>
            <a:r>
              <a:rPr lang="en-US" sz="3500" b="1" dirty="0"/>
              <a:t>Security:</a:t>
            </a:r>
            <a:r>
              <a:rPr lang="en-US" sz="3500" dirty="0"/>
              <a:t> It increases the security by excluding the sensitive information from the view.</a:t>
            </a:r>
          </a:p>
          <a:p>
            <a:pPr>
              <a:lnSpc>
                <a:spcPct val="170000"/>
              </a:lnSpc>
            </a:pPr>
            <a:r>
              <a:rPr lang="en-US" sz="3500" b="1" dirty="0"/>
              <a:t>Query Simplicity:</a:t>
            </a:r>
            <a:r>
              <a:rPr lang="en-US" sz="3500" dirty="0"/>
              <a:t> It helps to simplify commands from the user. A view can draw data from several different tables and present it as a single table.</a:t>
            </a:r>
          </a:p>
          <a:p>
            <a:pPr>
              <a:lnSpc>
                <a:spcPct val="170000"/>
              </a:lnSpc>
            </a:pPr>
            <a:r>
              <a:rPr lang="en-US" sz="3500" b="1" dirty="0"/>
              <a:t>Consistency:</a:t>
            </a:r>
            <a:r>
              <a:rPr lang="en-US" sz="3500" dirty="0"/>
              <a:t> A view can present a consistent, unchanged image of the structure of the database. Views can be used to rename the columns without affecting the base table.</a:t>
            </a:r>
          </a:p>
          <a:p>
            <a:pPr>
              <a:lnSpc>
                <a:spcPct val="170000"/>
              </a:lnSpc>
            </a:pPr>
            <a:r>
              <a:rPr lang="en-US" sz="3500" b="1" dirty="0"/>
              <a:t>Data Integrity:</a:t>
            </a:r>
            <a:r>
              <a:rPr lang="en-US" sz="3500" dirty="0"/>
              <a:t> If data is accessed and entered through a view, the DBMS can automatically check the data to ensure that it meets the specified integrity constraints.</a:t>
            </a:r>
          </a:p>
          <a:p>
            <a:pPr>
              <a:lnSpc>
                <a:spcPct val="170000"/>
              </a:lnSpc>
            </a:pPr>
            <a:r>
              <a:rPr lang="en-US" sz="3500" b="1" dirty="0"/>
              <a:t>Storage Capacity:</a:t>
            </a:r>
            <a:r>
              <a:rPr lang="en-US" sz="3500" dirty="0"/>
              <a:t> Views take very little space to store the data.</a:t>
            </a:r>
          </a:p>
          <a:p>
            <a:pPr>
              <a:lnSpc>
                <a:spcPct val="170000"/>
              </a:lnSpc>
            </a:pPr>
            <a:r>
              <a:rPr lang="en-US" sz="3500" b="1" dirty="0"/>
              <a:t>Logical Data Independence:</a:t>
            </a:r>
            <a:r>
              <a:rPr lang="en-US" sz="3500" dirty="0"/>
              <a:t> View can make the application and database tables to a certain extent independent.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Disadvantages of View</a:t>
            </a:r>
          </a:p>
        </p:txBody>
      </p:sp>
      <p:sp>
        <p:nvSpPr>
          <p:cNvPr id="3" name="Content Placeholder 2"/>
          <p:cNvSpPr>
            <a:spLocks noGrp="1"/>
          </p:cNvSpPr>
          <p:nvPr>
            <p:ph idx="1"/>
          </p:nvPr>
        </p:nvSpPr>
        <p:spPr>
          <a:xfrm>
            <a:off x="457200" y="838200"/>
            <a:ext cx="8229600" cy="6019800"/>
          </a:xfrm>
        </p:spPr>
        <p:txBody>
          <a:bodyPr>
            <a:noAutofit/>
          </a:bodyPr>
          <a:lstStyle/>
          <a:p>
            <a:pPr>
              <a:lnSpc>
                <a:spcPct val="170000"/>
              </a:lnSpc>
            </a:pPr>
            <a:r>
              <a:rPr lang="en-US" sz="1700" dirty="0"/>
              <a:t>The DML statements which can be performed on a view created using single base table have certain restrictions are:</a:t>
            </a:r>
          </a:p>
          <a:p>
            <a:pPr>
              <a:lnSpc>
                <a:spcPct val="170000"/>
              </a:lnSpc>
            </a:pPr>
            <a:r>
              <a:rPr lang="en-US" sz="1700" dirty="0"/>
              <a:t>You cannot INSERT if the base table has any not null column that do not appear in view.</a:t>
            </a:r>
          </a:p>
          <a:p>
            <a:pPr>
              <a:lnSpc>
                <a:spcPct val="170000"/>
              </a:lnSpc>
            </a:pPr>
            <a:r>
              <a:rPr lang="en-US" sz="1700" dirty="0"/>
              <a:t>You cannot INSERT or UPDATE if any of the column referenced in the INSERT or UPDATE contains group functions or columns defined by expression.</a:t>
            </a:r>
          </a:p>
          <a:p>
            <a:pPr>
              <a:lnSpc>
                <a:spcPct val="170000"/>
              </a:lnSpc>
            </a:pPr>
            <a:r>
              <a:rPr lang="en-US" sz="1700" dirty="0"/>
              <a:t>You can't execute INSERT, UPDATE, DELETE statements on a view if with read only option is enabled.</a:t>
            </a:r>
          </a:p>
          <a:p>
            <a:pPr>
              <a:lnSpc>
                <a:spcPct val="170000"/>
              </a:lnSpc>
            </a:pPr>
            <a:r>
              <a:rPr lang="en-US" sz="1700" dirty="0"/>
              <a:t>You can't be created view on temporary tables.</a:t>
            </a:r>
          </a:p>
          <a:p>
            <a:pPr>
              <a:lnSpc>
                <a:spcPct val="170000"/>
              </a:lnSpc>
            </a:pPr>
            <a:r>
              <a:rPr lang="en-US" sz="1700" dirty="0"/>
              <a:t>You cannot INSERT, UPDATE, DELETE if the view contains group functions GROUP BY, DISTINCT or a reference to a </a:t>
            </a:r>
            <a:r>
              <a:rPr lang="en-US" sz="1700" dirty="0" err="1"/>
              <a:t>psuedo</a:t>
            </a:r>
            <a:r>
              <a:rPr lang="en-US" sz="1700" dirty="0"/>
              <a:t> column </a:t>
            </a:r>
            <a:r>
              <a:rPr lang="en-US" sz="1700" dirty="0" err="1"/>
              <a:t>rownum</a:t>
            </a:r>
            <a:r>
              <a:rPr lang="en-US" sz="1700" dirty="0"/>
              <a:t>.</a:t>
            </a:r>
          </a:p>
          <a:p>
            <a:pPr>
              <a:lnSpc>
                <a:spcPct val="170000"/>
              </a:lnSpc>
            </a:pPr>
            <a:r>
              <a:rPr lang="en-US" sz="1700" dirty="0"/>
              <a:t>You can't pass parameters to the SQL server views.</a:t>
            </a:r>
          </a:p>
          <a:p>
            <a:pPr>
              <a:lnSpc>
                <a:spcPct val="170000"/>
              </a:lnSpc>
            </a:pPr>
            <a:r>
              <a:rPr lang="en-US" sz="1700" dirty="0"/>
              <a:t>You can't associate rules and defaults with views.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endParaRPr lang="en-US"/>
          </a:p>
        </p:txBody>
      </p:sp>
      <p:pic>
        <p:nvPicPr>
          <p:cNvPr id="68611" name="Picture 3"/>
          <p:cNvPicPr>
            <a:picLocks noChangeAspect="1" noChangeArrowheads="1"/>
          </p:cNvPicPr>
          <p:nvPr/>
        </p:nvPicPr>
        <p:blipFill>
          <a:blip r:embed="rId2" cstate="print"/>
          <a:srcRect/>
          <a:stretch>
            <a:fillRect/>
          </a:stretch>
        </p:blipFill>
        <p:spPr bwMode="auto">
          <a:xfrm>
            <a:off x="457200" y="1295400"/>
            <a:ext cx="8215312" cy="5257800"/>
          </a:xfrm>
          <a:prstGeom prst="rect">
            <a:avLst/>
          </a:prstGeom>
          <a:noFill/>
          <a:ln w="9525">
            <a:noFill/>
            <a:miter lim="800000"/>
            <a:headEnd/>
            <a:tailEnd/>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1. Creating view</a:t>
            </a:r>
          </a:p>
        </p:txBody>
      </p:sp>
      <p:sp>
        <p:nvSpPr>
          <p:cNvPr id="3" name="Content Placeholder 2"/>
          <p:cNvSpPr>
            <a:spLocks noGrp="1"/>
          </p:cNvSpPr>
          <p:nvPr>
            <p:ph idx="1"/>
          </p:nvPr>
        </p:nvSpPr>
        <p:spPr>
          <a:xfrm>
            <a:off x="457200" y="1219200"/>
            <a:ext cx="8229600" cy="4906963"/>
          </a:xfrm>
        </p:spPr>
        <p:txBody>
          <a:bodyPr/>
          <a:lstStyle/>
          <a:p>
            <a:pPr algn="just"/>
            <a:r>
              <a:rPr lang="en-US" dirty="0"/>
              <a:t>A view can be created using the </a:t>
            </a:r>
            <a:r>
              <a:rPr lang="en-US" b="1" dirty="0"/>
              <a:t>CREATE VIEW</a:t>
            </a:r>
            <a:r>
              <a:rPr lang="en-US" dirty="0"/>
              <a:t> statement. We can create a view from a single table or multiple tables.</a:t>
            </a:r>
          </a:p>
          <a:p>
            <a:pPr algn="just"/>
            <a:r>
              <a:rPr lang="en-US" b="1" dirty="0"/>
              <a:t>Syntax:</a:t>
            </a:r>
          </a:p>
          <a:p>
            <a:pPr algn="just"/>
            <a:endParaRPr lang="en-US" dirty="0"/>
          </a:p>
          <a:p>
            <a:pPr lvl="2" algn="just">
              <a:buNone/>
            </a:pPr>
            <a:r>
              <a:rPr lang="en-US" b="1" dirty="0"/>
              <a:t>CREATE</a:t>
            </a:r>
            <a:r>
              <a:rPr lang="en-US" dirty="0"/>
              <a:t> </a:t>
            </a:r>
            <a:r>
              <a:rPr lang="en-US" b="1" dirty="0"/>
              <a:t>VIEW</a:t>
            </a:r>
            <a:r>
              <a:rPr lang="en-US" dirty="0"/>
              <a:t> </a:t>
            </a:r>
            <a:r>
              <a:rPr lang="en-US" dirty="0" err="1"/>
              <a:t>view_name</a:t>
            </a:r>
            <a:r>
              <a:rPr lang="en-US" dirty="0"/>
              <a:t> </a:t>
            </a:r>
            <a:r>
              <a:rPr lang="en-US" b="1" dirty="0"/>
              <a:t>AS</a:t>
            </a:r>
            <a:r>
              <a:rPr lang="en-US" dirty="0"/>
              <a:t>  </a:t>
            </a:r>
          </a:p>
          <a:p>
            <a:pPr lvl="2" algn="just">
              <a:buNone/>
            </a:pPr>
            <a:r>
              <a:rPr lang="en-US" b="1" dirty="0"/>
              <a:t>SELECT</a:t>
            </a:r>
            <a:r>
              <a:rPr lang="en-US" dirty="0"/>
              <a:t> column1, column2.....  </a:t>
            </a:r>
          </a:p>
          <a:p>
            <a:pPr lvl="2" algn="just">
              <a:buNone/>
            </a:pPr>
            <a:r>
              <a:rPr lang="en-US" b="1" dirty="0"/>
              <a:t>FROM</a:t>
            </a:r>
            <a:r>
              <a:rPr lang="en-US" dirty="0"/>
              <a:t> </a:t>
            </a:r>
            <a:r>
              <a:rPr lang="en-US" dirty="0" err="1"/>
              <a:t>table_name</a:t>
            </a:r>
            <a:r>
              <a:rPr lang="en-US" dirty="0"/>
              <a:t>  </a:t>
            </a:r>
          </a:p>
          <a:p>
            <a:pPr lvl="2" algn="just">
              <a:buNone/>
            </a:pPr>
            <a:r>
              <a:rPr lang="en-US" b="1" dirty="0"/>
              <a:t>WHERE</a:t>
            </a:r>
            <a:r>
              <a:rPr lang="en-US" dirty="0"/>
              <a:t> condition;  </a:t>
            </a:r>
          </a:p>
          <a:p>
            <a:pPr algn="just"/>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2. Creating View from a single table</a:t>
            </a:r>
          </a:p>
        </p:txBody>
      </p:sp>
      <p:sp>
        <p:nvSpPr>
          <p:cNvPr id="3" name="Content Placeholder 2"/>
          <p:cNvSpPr>
            <a:spLocks noGrp="1"/>
          </p:cNvSpPr>
          <p:nvPr>
            <p:ph idx="1"/>
          </p:nvPr>
        </p:nvSpPr>
        <p:spPr>
          <a:xfrm>
            <a:off x="457200" y="990600"/>
            <a:ext cx="8229600" cy="5135563"/>
          </a:xfrm>
        </p:spPr>
        <p:txBody>
          <a:bodyPr>
            <a:normAutofit/>
          </a:bodyPr>
          <a:lstStyle/>
          <a:p>
            <a:r>
              <a:rPr lang="en-US" sz="2400" dirty="0"/>
              <a:t>In this example, we create a View named </a:t>
            </a:r>
            <a:r>
              <a:rPr lang="en-US" sz="2400" dirty="0" err="1"/>
              <a:t>DetailsView</a:t>
            </a:r>
            <a:r>
              <a:rPr lang="en-US" sz="2400" dirty="0"/>
              <a:t> from the table </a:t>
            </a:r>
            <a:r>
              <a:rPr lang="en-US" sz="2400" dirty="0" err="1"/>
              <a:t>Student_Detail</a:t>
            </a:r>
            <a:r>
              <a:rPr lang="en-US" sz="2400" dirty="0"/>
              <a:t>.</a:t>
            </a:r>
          </a:p>
          <a:p>
            <a:pPr lvl="1">
              <a:buNone/>
            </a:pPr>
            <a:r>
              <a:rPr lang="en-US" sz="2000" b="1" dirty="0"/>
              <a:t>CREATE</a:t>
            </a:r>
            <a:r>
              <a:rPr lang="en-US" sz="2000" dirty="0"/>
              <a:t> </a:t>
            </a:r>
            <a:r>
              <a:rPr lang="en-US" sz="2000" b="1" dirty="0"/>
              <a:t>VIEW</a:t>
            </a:r>
            <a:r>
              <a:rPr lang="en-US" sz="2000" dirty="0"/>
              <a:t> </a:t>
            </a:r>
            <a:r>
              <a:rPr lang="en-US" sz="2000" dirty="0" err="1"/>
              <a:t>DetailsView</a:t>
            </a:r>
            <a:r>
              <a:rPr lang="en-US" sz="2000" dirty="0"/>
              <a:t> </a:t>
            </a:r>
            <a:r>
              <a:rPr lang="en-US" sz="2000" b="1" dirty="0"/>
              <a:t>AS</a:t>
            </a:r>
            <a:r>
              <a:rPr lang="en-US" sz="2000" dirty="0"/>
              <a:t>  </a:t>
            </a:r>
          </a:p>
          <a:p>
            <a:pPr lvl="1">
              <a:buNone/>
            </a:pPr>
            <a:r>
              <a:rPr lang="en-US" sz="2000" b="1" dirty="0"/>
              <a:t>SELECT</a:t>
            </a:r>
            <a:r>
              <a:rPr lang="en-US" sz="2000" dirty="0"/>
              <a:t> </a:t>
            </a:r>
            <a:r>
              <a:rPr lang="en-US" sz="2000" b="1" dirty="0"/>
              <a:t>NAME</a:t>
            </a:r>
            <a:r>
              <a:rPr lang="en-US" sz="2000" dirty="0"/>
              <a:t>, ADDRESS  </a:t>
            </a:r>
          </a:p>
          <a:p>
            <a:pPr lvl="1">
              <a:buNone/>
            </a:pPr>
            <a:r>
              <a:rPr lang="en-US" sz="2000" b="1" dirty="0"/>
              <a:t>FROM</a:t>
            </a:r>
            <a:r>
              <a:rPr lang="en-US" sz="2000" dirty="0"/>
              <a:t> </a:t>
            </a:r>
            <a:r>
              <a:rPr lang="en-US" sz="2000" dirty="0" err="1"/>
              <a:t>Student_Details</a:t>
            </a:r>
            <a:r>
              <a:rPr lang="en-US" sz="2000" dirty="0"/>
              <a:t>  </a:t>
            </a:r>
          </a:p>
          <a:p>
            <a:pPr lvl="1">
              <a:buNone/>
            </a:pPr>
            <a:r>
              <a:rPr lang="en-US" sz="2000" b="1" dirty="0"/>
              <a:t>WHERE</a:t>
            </a:r>
            <a:r>
              <a:rPr lang="en-US" sz="2000" dirty="0"/>
              <a:t> STU_ID &lt; 4;  </a:t>
            </a:r>
          </a:p>
          <a:p>
            <a:r>
              <a:rPr lang="en-US" sz="2400" dirty="0"/>
              <a:t>Just like table query, we can query the view to view the data.</a:t>
            </a:r>
          </a:p>
          <a:p>
            <a:pPr lvl="1">
              <a:buNone/>
            </a:pPr>
            <a:r>
              <a:rPr lang="en-US" sz="2000" b="1" dirty="0"/>
              <a:t>SELECT</a:t>
            </a:r>
            <a:r>
              <a:rPr lang="en-US" sz="2000" dirty="0"/>
              <a:t> * </a:t>
            </a:r>
            <a:r>
              <a:rPr lang="en-US" sz="2000" b="1" dirty="0"/>
              <a:t>FROM</a:t>
            </a:r>
            <a:r>
              <a:rPr lang="en-US" sz="2000" dirty="0"/>
              <a:t> </a:t>
            </a:r>
            <a:r>
              <a:rPr lang="en-US" sz="2000" dirty="0" err="1"/>
              <a:t>DetailsView</a:t>
            </a:r>
            <a:r>
              <a:rPr lang="en-US" sz="2000" dirty="0"/>
              <a:t>;  </a:t>
            </a:r>
          </a:p>
          <a:p>
            <a:endParaRPr lang="en-US" dirty="0"/>
          </a:p>
        </p:txBody>
      </p:sp>
      <p:pic>
        <p:nvPicPr>
          <p:cNvPr id="69634" name="Picture 2"/>
          <p:cNvPicPr>
            <a:picLocks noChangeAspect="1" noChangeArrowheads="1"/>
          </p:cNvPicPr>
          <p:nvPr/>
        </p:nvPicPr>
        <p:blipFill>
          <a:blip r:embed="rId2" cstate="print"/>
          <a:srcRect/>
          <a:stretch>
            <a:fillRect/>
          </a:stretch>
        </p:blipFill>
        <p:spPr bwMode="auto">
          <a:xfrm>
            <a:off x="762000" y="4419600"/>
            <a:ext cx="7391400" cy="1571625"/>
          </a:xfrm>
          <a:prstGeom prst="rect">
            <a:avLst/>
          </a:prstGeom>
          <a:noFill/>
          <a:ln w="9525">
            <a:noFill/>
            <a:miter lim="800000"/>
            <a:headEnd/>
            <a:tailEnd/>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sz="2800" b="1" dirty="0"/>
              <a:t>3. Creating View from multiple tables</a:t>
            </a:r>
          </a:p>
        </p:txBody>
      </p:sp>
      <p:sp>
        <p:nvSpPr>
          <p:cNvPr id="3" name="Content Placeholder 2"/>
          <p:cNvSpPr>
            <a:spLocks noGrp="1"/>
          </p:cNvSpPr>
          <p:nvPr>
            <p:ph idx="1"/>
          </p:nvPr>
        </p:nvSpPr>
        <p:spPr>
          <a:xfrm>
            <a:off x="457200" y="914400"/>
            <a:ext cx="8382000" cy="5211763"/>
          </a:xfrm>
        </p:spPr>
        <p:txBody>
          <a:bodyPr>
            <a:normAutofit/>
          </a:bodyPr>
          <a:lstStyle/>
          <a:p>
            <a:r>
              <a:rPr lang="en-US" sz="2400" dirty="0"/>
              <a:t>View from multiple tables can be created by simply include multiple tables in the SELECT statement.</a:t>
            </a:r>
          </a:p>
          <a:p>
            <a:r>
              <a:rPr lang="en-US" sz="2400" dirty="0"/>
              <a:t>In the given example, a view is created named </a:t>
            </a:r>
            <a:r>
              <a:rPr lang="en-US" sz="2400" dirty="0" err="1"/>
              <a:t>MarksView</a:t>
            </a:r>
            <a:r>
              <a:rPr lang="en-US" sz="2400" dirty="0"/>
              <a:t> from two tables </a:t>
            </a:r>
            <a:r>
              <a:rPr lang="en-US" sz="2400" dirty="0" err="1"/>
              <a:t>Student_Detail</a:t>
            </a:r>
            <a:r>
              <a:rPr lang="en-US" sz="2400" dirty="0"/>
              <a:t> and </a:t>
            </a:r>
            <a:r>
              <a:rPr lang="en-US" sz="2400" dirty="0" err="1"/>
              <a:t>Student_Marks</a:t>
            </a:r>
            <a:r>
              <a:rPr lang="en-US" sz="2400" dirty="0"/>
              <a:t>.</a:t>
            </a:r>
          </a:p>
          <a:p>
            <a:pPr lvl="1">
              <a:buNone/>
            </a:pPr>
            <a:r>
              <a:rPr lang="en-US" sz="1400" b="1" dirty="0"/>
              <a:t>CREATE</a:t>
            </a:r>
            <a:r>
              <a:rPr lang="en-US" sz="1400" dirty="0"/>
              <a:t> </a:t>
            </a:r>
            <a:r>
              <a:rPr lang="en-US" sz="1400" b="1" dirty="0"/>
              <a:t>VIEW</a:t>
            </a:r>
            <a:r>
              <a:rPr lang="en-US" sz="1400" dirty="0"/>
              <a:t> </a:t>
            </a:r>
            <a:r>
              <a:rPr lang="en-US" sz="1400" dirty="0" err="1"/>
              <a:t>MarksView</a:t>
            </a:r>
            <a:r>
              <a:rPr lang="en-US" sz="1400" dirty="0"/>
              <a:t> </a:t>
            </a:r>
            <a:r>
              <a:rPr lang="en-US" sz="1400" b="1" dirty="0"/>
              <a:t>AS</a:t>
            </a:r>
            <a:r>
              <a:rPr lang="en-US" sz="1400" dirty="0"/>
              <a:t>  </a:t>
            </a:r>
          </a:p>
          <a:p>
            <a:pPr lvl="1">
              <a:buNone/>
            </a:pPr>
            <a:r>
              <a:rPr lang="en-US" sz="1400" b="1" dirty="0"/>
              <a:t>SELECT</a:t>
            </a:r>
            <a:r>
              <a:rPr lang="en-US" sz="1400" dirty="0"/>
              <a:t> Student_Detail.</a:t>
            </a:r>
            <a:r>
              <a:rPr lang="en-US" sz="1400" b="1" dirty="0"/>
              <a:t>NAME</a:t>
            </a:r>
            <a:r>
              <a:rPr lang="en-US" sz="1400" dirty="0"/>
              <a:t>, </a:t>
            </a:r>
            <a:r>
              <a:rPr lang="en-US" sz="1400" dirty="0" err="1"/>
              <a:t>Student_Detail.ADDRESS</a:t>
            </a:r>
            <a:r>
              <a:rPr lang="en-US" sz="1400" dirty="0"/>
              <a:t>, </a:t>
            </a:r>
            <a:r>
              <a:rPr lang="en-US" sz="1400" dirty="0" err="1"/>
              <a:t>Student_Marks.MARKS</a:t>
            </a:r>
            <a:r>
              <a:rPr lang="en-US" sz="1400" dirty="0"/>
              <a:t>  </a:t>
            </a:r>
          </a:p>
          <a:p>
            <a:pPr lvl="1">
              <a:buNone/>
            </a:pPr>
            <a:r>
              <a:rPr lang="en-US" sz="1400" b="1" dirty="0"/>
              <a:t>FROM</a:t>
            </a:r>
            <a:r>
              <a:rPr lang="en-US" sz="1400" dirty="0"/>
              <a:t> </a:t>
            </a:r>
            <a:r>
              <a:rPr lang="en-US" sz="1400" dirty="0" err="1"/>
              <a:t>Student_Detail</a:t>
            </a:r>
            <a:r>
              <a:rPr lang="en-US" sz="1400" dirty="0"/>
              <a:t>, </a:t>
            </a:r>
            <a:r>
              <a:rPr lang="en-US" sz="1400" dirty="0" err="1"/>
              <a:t>Student_Mark</a:t>
            </a:r>
            <a:r>
              <a:rPr lang="en-US" sz="1400" dirty="0"/>
              <a:t>  </a:t>
            </a:r>
          </a:p>
          <a:p>
            <a:pPr lvl="1">
              <a:buNone/>
            </a:pPr>
            <a:r>
              <a:rPr lang="en-US" sz="1400" b="1" dirty="0"/>
              <a:t>WHERE</a:t>
            </a:r>
            <a:r>
              <a:rPr lang="en-US" sz="1400" dirty="0"/>
              <a:t> Student_Detail.</a:t>
            </a:r>
            <a:r>
              <a:rPr lang="en-US" sz="1400" b="1" dirty="0"/>
              <a:t>NAME</a:t>
            </a:r>
            <a:r>
              <a:rPr lang="en-US" sz="1400" dirty="0"/>
              <a:t> = Student_Marks.</a:t>
            </a:r>
            <a:r>
              <a:rPr lang="en-US" sz="1400" b="1" dirty="0"/>
              <a:t>NAME</a:t>
            </a:r>
            <a:r>
              <a:rPr lang="en-US" sz="1400" dirty="0"/>
              <a:t>;  </a:t>
            </a:r>
          </a:p>
          <a:p>
            <a:r>
              <a:rPr lang="en-US" sz="2400" dirty="0"/>
              <a:t>To display data of View </a:t>
            </a:r>
            <a:r>
              <a:rPr lang="en-US" sz="2400" dirty="0" err="1"/>
              <a:t>MarksView</a:t>
            </a:r>
            <a:r>
              <a:rPr lang="en-US" sz="2400" dirty="0"/>
              <a:t>:</a:t>
            </a:r>
          </a:p>
          <a:p>
            <a:r>
              <a:rPr lang="en-US" sz="2400" b="1" dirty="0"/>
              <a:t>SELECT</a:t>
            </a:r>
            <a:r>
              <a:rPr lang="en-US" sz="2400" dirty="0"/>
              <a:t> * </a:t>
            </a:r>
            <a:r>
              <a:rPr lang="en-US" sz="2400" b="1" dirty="0"/>
              <a:t>FROM</a:t>
            </a:r>
            <a:r>
              <a:rPr lang="en-US" sz="2400" dirty="0"/>
              <a:t> </a:t>
            </a:r>
            <a:r>
              <a:rPr lang="en-US" sz="2400" dirty="0" err="1"/>
              <a:t>MarksView</a:t>
            </a:r>
            <a:r>
              <a:rPr lang="en-US" sz="2400" dirty="0"/>
              <a:t>;  </a:t>
            </a:r>
          </a:p>
          <a:p>
            <a:endParaRPr lang="en-US" sz="2400" dirty="0"/>
          </a:p>
        </p:txBody>
      </p:sp>
      <p:pic>
        <p:nvPicPr>
          <p:cNvPr id="70658" name="Picture 2"/>
          <p:cNvPicPr>
            <a:picLocks noChangeAspect="1" noChangeArrowheads="1"/>
          </p:cNvPicPr>
          <p:nvPr/>
        </p:nvPicPr>
        <p:blipFill>
          <a:blip r:embed="rId2" cstate="print"/>
          <a:srcRect/>
          <a:stretch>
            <a:fillRect/>
          </a:stretch>
        </p:blipFill>
        <p:spPr bwMode="auto">
          <a:xfrm>
            <a:off x="914400" y="4724400"/>
            <a:ext cx="7248525" cy="1628775"/>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sz="3600" b="1" dirty="0"/>
              <a:t>4. Deleting View</a:t>
            </a:r>
          </a:p>
        </p:txBody>
      </p:sp>
      <p:sp>
        <p:nvSpPr>
          <p:cNvPr id="3" name="Content Placeholder 2"/>
          <p:cNvSpPr>
            <a:spLocks noGrp="1"/>
          </p:cNvSpPr>
          <p:nvPr>
            <p:ph idx="1"/>
          </p:nvPr>
        </p:nvSpPr>
        <p:spPr/>
        <p:txBody>
          <a:bodyPr/>
          <a:lstStyle/>
          <a:p>
            <a:r>
              <a:rPr lang="en-US" dirty="0"/>
              <a:t>A view can be deleted using the Drop View statement.</a:t>
            </a:r>
          </a:p>
          <a:p>
            <a:r>
              <a:rPr lang="en-US" b="1" dirty="0"/>
              <a:t>Syntax</a:t>
            </a:r>
            <a:endParaRPr lang="en-US" dirty="0"/>
          </a:p>
          <a:p>
            <a:r>
              <a:rPr lang="en-US" b="1" dirty="0"/>
              <a:t>DROP</a:t>
            </a:r>
            <a:r>
              <a:rPr lang="en-US" dirty="0"/>
              <a:t> </a:t>
            </a:r>
            <a:r>
              <a:rPr lang="en-US" b="1" dirty="0"/>
              <a:t>VIEW</a:t>
            </a:r>
            <a:r>
              <a:rPr lang="en-US" dirty="0"/>
              <a:t> </a:t>
            </a:r>
            <a:r>
              <a:rPr lang="en-US" dirty="0" err="1"/>
              <a:t>view_name</a:t>
            </a:r>
            <a:r>
              <a:rPr lang="en-US" dirty="0"/>
              <a:t>;  </a:t>
            </a:r>
          </a:p>
          <a:p>
            <a:r>
              <a:rPr lang="en-US" dirty="0"/>
              <a:t>Example</a:t>
            </a:r>
          </a:p>
          <a:p>
            <a:pPr lvl="1">
              <a:buNone/>
            </a:pPr>
            <a:r>
              <a:rPr lang="en-US" b="1" dirty="0"/>
              <a:t>DROP</a:t>
            </a:r>
            <a:r>
              <a:rPr lang="en-US" dirty="0"/>
              <a:t> </a:t>
            </a:r>
            <a:r>
              <a:rPr lang="en-US" b="1" dirty="0"/>
              <a:t>VIEW</a:t>
            </a:r>
            <a:r>
              <a:rPr lang="en-US" dirty="0"/>
              <a:t> </a:t>
            </a:r>
            <a:r>
              <a:rPr lang="en-US" dirty="0" err="1"/>
              <a:t>MarksView</a:t>
            </a:r>
            <a:r>
              <a:rPr lang="en-US"/>
              <a:t>;  </a:t>
            </a:r>
          </a:p>
          <a:p>
            <a:pPr lvl="1">
              <a:buNone/>
            </a:pPr>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 Operations in SQL</a:t>
            </a:r>
          </a:p>
        </p:txBody>
      </p:sp>
      <p:sp>
        <p:nvSpPr>
          <p:cNvPr id="3" name="Content Placeholder 2"/>
          <p:cNvSpPr>
            <a:spLocks noGrp="1"/>
          </p:cNvSpPr>
          <p:nvPr>
            <p:ph idx="1"/>
          </p:nvPr>
        </p:nvSpPr>
        <p:spPr/>
        <p:txBody>
          <a:bodyPr/>
          <a:lstStyle/>
          <a:p>
            <a:r>
              <a:rPr lang="en-US" dirty="0"/>
              <a:t>The SQL Set operation is used to combine the two or more SQL SELECT statements.</a:t>
            </a:r>
          </a:p>
          <a:p>
            <a:r>
              <a:rPr lang="en-US" dirty="0"/>
              <a:t>Types of Set Operation</a:t>
            </a:r>
          </a:p>
          <a:p>
            <a:pPr lvl="1">
              <a:buFont typeface="Wingdings" pitchFamily="2" charset="2"/>
              <a:buChar char="Ø"/>
            </a:pPr>
            <a:r>
              <a:rPr lang="en-US" dirty="0"/>
              <a:t>Union</a:t>
            </a:r>
          </a:p>
          <a:p>
            <a:pPr lvl="1">
              <a:buFont typeface="Wingdings" pitchFamily="2" charset="2"/>
              <a:buChar char="Ø"/>
            </a:pPr>
            <a:r>
              <a:rPr lang="en-US" dirty="0" err="1"/>
              <a:t>UnionAll</a:t>
            </a:r>
            <a:endParaRPr lang="en-US" dirty="0"/>
          </a:p>
          <a:p>
            <a:pPr lvl="1">
              <a:buFont typeface="Wingdings" pitchFamily="2" charset="2"/>
              <a:buChar char="Ø"/>
            </a:pPr>
            <a:r>
              <a:rPr lang="en-US" dirty="0"/>
              <a:t>Intersect</a:t>
            </a:r>
          </a:p>
          <a:p>
            <a:pPr lvl="1">
              <a:buFont typeface="Wingdings" pitchFamily="2" charset="2"/>
              <a:buChar char="Ø"/>
            </a:pPr>
            <a:r>
              <a:rPr lang="en-US" dirty="0"/>
              <a:t>Minus</a:t>
            </a:r>
          </a:p>
          <a:p>
            <a:endParaRPr lang="en-US" dirty="0"/>
          </a:p>
        </p:txBody>
      </p:sp>
      <p:sp>
        <p:nvSpPr>
          <p:cNvPr id="1026" name="AutoShape 2" descr="DBMS SQL Set Oper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1. Union</a:t>
            </a:r>
          </a:p>
        </p:txBody>
      </p:sp>
      <p:sp>
        <p:nvSpPr>
          <p:cNvPr id="3" name="Content Placeholder 2"/>
          <p:cNvSpPr>
            <a:spLocks noGrp="1"/>
          </p:cNvSpPr>
          <p:nvPr>
            <p:ph idx="1"/>
          </p:nvPr>
        </p:nvSpPr>
        <p:spPr>
          <a:xfrm>
            <a:off x="457200" y="1066800"/>
            <a:ext cx="8229600" cy="5059363"/>
          </a:xfrm>
        </p:spPr>
        <p:txBody>
          <a:bodyPr>
            <a:normAutofit fontScale="92500" lnSpcReduction="20000"/>
          </a:bodyPr>
          <a:lstStyle/>
          <a:p>
            <a:r>
              <a:rPr lang="en-US" dirty="0"/>
              <a:t>The SQL Union operation is used to combine the result of two or more SQL SELECT queries.</a:t>
            </a:r>
          </a:p>
          <a:p>
            <a:r>
              <a:rPr lang="en-US" dirty="0"/>
              <a:t>In the union operation, all the number of </a:t>
            </a:r>
            <a:r>
              <a:rPr lang="en-US" dirty="0" err="1"/>
              <a:t>datatype</a:t>
            </a:r>
            <a:r>
              <a:rPr lang="en-US" dirty="0"/>
              <a:t> and columns must be same in both the tables on which UNION operation is being applied.</a:t>
            </a:r>
          </a:p>
          <a:p>
            <a:r>
              <a:rPr lang="en-US" dirty="0"/>
              <a:t>The union operation eliminates the duplicate rows from its </a:t>
            </a:r>
            <a:r>
              <a:rPr lang="en-US" dirty="0" err="1"/>
              <a:t>resultset</a:t>
            </a:r>
            <a:r>
              <a:rPr lang="en-US" dirty="0"/>
              <a:t>.</a:t>
            </a:r>
          </a:p>
          <a:p>
            <a:r>
              <a:rPr lang="en-US" b="1" dirty="0"/>
              <a:t>Syntax</a:t>
            </a:r>
            <a:endParaRPr lang="en-US" dirty="0"/>
          </a:p>
          <a:p>
            <a:pPr lvl="2">
              <a:buNone/>
            </a:pPr>
            <a:r>
              <a:rPr lang="en-US" dirty="0"/>
              <a:t>SELECT </a:t>
            </a:r>
            <a:r>
              <a:rPr lang="en-US" dirty="0" err="1"/>
              <a:t>column_name</a:t>
            </a:r>
            <a:r>
              <a:rPr lang="en-US" dirty="0"/>
              <a:t> FROM table1  </a:t>
            </a:r>
          </a:p>
          <a:p>
            <a:pPr lvl="2">
              <a:buNone/>
            </a:pPr>
            <a:r>
              <a:rPr lang="en-US" dirty="0"/>
              <a:t>UNION  </a:t>
            </a:r>
          </a:p>
          <a:p>
            <a:pPr lvl="2">
              <a:buNone/>
            </a:pPr>
            <a:r>
              <a:rPr lang="en-US" dirty="0"/>
              <a:t>SELECT </a:t>
            </a:r>
            <a:r>
              <a:rPr lang="en-US" dirty="0" err="1"/>
              <a:t>column_name</a:t>
            </a:r>
            <a:r>
              <a:rPr lang="en-US" dirty="0"/>
              <a:t> FROM table2;  </a:t>
            </a:r>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b="1" dirty="0"/>
              <a:t>Union Example</a:t>
            </a:r>
          </a:p>
        </p:txBody>
      </p:sp>
      <p:pic>
        <p:nvPicPr>
          <p:cNvPr id="87042" name="Picture 2"/>
          <p:cNvPicPr>
            <a:picLocks noChangeAspect="1" noChangeArrowheads="1"/>
          </p:cNvPicPr>
          <p:nvPr/>
        </p:nvPicPr>
        <p:blipFill>
          <a:blip r:embed="rId2" cstate="print"/>
          <a:srcRect/>
          <a:stretch>
            <a:fillRect/>
          </a:stretch>
        </p:blipFill>
        <p:spPr bwMode="auto">
          <a:xfrm>
            <a:off x="838200" y="762001"/>
            <a:ext cx="7334250" cy="2667000"/>
          </a:xfrm>
          <a:prstGeom prst="rect">
            <a:avLst/>
          </a:prstGeom>
          <a:noFill/>
          <a:ln w="9525">
            <a:noFill/>
            <a:miter lim="800000"/>
            <a:headEnd/>
            <a:tailEnd/>
          </a:ln>
        </p:spPr>
      </p:pic>
      <p:sp>
        <p:nvSpPr>
          <p:cNvPr id="5" name="Rectangle 4"/>
          <p:cNvSpPr/>
          <p:nvPr/>
        </p:nvSpPr>
        <p:spPr>
          <a:xfrm>
            <a:off x="838200" y="3505200"/>
            <a:ext cx="7239000" cy="646331"/>
          </a:xfrm>
          <a:prstGeom prst="rect">
            <a:avLst/>
          </a:prstGeom>
        </p:spPr>
        <p:txBody>
          <a:bodyPr wrap="square">
            <a:spAutoFit/>
          </a:bodyPr>
          <a:lstStyle/>
          <a:p>
            <a:r>
              <a:rPr lang="en-US" b="1" dirty="0"/>
              <a:t>Union SQL query will be:</a:t>
            </a:r>
          </a:p>
          <a:p>
            <a:r>
              <a:rPr lang="en-US" dirty="0"/>
              <a:t>SELECT * FROM First   UNION  SELECT * FROM Second;  </a:t>
            </a:r>
          </a:p>
        </p:txBody>
      </p:sp>
      <p:pic>
        <p:nvPicPr>
          <p:cNvPr id="87043" name="Picture 3"/>
          <p:cNvPicPr>
            <a:picLocks noChangeAspect="1" noChangeArrowheads="1"/>
          </p:cNvPicPr>
          <p:nvPr/>
        </p:nvPicPr>
        <p:blipFill>
          <a:blip r:embed="rId3" cstate="print"/>
          <a:srcRect/>
          <a:stretch>
            <a:fillRect/>
          </a:stretch>
        </p:blipFill>
        <p:spPr bwMode="auto">
          <a:xfrm>
            <a:off x="762000" y="4267200"/>
            <a:ext cx="7620000" cy="2438400"/>
          </a:xfrm>
          <a:prstGeom prst="rect">
            <a:avLst/>
          </a:prstGeom>
          <a:noFill/>
          <a:ln w="9525">
            <a:noFill/>
            <a:miter lim="800000"/>
            <a:headEnd/>
            <a:tailEnd/>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b="1" dirty="0"/>
              <a:t>2. Union All</a:t>
            </a:r>
          </a:p>
        </p:txBody>
      </p:sp>
      <p:sp>
        <p:nvSpPr>
          <p:cNvPr id="3" name="Content Placeholder 2"/>
          <p:cNvSpPr>
            <a:spLocks noGrp="1"/>
          </p:cNvSpPr>
          <p:nvPr>
            <p:ph idx="1"/>
          </p:nvPr>
        </p:nvSpPr>
        <p:spPr>
          <a:xfrm>
            <a:off x="457200" y="838200"/>
            <a:ext cx="8229600" cy="5287963"/>
          </a:xfrm>
        </p:spPr>
        <p:txBody>
          <a:bodyPr>
            <a:noAutofit/>
          </a:bodyPr>
          <a:lstStyle/>
          <a:p>
            <a:r>
              <a:rPr lang="en-US" sz="2000" dirty="0"/>
              <a:t>Union All operation is equal to the Union operation. It returns the set without removing duplication and sorting the data.</a:t>
            </a:r>
          </a:p>
          <a:p>
            <a:r>
              <a:rPr lang="en-US" sz="2000" b="1" dirty="0"/>
              <a:t>Syntax:</a:t>
            </a:r>
            <a:endParaRPr lang="en-US" sz="2000" dirty="0"/>
          </a:p>
          <a:p>
            <a:pPr lvl="2">
              <a:buNone/>
            </a:pPr>
            <a:r>
              <a:rPr lang="en-US" sz="1600" dirty="0"/>
              <a:t>SELECT </a:t>
            </a:r>
            <a:r>
              <a:rPr lang="en-US" sz="1600" dirty="0" err="1"/>
              <a:t>column_name</a:t>
            </a:r>
            <a:r>
              <a:rPr lang="en-US" sz="1600" dirty="0"/>
              <a:t> FROM table1  </a:t>
            </a:r>
          </a:p>
          <a:p>
            <a:pPr lvl="2">
              <a:buNone/>
            </a:pPr>
            <a:r>
              <a:rPr lang="en-US" sz="1600" dirty="0"/>
              <a:t>UNION ALL  </a:t>
            </a:r>
          </a:p>
          <a:p>
            <a:pPr lvl="2">
              <a:buNone/>
            </a:pPr>
            <a:r>
              <a:rPr lang="en-US" sz="1600" dirty="0"/>
              <a:t>SELECT </a:t>
            </a:r>
            <a:r>
              <a:rPr lang="en-US" sz="1600" dirty="0" err="1"/>
              <a:t>column_name</a:t>
            </a:r>
            <a:r>
              <a:rPr lang="en-US" sz="1600" dirty="0"/>
              <a:t> FROM table2;  </a:t>
            </a:r>
          </a:p>
          <a:p>
            <a:r>
              <a:rPr lang="en-US" sz="2000" b="1" dirty="0"/>
              <a:t>Example:</a:t>
            </a:r>
            <a:r>
              <a:rPr lang="en-US" sz="2000" dirty="0"/>
              <a:t> Using the above First and Second table.</a:t>
            </a:r>
          </a:p>
          <a:p>
            <a:r>
              <a:rPr lang="en-US" sz="2000" dirty="0"/>
              <a:t>Union All query will be like:</a:t>
            </a:r>
          </a:p>
          <a:p>
            <a:pPr lvl="2">
              <a:buNone/>
            </a:pPr>
            <a:r>
              <a:rPr lang="en-US" sz="1600" dirty="0"/>
              <a:t>SELECT * FROM First   </a:t>
            </a:r>
          </a:p>
          <a:p>
            <a:pPr lvl="2">
              <a:buNone/>
            </a:pPr>
            <a:r>
              <a:rPr lang="en-US" sz="1600" dirty="0"/>
              <a:t>UNION ALL  </a:t>
            </a:r>
          </a:p>
          <a:p>
            <a:pPr lvl="2">
              <a:buNone/>
            </a:pPr>
            <a:r>
              <a:rPr lang="en-US" sz="1600" dirty="0"/>
              <a:t>SELECT * FROM Second;  </a:t>
            </a:r>
          </a:p>
          <a:p>
            <a:pPr lvl="2">
              <a:buNone/>
            </a:pPr>
            <a:r>
              <a:rPr lang="en-US" sz="1600" dirty="0"/>
              <a:t>The </a:t>
            </a:r>
            <a:r>
              <a:rPr lang="en-US" sz="1600" dirty="0" err="1"/>
              <a:t>resultset</a:t>
            </a:r>
            <a:r>
              <a:rPr lang="en-US" sz="1600" dirty="0"/>
              <a:t> table will look like:</a:t>
            </a:r>
          </a:p>
          <a:p>
            <a:pPr>
              <a:buNone/>
            </a:pPr>
            <a:br>
              <a:rPr lang="en-US" sz="2000" dirty="0"/>
            </a:br>
            <a:endParaRPr lang="en-US" sz="2000" dirty="0"/>
          </a:p>
        </p:txBody>
      </p:sp>
      <p:pic>
        <p:nvPicPr>
          <p:cNvPr id="88066" name="Picture 2"/>
          <p:cNvPicPr>
            <a:picLocks noChangeAspect="1" noChangeArrowheads="1"/>
          </p:cNvPicPr>
          <p:nvPr/>
        </p:nvPicPr>
        <p:blipFill>
          <a:blip r:embed="rId2" cstate="print"/>
          <a:srcRect/>
          <a:stretch>
            <a:fillRect/>
          </a:stretch>
        </p:blipFill>
        <p:spPr bwMode="auto">
          <a:xfrm>
            <a:off x="990600" y="4800600"/>
            <a:ext cx="7286625" cy="1905000"/>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82562"/>
          </a:xfrm>
        </p:spPr>
        <p:txBody>
          <a:bodyPr>
            <a:noAutofit/>
          </a:bodyPr>
          <a:lstStyle/>
          <a:p>
            <a:r>
              <a:rPr lang="en-US" sz="3200" b="1" dirty="0"/>
              <a:t>3. Intersect</a:t>
            </a:r>
          </a:p>
        </p:txBody>
      </p:sp>
      <p:sp>
        <p:nvSpPr>
          <p:cNvPr id="3" name="Content Placeholder 2"/>
          <p:cNvSpPr>
            <a:spLocks noGrp="1"/>
          </p:cNvSpPr>
          <p:nvPr>
            <p:ph idx="1"/>
          </p:nvPr>
        </p:nvSpPr>
        <p:spPr>
          <a:xfrm>
            <a:off x="457200" y="685800"/>
            <a:ext cx="8229600" cy="5791200"/>
          </a:xfrm>
        </p:spPr>
        <p:txBody>
          <a:bodyPr>
            <a:normAutofit fontScale="70000" lnSpcReduction="20000"/>
          </a:bodyPr>
          <a:lstStyle/>
          <a:p>
            <a:r>
              <a:rPr lang="en-US" dirty="0"/>
              <a:t>It is used to combine two SELECT statements. The Intersect operation returns the common rows from both the SELECT statements.</a:t>
            </a:r>
          </a:p>
          <a:p>
            <a:r>
              <a:rPr lang="en-US" dirty="0"/>
              <a:t>In the Intersect operation, the number of </a:t>
            </a:r>
            <a:r>
              <a:rPr lang="en-US" dirty="0" err="1"/>
              <a:t>datatype</a:t>
            </a:r>
            <a:r>
              <a:rPr lang="en-US" dirty="0"/>
              <a:t> and columns must be the same.</a:t>
            </a:r>
          </a:p>
          <a:p>
            <a:r>
              <a:rPr lang="en-US" dirty="0"/>
              <a:t>It has no duplicates and it arranges the data in ascending order by default.</a:t>
            </a:r>
          </a:p>
          <a:p>
            <a:r>
              <a:rPr lang="en-US" b="1" dirty="0"/>
              <a:t>Syntax</a:t>
            </a:r>
            <a:endParaRPr lang="en-US" dirty="0"/>
          </a:p>
          <a:p>
            <a:pPr lvl="2">
              <a:buNone/>
            </a:pPr>
            <a:r>
              <a:rPr lang="en-US" dirty="0"/>
              <a:t>SELECT </a:t>
            </a:r>
            <a:r>
              <a:rPr lang="en-US" dirty="0" err="1"/>
              <a:t>column_name</a:t>
            </a:r>
            <a:r>
              <a:rPr lang="en-US" dirty="0"/>
              <a:t> FROM table1  </a:t>
            </a:r>
          </a:p>
          <a:p>
            <a:pPr lvl="2">
              <a:buNone/>
            </a:pPr>
            <a:r>
              <a:rPr lang="en-US" dirty="0"/>
              <a:t>INTERSECT  </a:t>
            </a:r>
          </a:p>
          <a:p>
            <a:pPr lvl="2">
              <a:buNone/>
            </a:pPr>
            <a:r>
              <a:rPr lang="en-US" dirty="0"/>
              <a:t>SELECT </a:t>
            </a:r>
            <a:r>
              <a:rPr lang="en-US" dirty="0" err="1"/>
              <a:t>column_name</a:t>
            </a:r>
            <a:r>
              <a:rPr lang="en-US" dirty="0"/>
              <a:t> FROM table2;  </a:t>
            </a:r>
          </a:p>
          <a:p>
            <a:r>
              <a:rPr lang="en-US" b="1" dirty="0"/>
              <a:t>Example:</a:t>
            </a:r>
            <a:endParaRPr lang="en-US" dirty="0"/>
          </a:p>
          <a:p>
            <a:r>
              <a:rPr lang="en-US" b="1" dirty="0"/>
              <a:t>Using the above First and Second table.</a:t>
            </a:r>
            <a:endParaRPr lang="en-US" dirty="0"/>
          </a:p>
          <a:p>
            <a:pPr lvl="2">
              <a:buNone/>
            </a:pPr>
            <a:r>
              <a:rPr lang="en-US" dirty="0"/>
              <a:t>Intersect query will be:</a:t>
            </a:r>
          </a:p>
          <a:p>
            <a:pPr lvl="2">
              <a:buNone/>
            </a:pPr>
            <a:r>
              <a:rPr lang="en-US" dirty="0"/>
              <a:t>SELECT * FROM First   </a:t>
            </a:r>
          </a:p>
          <a:p>
            <a:pPr lvl="2">
              <a:buNone/>
            </a:pPr>
            <a:r>
              <a:rPr lang="en-US" dirty="0"/>
              <a:t>INTERSECT  </a:t>
            </a:r>
          </a:p>
          <a:p>
            <a:pPr lvl="2">
              <a:buNone/>
            </a:pPr>
            <a:r>
              <a:rPr lang="en-US" dirty="0"/>
              <a:t>SELECT * FROM Second; </a:t>
            </a:r>
          </a:p>
          <a:p>
            <a:r>
              <a:rPr lang="en-US" dirty="0"/>
              <a:t>The </a:t>
            </a:r>
            <a:r>
              <a:rPr lang="en-US" dirty="0" err="1"/>
              <a:t>resultset</a:t>
            </a:r>
            <a:r>
              <a:rPr lang="en-US" dirty="0"/>
              <a:t> table will look like:</a:t>
            </a:r>
          </a:p>
          <a:p>
            <a:endParaRPr lang="en-US" dirty="0"/>
          </a:p>
        </p:txBody>
      </p:sp>
      <p:pic>
        <p:nvPicPr>
          <p:cNvPr id="89090" name="Picture 2"/>
          <p:cNvPicPr>
            <a:picLocks noChangeAspect="1" noChangeArrowheads="1"/>
          </p:cNvPicPr>
          <p:nvPr/>
        </p:nvPicPr>
        <p:blipFill>
          <a:blip r:embed="rId2" cstate="print"/>
          <a:srcRect/>
          <a:stretch>
            <a:fillRect/>
          </a:stretch>
        </p:blipFill>
        <p:spPr bwMode="auto">
          <a:xfrm>
            <a:off x="533400" y="5943600"/>
            <a:ext cx="7248525" cy="723900"/>
          </a:xfrm>
          <a:prstGeom prst="rect">
            <a:avLst/>
          </a:prstGeom>
          <a:noFill/>
          <a:ln w="9525">
            <a:noFill/>
            <a:miter lim="800000"/>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Autofit/>
          </a:bodyPr>
          <a:lstStyle/>
          <a:p>
            <a:r>
              <a:rPr lang="en-US" sz="2800" b="1" dirty="0"/>
              <a:t>4. Minus</a:t>
            </a:r>
          </a:p>
        </p:txBody>
      </p:sp>
      <p:sp>
        <p:nvSpPr>
          <p:cNvPr id="3" name="Content Placeholder 2"/>
          <p:cNvSpPr>
            <a:spLocks noGrp="1"/>
          </p:cNvSpPr>
          <p:nvPr>
            <p:ph idx="1"/>
          </p:nvPr>
        </p:nvSpPr>
        <p:spPr>
          <a:xfrm>
            <a:off x="457200" y="685800"/>
            <a:ext cx="8229600" cy="5440363"/>
          </a:xfrm>
        </p:spPr>
        <p:txBody>
          <a:bodyPr>
            <a:normAutofit/>
          </a:bodyPr>
          <a:lstStyle/>
          <a:p>
            <a:pPr algn="just"/>
            <a:r>
              <a:rPr lang="en-US" sz="2000" dirty="0"/>
              <a:t>It combines the result of two SELECT statements. Minus operator is used to display the rows which are present in the first query but absent in the second query.</a:t>
            </a:r>
          </a:p>
          <a:p>
            <a:pPr algn="just"/>
            <a:r>
              <a:rPr lang="en-US" sz="2000" dirty="0"/>
              <a:t>It has no duplicates and data arranged in ascending order by default.</a:t>
            </a:r>
          </a:p>
          <a:p>
            <a:pPr algn="just"/>
            <a:r>
              <a:rPr lang="en-US" sz="2000" b="1" dirty="0"/>
              <a:t>Syntax:</a:t>
            </a:r>
            <a:endParaRPr lang="en-US" sz="2000" dirty="0"/>
          </a:p>
          <a:p>
            <a:pPr lvl="2" algn="just">
              <a:buNone/>
            </a:pPr>
            <a:r>
              <a:rPr lang="en-US" sz="1800" dirty="0"/>
              <a:t>SELECT </a:t>
            </a:r>
            <a:r>
              <a:rPr lang="en-US" sz="1800" dirty="0" err="1"/>
              <a:t>column_name</a:t>
            </a:r>
            <a:r>
              <a:rPr lang="en-US" sz="1800" dirty="0"/>
              <a:t> FROM table1  </a:t>
            </a:r>
          </a:p>
          <a:p>
            <a:pPr lvl="2" algn="just">
              <a:buNone/>
            </a:pPr>
            <a:r>
              <a:rPr lang="en-US" sz="1800" dirty="0"/>
              <a:t>MINUS  </a:t>
            </a:r>
          </a:p>
          <a:p>
            <a:pPr lvl="2" algn="just">
              <a:buNone/>
            </a:pPr>
            <a:r>
              <a:rPr lang="en-US" sz="1800" dirty="0"/>
              <a:t>SELECT </a:t>
            </a:r>
            <a:r>
              <a:rPr lang="en-US" sz="1800" dirty="0" err="1"/>
              <a:t>column_name</a:t>
            </a:r>
            <a:r>
              <a:rPr lang="en-US" sz="1800" dirty="0"/>
              <a:t> FROM table2;  </a:t>
            </a:r>
          </a:p>
          <a:p>
            <a:pPr algn="just"/>
            <a:r>
              <a:rPr lang="en-US" sz="2000" b="1" dirty="0"/>
              <a:t>Example</a:t>
            </a:r>
            <a:endParaRPr lang="en-US" sz="2000" dirty="0"/>
          </a:p>
          <a:p>
            <a:pPr algn="just"/>
            <a:r>
              <a:rPr lang="en-US" sz="2000" b="1" dirty="0"/>
              <a:t>Using the above First and Second table.</a:t>
            </a:r>
            <a:endParaRPr lang="en-US" sz="2000" dirty="0"/>
          </a:p>
          <a:p>
            <a:pPr lvl="2" algn="just">
              <a:buNone/>
            </a:pPr>
            <a:r>
              <a:rPr lang="en-US" sz="1800" dirty="0"/>
              <a:t>Minus query will be:</a:t>
            </a:r>
          </a:p>
          <a:p>
            <a:pPr lvl="2" algn="just">
              <a:buNone/>
            </a:pPr>
            <a:r>
              <a:rPr lang="en-US" sz="1800" dirty="0"/>
              <a:t>SELECT * FROM First   </a:t>
            </a:r>
          </a:p>
          <a:p>
            <a:pPr lvl="2" algn="just">
              <a:buNone/>
            </a:pPr>
            <a:r>
              <a:rPr lang="en-US" sz="1800" dirty="0"/>
              <a:t>MINUS  </a:t>
            </a:r>
          </a:p>
          <a:p>
            <a:pPr lvl="2" algn="just">
              <a:buNone/>
            </a:pPr>
            <a:r>
              <a:rPr lang="en-US" sz="1800" dirty="0"/>
              <a:t>SELECT * FROM Second;  </a:t>
            </a:r>
          </a:p>
          <a:p>
            <a:pPr algn="just"/>
            <a:r>
              <a:rPr lang="en-US" sz="2000" dirty="0"/>
              <a:t>The </a:t>
            </a:r>
            <a:r>
              <a:rPr lang="en-US" sz="2000" dirty="0" err="1"/>
              <a:t>resultset</a:t>
            </a:r>
            <a:r>
              <a:rPr lang="en-US" sz="2000" dirty="0"/>
              <a:t> table will look like:</a:t>
            </a:r>
            <a:endParaRPr lang="en-US" sz="2600" dirty="0"/>
          </a:p>
          <a:p>
            <a:endParaRPr lang="en-US" dirty="0"/>
          </a:p>
        </p:txBody>
      </p:sp>
      <p:pic>
        <p:nvPicPr>
          <p:cNvPr id="90114" name="Picture 2"/>
          <p:cNvPicPr>
            <a:picLocks noChangeAspect="1" noChangeArrowheads="1"/>
          </p:cNvPicPr>
          <p:nvPr/>
        </p:nvPicPr>
        <p:blipFill>
          <a:blip r:embed="rId2" cstate="print"/>
          <a:srcRect/>
          <a:stretch>
            <a:fillRect/>
          </a:stretch>
        </p:blipFill>
        <p:spPr bwMode="auto">
          <a:xfrm>
            <a:off x="1066800" y="5848350"/>
            <a:ext cx="7267575" cy="1009650"/>
          </a:xfrm>
          <a:prstGeom prst="rect">
            <a:avLst/>
          </a:prstGeom>
          <a:noFill/>
          <a:ln w="9525">
            <a:noFill/>
            <a:miter lim="800000"/>
            <a:headEnd/>
            <a:tailEnd/>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Autofit/>
          </a:bodyPr>
          <a:lstStyle/>
          <a:p>
            <a:r>
              <a:rPr lang="en-US" sz="2800" b="1" dirty="0"/>
              <a:t>SQL Joins</a:t>
            </a:r>
          </a:p>
        </p:txBody>
      </p:sp>
      <p:sp>
        <p:nvSpPr>
          <p:cNvPr id="3" name="Content Placeholder 2"/>
          <p:cNvSpPr>
            <a:spLocks noGrp="1"/>
          </p:cNvSpPr>
          <p:nvPr>
            <p:ph idx="1"/>
          </p:nvPr>
        </p:nvSpPr>
        <p:spPr>
          <a:xfrm>
            <a:off x="457200" y="838200"/>
            <a:ext cx="8229600" cy="5638800"/>
          </a:xfrm>
        </p:spPr>
        <p:txBody>
          <a:bodyPr>
            <a:normAutofit lnSpcReduction="10000"/>
          </a:bodyPr>
          <a:lstStyle/>
          <a:p>
            <a:pPr>
              <a:lnSpc>
                <a:spcPct val="150000"/>
              </a:lnSpc>
            </a:pPr>
            <a:r>
              <a:rPr lang="en-US" sz="2600" dirty="0"/>
              <a:t> Different types of the JOINs in SQL:</a:t>
            </a:r>
          </a:p>
          <a:p>
            <a:pPr>
              <a:lnSpc>
                <a:spcPct val="150000"/>
              </a:lnSpc>
            </a:pPr>
            <a:r>
              <a:rPr lang="en-US" sz="2600" dirty="0">
                <a:solidFill>
                  <a:srgbClr val="00B050"/>
                </a:solidFill>
              </a:rPr>
              <a:t>(INNER) JOIN</a:t>
            </a:r>
            <a:r>
              <a:rPr lang="en-US" sz="2600" dirty="0"/>
              <a:t>: Returns records that have matching values in both tables</a:t>
            </a:r>
          </a:p>
          <a:p>
            <a:pPr>
              <a:lnSpc>
                <a:spcPct val="150000"/>
              </a:lnSpc>
            </a:pPr>
            <a:r>
              <a:rPr lang="en-US" sz="2600" dirty="0">
                <a:solidFill>
                  <a:srgbClr val="00B050"/>
                </a:solidFill>
              </a:rPr>
              <a:t>LEFT (OUTER) JOIN</a:t>
            </a:r>
            <a:r>
              <a:rPr lang="en-US" sz="2600" dirty="0"/>
              <a:t>: Returns all records from the left table, and the matched records from the right table</a:t>
            </a:r>
          </a:p>
          <a:p>
            <a:pPr>
              <a:lnSpc>
                <a:spcPct val="150000"/>
              </a:lnSpc>
            </a:pPr>
            <a:r>
              <a:rPr lang="en-US" sz="2600" dirty="0">
                <a:solidFill>
                  <a:srgbClr val="00B050"/>
                </a:solidFill>
              </a:rPr>
              <a:t>RIGHT (OUTER) JOIN</a:t>
            </a:r>
            <a:r>
              <a:rPr lang="en-US" sz="2600" dirty="0"/>
              <a:t>: Returns all records from the right table, and the matched records from the left table</a:t>
            </a:r>
          </a:p>
          <a:p>
            <a:pPr>
              <a:lnSpc>
                <a:spcPct val="150000"/>
              </a:lnSpc>
            </a:pPr>
            <a:r>
              <a:rPr lang="en-US" sz="2600" dirty="0">
                <a:solidFill>
                  <a:srgbClr val="00B050"/>
                </a:solidFill>
              </a:rPr>
              <a:t>FULL (OUTER) JOIN</a:t>
            </a:r>
            <a:r>
              <a:rPr lang="en-US" sz="2600" dirty="0"/>
              <a:t>: Returns all records when there is a match in either left or right table</a:t>
            </a:r>
          </a:p>
          <a:p>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p:cNvPicPr>
            <a:picLocks noChangeAspect="1" noChangeArrowheads="1"/>
          </p:cNvPicPr>
          <p:nvPr/>
        </p:nvPicPr>
        <p:blipFill>
          <a:blip r:embed="rId2" cstate="print"/>
          <a:srcRect/>
          <a:stretch>
            <a:fillRect/>
          </a:stretch>
        </p:blipFill>
        <p:spPr bwMode="auto">
          <a:xfrm>
            <a:off x="2057400" y="533400"/>
            <a:ext cx="6048375" cy="2895600"/>
          </a:xfrm>
          <a:prstGeom prst="rect">
            <a:avLst/>
          </a:prstGeom>
          <a:noFill/>
          <a:ln w="9525">
            <a:noFill/>
            <a:miter lim="800000"/>
            <a:headEnd/>
            <a:tailEnd/>
          </a:ln>
        </p:spPr>
      </p:pic>
      <p:pic>
        <p:nvPicPr>
          <p:cNvPr id="91139" name="Picture 3"/>
          <p:cNvPicPr>
            <a:picLocks noChangeAspect="1" noChangeArrowheads="1"/>
          </p:cNvPicPr>
          <p:nvPr/>
        </p:nvPicPr>
        <p:blipFill>
          <a:blip r:embed="rId3" cstate="print"/>
          <a:srcRect/>
          <a:stretch>
            <a:fillRect/>
          </a:stretch>
        </p:blipFill>
        <p:spPr bwMode="auto">
          <a:xfrm>
            <a:off x="1981200" y="4114800"/>
            <a:ext cx="5867400" cy="2433953"/>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Join  (Database Example) </a:t>
            </a:r>
          </a:p>
        </p:txBody>
      </p:sp>
      <p:pic>
        <p:nvPicPr>
          <p:cNvPr id="92162" name="Picture 2"/>
          <p:cNvPicPr>
            <a:picLocks noChangeAspect="1" noChangeArrowheads="1"/>
          </p:cNvPicPr>
          <p:nvPr/>
        </p:nvPicPr>
        <p:blipFill>
          <a:blip r:embed="rId2" cstate="print"/>
          <a:srcRect/>
          <a:stretch>
            <a:fillRect/>
          </a:stretch>
        </p:blipFill>
        <p:spPr bwMode="auto">
          <a:xfrm>
            <a:off x="304800" y="2057400"/>
            <a:ext cx="8639175" cy="1438275"/>
          </a:xfrm>
          <a:prstGeom prst="rect">
            <a:avLst/>
          </a:prstGeom>
          <a:noFill/>
          <a:ln w="9525">
            <a:noFill/>
            <a:miter lim="800000"/>
            <a:headEnd/>
            <a:tailEnd/>
          </a:ln>
        </p:spPr>
      </p:pic>
      <p:sp>
        <p:nvSpPr>
          <p:cNvPr id="5" name="TextBox 4"/>
          <p:cNvSpPr txBox="1"/>
          <p:nvPr/>
        </p:nvSpPr>
        <p:spPr>
          <a:xfrm>
            <a:off x="533400" y="1752600"/>
            <a:ext cx="1332096" cy="369332"/>
          </a:xfrm>
          <a:prstGeom prst="rect">
            <a:avLst/>
          </a:prstGeom>
          <a:noFill/>
        </p:spPr>
        <p:txBody>
          <a:bodyPr wrap="none" rtlCol="0">
            <a:spAutoFit/>
          </a:bodyPr>
          <a:lstStyle/>
          <a:p>
            <a:r>
              <a:rPr lang="en-US" dirty="0"/>
              <a:t>Order Table </a:t>
            </a:r>
          </a:p>
        </p:txBody>
      </p:sp>
      <p:sp>
        <p:nvSpPr>
          <p:cNvPr id="6" name="Rectangle 5"/>
          <p:cNvSpPr/>
          <p:nvPr/>
        </p:nvSpPr>
        <p:spPr>
          <a:xfrm>
            <a:off x="381000" y="4038600"/>
            <a:ext cx="1760034" cy="369332"/>
          </a:xfrm>
          <a:prstGeom prst="rect">
            <a:avLst/>
          </a:prstGeom>
        </p:spPr>
        <p:txBody>
          <a:bodyPr wrap="none">
            <a:spAutoFit/>
          </a:bodyPr>
          <a:lstStyle/>
          <a:p>
            <a:r>
              <a:rPr lang="en-US" dirty="0"/>
              <a:t>Customers table </a:t>
            </a:r>
          </a:p>
        </p:txBody>
      </p:sp>
      <p:pic>
        <p:nvPicPr>
          <p:cNvPr id="92163" name="Picture 3"/>
          <p:cNvPicPr>
            <a:picLocks noChangeAspect="1" noChangeArrowheads="1"/>
          </p:cNvPicPr>
          <p:nvPr/>
        </p:nvPicPr>
        <p:blipFill>
          <a:blip r:embed="rId3" cstate="print"/>
          <a:srcRect/>
          <a:stretch>
            <a:fillRect/>
          </a:stretch>
        </p:blipFill>
        <p:spPr bwMode="auto">
          <a:xfrm>
            <a:off x="304800" y="4343400"/>
            <a:ext cx="8601075" cy="1600200"/>
          </a:xfrm>
          <a:prstGeom prst="rect">
            <a:avLst/>
          </a:prstGeom>
          <a:noFill/>
          <a:ln w="9525">
            <a:noFill/>
            <a:miter lim="800000"/>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3200" b="1" dirty="0"/>
              <a:t>Inner Join</a:t>
            </a:r>
          </a:p>
        </p:txBody>
      </p:sp>
      <p:sp>
        <p:nvSpPr>
          <p:cNvPr id="3" name="Content Placeholder 2"/>
          <p:cNvSpPr>
            <a:spLocks noGrp="1"/>
          </p:cNvSpPr>
          <p:nvPr>
            <p:ph idx="1"/>
          </p:nvPr>
        </p:nvSpPr>
        <p:spPr>
          <a:xfrm>
            <a:off x="457200" y="1295400"/>
            <a:ext cx="8229600" cy="4830763"/>
          </a:xfrm>
        </p:spPr>
        <p:txBody>
          <a:bodyPr>
            <a:normAutofit/>
          </a:bodyPr>
          <a:lstStyle/>
          <a:p>
            <a:pPr>
              <a:buNone/>
            </a:pPr>
            <a:r>
              <a:rPr lang="en-US" sz="2000" dirty="0"/>
              <a:t>      SELECT </a:t>
            </a:r>
            <a:r>
              <a:rPr lang="en-US" sz="2000" dirty="0" err="1"/>
              <a:t>Orders.OrderID</a:t>
            </a:r>
            <a:r>
              <a:rPr lang="en-US" sz="2000" dirty="0"/>
              <a:t>, </a:t>
            </a:r>
            <a:r>
              <a:rPr lang="en-US" sz="2000" dirty="0" err="1"/>
              <a:t>Customers.CustomerName</a:t>
            </a:r>
            <a:r>
              <a:rPr lang="en-US" sz="2000" dirty="0"/>
              <a:t>, </a:t>
            </a:r>
            <a:r>
              <a:rPr lang="en-US" sz="2000" dirty="0" err="1"/>
              <a:t>Orders.OrderDate</a:t>
            </a:r>
            <a:br>
              <a:rPr lang="en-US" sz="2000" dirty="0"/>
            </a:br>
            <a:r>
              <a:rPr lang="en-US" sz="2000" dirty="0"/>
              <a:t>FROM Orders</a:t>
            </a:r>
            <a:br>
              <a:rPr lang="en-US" sz="2000" dirty="0"/>
            </a:br>
            <a:r>
              <a:rPr lang="en-US" sz="2000" dirty="0"/>
              <a:t>INNER JOIN </a:t>
            </a:r>
          </a:p>
          <a:p>
            <a:pPr>
              <a:buNone/>
            </a:pPr>
            <a:r>
              <a:rPr lang="en-US" sz="2000" dirty="0"/>
              <a:t>      Customers </a:t>
            </a:r>
          </a:p>
          <a:p>
            <a:pPr>
              <a:buNone/>
            </a:pPr>
            <a:r>
              <a:rPr lang="en-US" sz="2000" dirty="0"/>
              <a:t>      ON </a:t>
            </a:r>
          </a:p>
          <a:p>
            <a:pPr>
              <a:buNone/>
            </a:pPr>
            <a:r>
              <a:rPr lang="en-US" sz="2000" dirty="0"/>
              <a:t>      </a:t>
            </a:r>
            <a:r>
              <a:rPr lang="en-US" sz="2000" dirty="0" err="1"/>
              <a:t>Orders.CustomerID</a:t>
            </a:r>
            <a:r>
              <a:rPr lang="en-US" sz="2000" dirty="0"/>
              <a:t>=</a:t>
            </a:r>
            <a:r>
              <a:rPr lang="en-US" sz="2000" dirty="0" err="1"/>
              <a:t>Customers.CustomerID</a:t>
            </a:r>
            <a:r>
              <a:rPr lang="en-US" sz="2000" dirty="0"/>
              <a:t>;</a:t>
            </a:r>
          </a:p>
        </p:txBody>
      </p:sp>
      <p:pic>
        <p:nvPicPr>
          <p:cNvPr id="93186" name="Picture 2"/>
          <p:cNvPicPr>
            <a:picLocks noChangeAspect="1" noChangeArrowheads="1"/>
          </p:cNvPicPr>
          <p:nvPr/>
        </p:nvPicPr>
        <p:blipFill>
          <a:blip r:embed="rId2" cstate="print"/>
          <a:srcRect/>
          <a:stretch>
            <a:fillRect/>
          </a:stretch>
        </p:blipFill>
        <p:spPr bwMode="auto">
          <a:xfrm>
            <a:off x="381000" y="3886200"/>
            <a:ext cx="8763000" cy="2286000"/>
          </a:xfrm>
          <a:prstGeom prst="rect">
            <a:avLst/>
          </a:prstGeom>
          <a:noFill/>
          <a:ln w="9525">
            <a:noFill/>
            <a:miter lim="800000"/>
            <a:headEnd/>
            <a:tailEnd/>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SQL | Procedures in PL/SQL</a:t>
            </a:r>
            <a:endParaRPr lang="en-US" dirty="0"/>
          </a:p>
        </p:txBody>
      </p:sp>
      <p:sp>
        <p:nvSpPr>
          <p:cNvPr id="3" name="Content Placeholder 2"/>
          <p:cNvSpPr>
            <a:spLocks noGrp="1"/>
          </p:cNvSpPr>
          <p:nvPr>
            <p:ph idx="1"/>
          </p:nvPr>
        </p:nvSpPr>
        <p:spPr/>
        <p:txBody>
          <a:bodyPr>
            <a:normAutofit fontScale="77500" lnSpcReduction="20000"/>
          </a:bodyPr>
          <a:lstStyle/>
          <a:p>
            <a:r>
              <a:rPr lang="en-US" dirty="0"/>
              <a:t>PL/SQL is a block-structured language that enables developers to combine the power of SQL with procedural statements.</a:t>
            </a:r>
          </a:p>
          <a:p>
            <a:r>
              <a:rPr lang="en-US" dirty="0"/>
              <a:t>A stored procedure in PL/SQL is nothing but a series of declarative SQL statements which can be stored in the database catalogue. </a:t>
            </a:r>
          </a:p>
          <a:p>
            <a:r>
              <a:rPr lang="en-US" dirty="0"/>
              <a:t>A procedure can be thought of as a function or a method. </a:t>
            </a:r>
          </a:p>
          <a:p>
            <a:r>
              <a:rPr lang="en-US" dirty="0"/>
              <a:t>They can be invoked through triggers, other procedures, or applications on Java, PHP etc.</a:t>
            </a:r>
          </a:p>
          <a:p>
            <a:r>
              <a:rPr lang="en-US" dirty="0"/>
              <a:t>All the statements of a block are passed to  engine all at once which increases processing speed and decreases the traffic.</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a:t>
            </a:r>
          </a:p>
        </p:txBody>
      </p:sp>
      <p:sp>
        <p:nvSpPr>
          <p:cNvPr id="3" name="Content Placeholder 2"/>
          <p:cNvSpPr>
            <a:spLocks noGrp="1"/>
          </p:cNvSpPr>
          <p:nvPr>
            <p:ph idx="1"/>
          </p:nvPr>
        </p:nvSpPr>
        <p:spPr/>
        <p:txBody>
          <a:bodyPr>
            <a:normAutofit fontScale="77500" lnSpcReduction="20000"/>
          </a:bodyPr>
          <a:lstStyle/>
          <a:p>
            <a:pPr fontAlgn="base">
              <a:buNone/>
            </a:pPr>
            <a:endParaRPr lang="en-US" dirty="0"/>
          </a:p>
          <a:p>
            <a:pPr fontAlgn="base"/>
            <a:r>
              <a:rPr lang="en-US" dirty="0"/>
              <a:t>They result in performance improvement of the application. If a procedure is being called frequently in an application in a single connection, then the compiled version of the procedure is delivered.</a:t>
            </a:r>
          </a:p>
          <a:p>
            <a:pPr fontAlgn="base"/>
            <a:r>
              <a:rPr lang="en-US" dirty="0"/>
              <a:t>They reduce the traffic between the database and the application, since the lengthy statements are already fed into the database and need not be sent again and again via the application.</a:t>
            </a:r>
          </a:p>
          <a:p>
            <a:pPr fontAlgn="base"/>
            <a:r>
              <a:rPr lang="en-US" dirty="0"/>
              <a:t>They add to code reusability, similar to how functions and methods work in other languages such as C/C++ and Java.</a:t>
            </a:r>
          </a:p>
          <a:p>
            <a:pPr>
              <a:buNone/>
            </a:pPr>
            <a:br>
              <a:rPr lang="en-US" dirty="0"/>
            </a:b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Disadvantages</a:t>
            </a:r>
            <a:endParaRPr lang="en-US" dirty="0"/>
          </a:p>
        </p:txBody>
      </p:sp>
      <p:sp>
        <p:nvSpPr>
          <p:cNvPr id="3" name="Content Placeholder 2"/>
          <p:cNvSpPr>
            <a:spLocks noGrp="1"/>
          </p:cNvSpPr>
          <p:nvPr>
            <p:ph idx="1"/>
          </p:nvPr>
        </p:nvSpPr>
        <p:spPr/>
        <p:txBody>
          <a:bodyPr/>
          <a:lstStyle/>
          <a:p>
            <a:pPr fontAlgn="base"/>
            <a:r>
              <a:rPr lang="en-US" dirty="0"/>
              <a:t>Stored procedures can cause a lot of memory usage. The database administrator should decide an upper bound as to how many stored procedures are feasible for a particular application.</a:t>
            </a:r>
          </a:p>
          <a:p>
            <a:pPr fontAlgn="base"/>
            <a:r>
              <a:rPr lang="en-US" dirty="0" err="1"/>
              <a:t>MySQL</a:t>
            </a:r>
            <a:r>
              <a:rPr lang="en-US" dirty="0"/>
              <a:t> does not provide the functionality of debugging the stored procedures.</a:t>
            </a:r>
          </a:p>
          <a:p>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Parts of a PL/SQL Subprogram</a:t>
            </a:r>
          </a:p>
        </p:txBody>
      </p:sp>
      <p:sp>
        <p:nvSpPr>
          <p:cNvPr id="3" name="Content Placeholder 2"/>
          <p:cNvSpPr>
            <a:spLocks noGrp="1"/>
          </p:cNvSpPr>
          <p:nvPr>
            <p:ph idx="1"/>
          </p:nvPr>
        </p:nvSpPr>
        <p:spPr/>
        <p:txBody>
          <a:bodyPr/>
          <a:lstStyle/>
          <a:p>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533400" y="1524000"/>
            <a:ext cx="8382000" cy="4948462"/>
          </a:xfrm>
          <a:prstGeom prst="rect">
            <a:avLst/>
          </a:prstGeom>
          <a:noFill/>
          <a:ln w="9525">
            <a:noFill/>
            <a:miter lim="800000"/>
            <a:headEnd/>
            <a:tailEnd/>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Creating a Procedure</a:t>
            </a:r>
            <a:br>
              <a:rPr lang="en-US" dirty="0"/>
            </a:br>
            <a:endParaRPr lang="en-US" dirty="0"/>
          </a:p>
        </p:txBody>
      </p:sp>
      <p:sp>
        <p:nvSpPr>
          <p:cNvPr id="3" name="Content Placeholder 2"/>
          <p:cNvSpPr>
            <a:spLocks noGrp="1"/>
          </p:cNvSpPr>
          <p:nvPr>
            <p:ph idx="1"/>
          </p:nvPr>
        </p:nvSpPr>
        <p:spPr>
          <a:xfrm>
            <a:off x="457200" y="914400"/>
            <a:ext cx="8229600" cy="5715000"/>
          </a:xfrm>
        </p:spPr>
        <p:txBody>
          <a:bodyPr>
            <a:normAutofit fontScale="62500" lnSpcReduction="20000"/>
          </a:bodyPr>
          <a:lstStyle/>
          <a:p>
            <a:pPr>
              <a:buNone/>
            </a:pPr>
            <a:r>
              <a:rPr lang="en-US" dirty="0"/>
              <a:t>A procedure is created with the </a:t>
            </a:r>
            <a:r>
              <a:rPr lang="en-US" b="1" dirty="0"/>
              <a:t>CREATE OR REPLACE PROCEDURE</a:t>
            </a:r>
            <a:r>
              <a:rPr lang="en-US" dirty="0"/>
              <a:t> statement. The simplified syntax for the CREATE OR REPLACE PROCEDURE statement is as follows −</a:t>
            </a:r>
          </a:p>
          <a:p>
            <a:pPr>
              <a:buNone/>
            </a:pPr>
            <a:r>
              <a:rPr lang="en-US" dirty="0"/>
              <a:t>       </a:t>
            </a:r>
          </a:p>
          <a:p>
            <a:pPr>
              <a:buNone/>
            </a:pPr>
            <a:r>
              <a:rPr lang="en-US" i="1" dirty="0">
                <a:latin typeface="Times New Roman" pitchFamily="18" charset="0"/>
                <a:cs typeface="Times New Roman" pitchFamily="18" charset="0"/>
              </a:rPr>
              <a:t>CREATE [OR REPLACE] PROCEDURE </a:t>
            </a:r>
            <a:r>
              <a:rPr lang="en-US" i="1" dirty="0" err="1">
                <a:latin typeface="Times New Roman" pitchFamily="18" charset="0"/>
                <a:cs typeface="Times New Roman" pitchFamily="18" charset="0"/>
              </a:rPr>
              <a:t>procedure_name</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parameter_name</a:t>
            </a:r>
            <a:r>
              <a:rPr lang="en-US" i="1" dirty="0">
                <a:latin typeface="Times New Roman" pitchFamily="18" charset="0"/>
                <a:cs typeface="Times New Roman" pitchFamily="18" charset="0"/>
              </a:rPr>
              <a:t> [IN | OUT | IN OUT] type [, ...])] {IS | AS} BEGIN &lt; </a:t>
            </a:r>
            <a:r>
              <a:rPr lang="en-US" i="1" dirty="0" err="1">
                <a:latin typeface="Times New Roman" pitchFamily="18" charset="0"/>
                <a:cs typeface="Times New Roman" pitchFamily="18" charset="0"/>
              </a:rPr>
              <a:t>procedure_body</a:t>
            </a:r>
            <a:r>
              <a:rPr lang="en-US" i="1" dirty="0">
                <a:latin typeface="Times New Roman" pitchFamily="18" charset="0"/>
                <a:cs typeface="Times New Roman" pitchFamily="18" charset="0"/>
              </a:rPr>
              <a:t> &gt; END </a:t>
            </a:r>
            <a:r>
              <a:rPr lang="en-US" i="1" dirty="0" err="1">
                <a:latin typeface="Times New Roman" pitchFamily="18" charset="0"/>
                <a:cs typeface="Times New Roman" pitchFamily="18" charset="0"/>
              </a:rPr>
              <a:t>procedure_name</a:t>
            </a:r>
            <a:r>
              <a:rPr lang="en-US" i="1" dirty="0">
                <a:latin typeface="Times New Roman" pitchFamily="18" charset="0"/>
                <a:cs typeface="Times New Roman" pitchFamily="18" charset="0"/>
              </a:rPr>
              <a:t>; </a:t>
            </a:r>
          </a:p>
          <a:p>
            <a:endParaRPr lang="en-US" dirty="0"/>
          </a:p>
          <a:p>
            <a:pPr>
              <a:buNone/>
            </a:pPr>
            <a:r>
              <a:rPr lang="en-US" dirty="0"/>
              <a:t>Where,</a:t>
            </a:r>
          </a:p>
          <a:p>
            <a:r>
              <a:rPr lang="en-US" i="1" dirty="0"/>
              <a:t>procedure-name</a:t>
            </a:r>
            <a:r>
              <a:rPr lang="en-US" dirty="0"/>
              <a:t> specifies the name of the procedure.</a:t>
            </a:r>
          </a:p>
          <a:p>
            <a:r>
              <a:rPr lang="en-US" dirty="0"/>
              <a:t>[OR REPLACE] option allows the modification of an existing procedure.</a:t>
            </a:r>
          </a:p>
          <a:p>
            <a:r>
              <a:rPr lang="en-US" dirty="0"/>
              <a:t>The optional parameter list contains name, mode and types of the parameters. </a:t>
            </a:r>
            <a:r>
              <a:rPr lang="en-US" b="1" dirty="0"/>
              <a:t>IN</a:t>
            </a:r>
            <a:r>
              <a:rPr lang="en-US" dirty="0"/>
              <a:t> represents the value that will be passed from outside and OUT represents the parameter that will be used to return a value outside of the procedure.</a:t>
            </a:r>
          </a:p>
          <a:p>
            <a:r>
              <a:rPr lang="en-US" i="1" dirty="0"/>
              <a:t>procedure-body</a:t>
            </a:r>
            <a:r>
              <a:rPr lang="en-US" dirty="0"/>
              <a:t> contains the executable part.</a:t>
            </a:r>
          </a:p>
          <a:p>
            <a:r>
              <a:rPr lang="en-US" dirty="0"/>
              <a:t>The AS keyword is used instead of the IS keyword for creating a standalone procedure.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Example</a:t>
            </a:r>
          </a:p>
          <a:p>
            <a:r>
              <a:rPr lang="en-US" dirty="0"/>
              <a:t>The following example creates a simple procedure that displays the string 'Hello World!' on the screen when executed.</a:t>
            </a:r>
          </a:p>
          <a:p>
            <a:pPr>
              <a:buNone/>
            </a:pPr>
            <a:endParaRPr lang="en-US" dirty="0"/>
          </a:p>
          <a:p>
            <a:pPr>
              <a:buNone/>
            </a:pPr>
            <a:r>
              <a:rPr lang="en-US" sz="2000" dirty="0"/>
              <a:t>CREATE OR REPLACE PROCEDURE greetings </a:t>
            </a:r>
          </a:p>
          <a:p>
            <a:pPr>
              <a:buNone/>
            </a:pPr>
            <a:r>
              <a:rPr lang="en-US" sz="2000" dirty="0"/>
              <a:t>AS        </a:t>
            </a:r>
          </a:p>
          <a:p>
            <a:pPr>
              <a:buNone/>
            </a:pPr>
            <a:r>
              <a:rPr lang="en-US" sz="2000" dirty="0"/>
              <a:t>      BEGIN </a:t>
            </a:r>
            <a:r>
              <a:rPr lang="en-US" sz="2000" dirty="0" err="1"/>
              <a:t>dbms_output.put_line</a:t>
            </a:r>
            <a:r>
              <a:rPr lang="en-US" sz="2000" dirty="0"/>
              <a:t>('Hello World!'); </a:t>
            </a:r>
          </a:p>
          <a:p>
            <a:pPr>
              <a:buNone/>
            </a:pPr>
            <a:r>
              <a:rPr lang="en-US" sz="2000" dirty="0"/>
              <a:t>END; /</a:t>
            </a:r>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Executing a Standalone Procedure</a:t>
            </a:r>
            <a:br>
              <a:rPr lang="en-US" dirty="0"/>
            </a:br>
            <a:endParaRPr lang="en-US" dirty="0"/>
          </a:p>
        </p:txBody>
      </p:sp>
      <p:sp>
        <p:nvSpPr>
          <p:cNvPr id="3" name="Content Placeholder 2"/>
          <p:cNvSpPr>
            <a:spLocks noGrp="1"/>
          </p:cNvSpPr>
          <p:nvPr>
            <p:ph idx="1"/>
          </p:nvPr>
        </p:nvSpPr>
        <p:spPr>
          <a:xfrm>
            <a:off x="457200" y="1066800"/>
            <a:ext cx="8229600" cy="5059363"/>
          </a:xfrm>
        </p:spPr>
        <p:txBody>
          <a:bodyPr>
            <a:normAutofit fontScale="70000" lnSpcReduction="20000"/>
          </a:bodyPr>
          <a:lstStyle/>
          <a:p>
            <a:r>
              <a:rPr lang="en-US" dirty="0"/>
              <a:t>A standalone procedure can be called in two ways −</a:t>
            </a:r>
          </a:p>
          <a:p>
            <a:pPr>
              <a:buFont typeface="Wingdings" pitchFamily="2" charset="2"/>
              <a:buChar char="q"/>
            </a:pPr>
            <a:r>
              <a:rPr lang="en-US" dirty="0"/>
              <a:t>Using the </a:t>
            </a:r>
            <a:r>
              <a:rPr lang="en-US" b="1" dirty="0"/>
              <a:t>EXECUTE</a:t>
            </a:r>
            <a:r>
              <a:rPr lang="en-US" dirty="0"/>
              <a:t> keyword</a:t>
            </a:r>
          </a:p>
          <a:p>
            <a:pPr>
              <a:buFont typeface="Wingdings" pitchFamily="2" charset="2"/>
              <a:buChar char="q"/>
            </a:pPr>
            <a:r>
              <a:rPr lang="en-US" dirty="0"/>
              <a:t>Calling the name of the procedure from a PL/SQL block</a:t>
            </a:r>
          </a:p>
          <a:p>
            <a:r>
              <a:rPr lang="en-US" dirty="0"/>
              <a:t>The above procedure named </a:t>
            </a:r>
            <a:r>
              <a:rPr lang="en-US" b="1" dirty="0"/>
              <a:t>'greetings'</a:t>
            </a:r>
            <a:r>
              <a:rPr lang="en-US" dirty="0"/>
              <a:t> can be called with the EXECUTE keyword as −</a:t>
            </a:r>
          </a:p>
          <a:p>
            <a:r>
              <a:rPr lang="en-US" dirty="0"/>
              <a:t>EXECUTE greetings; </a:t>
            </a:r>
          </a:p>
          <a:p>
            <a:r>
              <a:rPr lang="en-US" dirty="0"/>
              <a:t>The above call will display −</a:t>
            </a:r>
          </a:p>
          <a:p>
            <a:pPr>
              <a:buNone/>
            </a:pPr>
            <a:r>
              <a:rPr lang="en-US" dirty="0"/>
              <a:t>           Hello World PL/SQL procedure successfully completed. </a:t>
            </a:r>
          </a:p>
          <a:p>
            <a:r>
              <a:rPr lang="en-US" dirty="0"/>
              <a:t>The procedure can also be called from another PL/SQL block −</a:t>
            </a:r>
          </a:p>
          <a:p>
            <a:pPr>
              <a:buNone/>
            </a:pPr>
            <a:r>
              <a:rPr lang="en-US" dirty="0"/>
              <a:t>BEGIN</a:t>
            </a:r>
          </a:p>
          <a:p>
            <a:pPr>
              <a:buNone/>
            </a:pPr>
            <a:r>
              <a:rPr lang="en-US" dirty="0"/>
              <a:t> greetings; </a:t>
            </a:r>
          </a:p>
          <a:p>
            <a:pPr>
              <a:buNone/>
            </a:pPr>
            <a:r>
              <a:rPr lang="en-US" dirty="0"/>
              <a:t>END; /</a:t>
            </a:r>
          </a:p>
          <a:p>
            <a:pPr>
              <a:buNone/>
            </a:pPr>
            <a:r>
              <a:rPr lang="en-US" dirty="0"/>
              <a:t>The above call will display −</a:t>
            </a:r>
          </a:p>
          <a:p>
            <a:r>
              <a:rPr lang="en-US" dirty="0"/>
              <a:t>Hello World PL/SQL procedure successfully completed.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1283</TotalTime>
  <Words>5376</Words>
  <Application>Microsoft Office PowerPoint</Application>
  <PresentationFormat>On-screen Show (4:3)</PresentationFormat>
  <Paragraphs>558</Paragraphs>
  <Slides>89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89</vt:i4>
      </vt:variant>
    </vt:vector>
  </HeadingPairs>
  <TitlesOfParts>
    <vt:vector size="96" baseType="lpstr">
      <vt:lpstr>Arial</vt:lpstr>
      <vt:lpstr>Calibri</vt:lpstr>
      <vt:lpstr>Consolas</vt:lpstr>
      <vt:lpstr>Nunito</vt:lpstr>
      <vt:lpstr>Times New Roman</vt:lpstr>
      <vt:lpstr>Wingdings</vt:lpstr>
      <vt:lpstr>Office Theme</vt:lpstr>
      <vt:lpstr>Unit - II</vt:lpstr>
      <vt:lpstr>Index</vt:lpstr>
      <vt:lpstr>SQL: Characteristics and Advantages</vt:lpstr>
      <vt:lpstr>PowerPoint Presentation</vt:lpstr>
      <vt:lpstr>SQL Data Types and Literals</vt:lpstr>
      <vt:lpstr>String Data types</vt:lpstr>
      <vt:lpstr>Numeric Data types</vt:lpstr>
      <vt:lpstr>Date and time Data types</vt:lpstr>
      <vt:lpstr>SQL Literals</vt:lpstr>
      <vt:lpstr>SQL Command Categories</vt:lpstr>
      <vt:lpstr>Data Definition Language (DDL)</vt:lpstr>
      <vt:lpstr>List of DDL commands</vt:lpstr>
      <vt:lpstr>SQL CREATE TABLE Statement</vt:lpstr>
      <vt:lpstr>SQL CREATE TABLE Example </vt:lpstr>
      <vt:lpstr>Create Table Using Another Table</vt:lpstr>
      <vt:lpstr>SQL DROP TABLE Statement</vt:lpstr>
      <vt:lpstr>SQL TRUNCATE TABLE</vt:lpstr>
      <vt:lpstr>SQL ALTER TABLE Statement</vt:lpstr>
      <vt:lpstr>ALTER TABLE - ADD Column</vt:lpstr>
      <vt:lpstr>ALTER TABLE - DROP COLUMN</vt:lpstr>
      <vt:lpstr>ALTER TABLE -  RENAME COLUMN AND                                     MODIFY COLUMN DATATYPE</vt:lpstr>
      <vt:lpstr>SQL Comments</vt:lpstr>
      <vt:lpstr>DQL (Data Query Language)</vt:lpstr>
      <vt:lpstr>DML (Data Manipulation Language)</vt:lpstr>
      <vt:lpstr>DML – INSERT COMMAND</vt:lpstr>
      <vt:lpstr>PowerPoint Presentation</vt:lpstr>
      <vt:lpstr>Inserting all columns of a table – INSERT INTO SELECT Statement </vt:lpstr>
      <vt:lpstr>Inserting specific columns of a table – INSERT INTO SELECT Statement </vt:lpstr>
      <vt:lpstr>DML : UPDATE Statement</vt:lpstr>
      <vt:lpstr>Updating Multiple Columns</vt:lpstr>
      <vt:lpstr>Omitting WHERE Clause</vt:lpstr>
      <vt:lpstr>DML : DELETE Command</vt:lpstr>
      <vt:lpstr>Deleting Single Record</vt:lpstr>
      <vt:lpstr>Deleting Multiple Records</vt:lpstr>
      <vt:lpstr>Delete All of the Records</vt:lpstr>
      <vt:lpstr>DML : LOCK Command</vt:lpstr>
      <vt:lpstr>PowerPoint Presentation</vt:lpstr>
      <vt:lpstr>Lock hierarchy</vt:lpstr>
      <vt:lpstr>CALL</vt:lpstr>
      <vt:lpstr>Using CALL</vt:lpstr>
      <vt:lpstr>Parameterized Stored Procedure</vt:lpstr>
      <vt:lpstr>DCL (Data Control Language)</vt:lpstr>
      <vt:lpstr>TCL (Transaction Control Language)</vt:lpstr>
      <vt:lpstr>SQL Operators. </vt:lpstr>
      <vt:lpstr>Arithmetic Operators </vt:lpstr>
      <vt:lpstr>Comparison Operators</vt:lpstr>
      <vt:lpstr>Logical Operators</vt:lpstr>
      <vt:lpstr>Special Operators</vt:lpstr>
      <vt:lpstr>PowerPoint Presentation</vt:lpstr>
      <vt:lpstr>SQL Clauses</vt:lpstr>
      <vt:lpstr>GROUP BY</vt:lpstr>
      <vt:lpstr>GROUP BY EXAMPLE</vt:lpstr>
      <vt:lpstr>HAVING</vt:lpstr>
      <vt:lpstr>HAVING EXAMPLE</vt:lpstr>
      <vt:lpstr>ORDER BY</vt:lpstr>
      <vt:lpstr>Example: Sorting Results in Ascending Order</vt:lpstr>
      <vt:lpstr>Sorting Results in Descending Order</vt:lpstr>
      <vt:lpstr>Index in SQL</vt:lpstr>
      <vt:lpstr>The CREATE INDEX Command</vt:lpstr>
      <vt:lpstr>PowerPoint Presentation</vt:lpstr>
      <vt:lpstr>The DROP INDEX Command </vt:lpstr>
      <vt:lpstr>Sequence in SQL</vt:lpstr>
      <vt:lpstr>Sequences</vt:lpstr>
      <vt:lpstr>PowerPoint Presentation</vt:lpstr>
      <vt:lpstr>Views in SQL</vt:lpstr>
      <vt:lpstr>Advantages of View</vt:lpstr>
      <vt:lpstr>Disadvantages of View</vt:lpstr>
      <vt:lpstr>Example</vt:lpstr>
      <vt:lpstr>1. Creating view</vt:lpstr>
      <vt:lpstr>2. Creating View from a single table</vt:lpstr>
      <vt:lpstr>3. Creating View from multiple tables</vt:lpstr>
      <vt:lpstr>4. Deleting View</vt:lpstr>
      <vt:lpstr>Set Operations in SQL</vt:lpstr>
      <vt:lpstr>1. Union</vt:lpstr>
      <vt:lpstr>Union Example</vt:lpstr>
      <vt:lpstr>2. Union All</vt:lpstr>
      <vt:lpstr>3. Intersect</vt:lpstr>
      <vt:lpstr>4. Minus</vt:lpstr>
      <vt:lpstr>SQL Joins</vt:lpstr>
      <vt:lpstr>PowerPoint Presentation</vt:lpstr>
      <vt:lpstr>Join  (Database Example) </vt:lpstr>
      <vt:lpstr>Inner Join</vt:lpstr>
      <vt:lpstr>SQL | Procedures in PL/SQL</vt:lpstr>
      <vt:lpstr>Advantages</vt:lpstr>
      <vt:lpstr>Disadvantages</vt:lpstr>
      <vt:lpstr>Parts of a PL/SQL Subprogram</vt:lpstr>
      <vt:lpstr>Creating a Procedure </vt:lpstr>
      <vt:lpstr>PowerPoint Presentation</vt:lpstr>
      <vt:lpstr>Executing a Standalone Procedure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 II</dc:title>
  <dc:creator>Administrator</dc:creator>
  <cp:lastModifiedBy>Comp Engg</cp:lastModifiedBy>
  <cp:revision>190</cp:revision>
  <dcterms:created xsi:type="dcterms:W3CDTF">2006-08-16T00:00:00Z</dcterms:created>
  <dcterms:modified xsi:type="dcterms:W3CDTF">2025-07-24T19:22:19Z</dcterms:modified>
</cp:coreProperties>
</file>